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256" r:id="rId2"/>
    <p:sldId id="313" r:id="rId3"/>
    <p:sldId id="314" r:id="rId4"/>
    <p:sldId id="315" r:id="rId5"/>
    <p:sldId id="332" r:id="rId6"/>
    <p:sldId id="316" r:id="rId7"/>
    <p:sldId id="317" r:id="rId8"/>
    <p:sldId id="333" r:id="rId9"/>
    <p:sldId id="331" r:id="rId10"/>
    <p:sldId id="320" r:id="rId11"/>
    <p:sldId id="321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327" r:id="rId27"/>
    <p:sldId id="330" r:id="rId28"/>
    <p:sldId id="271" r:id="rId29"/>
    <p:sldId id="272" r:id="rId30"/>
    <p:sldId id="273" r:id="rId31"/>
    <p:sldId id="274" r:id="rId32"/>
    <p:sldId id="275" r:id="rId33"/>
    <p:sldId id="328" r:id="rId34"/>
    <p:sldId id="276" r:id="rId35"/>
    <p:sldId id="277" r:id="rId36"/>
    <p:sldId id="329" r:id="rId37"/>
    <p:sldId id="278" r:id="rId38"/>
    <p:sldId id="335" r:id="rId39"/>
    <p:sldId id="279" r:id="rId40"/>
    <p:sldId id="280" r:id="rId41"/>
    <p:sldId id="281" r:id="rId42"/>
    <p:sldId id="286" r:id="rId43"/>
    <p:sldId id="285" r:id="rId44"/>
    <p:sldId id="287" r:id="rId45"/>
    <p:sldId id="288" r:id="rId46"/>
    <p:sldId id="289" r:id="rId47"/>
    <p:sldId id="290" r:id="rId48"/>
    <p:sldId id="291" r:id="rId49"/>
    <p:sldId id="292" r:id="rId50"/>
    <p:sldId id="294" r:id="rId51"/>
    <p:sldId id="293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5" r:id="rId60"/>
    <p:sldId id="306" r:id="rId61"/>
    <p:sldId id="307" r:id="rId62"/>
    <p:sldId id="308" r:id="rId63"/>
    <p:sldId id="310" r:id="rId64"/>
    <p:sldId id="312" r:id="rId65"/>
    <p:sldId id="325" r:id="rId66"/>
  </p:sldIdLst>
  <p:sldSz cx="9144000" cy="6858000" type="screen4x3"/>
  <p:notesSz cx="6858000" cy="9144000"/>
  <p:defaultTextStyle>
    <a:lvl1pPr algn="ctr">
      <a:spcBef>
        <a:spcPts val="1000"/>
      </a:spcBef>
      <a:defRPr>
        <a:latin typeface="Cambria"/>
        <a:ea typeface="Cambria"/>
        <a:cs typeface="Cambria"/>
        <a:sym typeface="Cambria"/>
      </a:defRPr>
    </a:lvl1pPr>
    <a:lvl2pPr indent="457200" algn="ctr">
      <a:spcBef>
        <a:spcPts val="1000"/>
      </a:spcBef>
      <a:defRPr>
        <a:latin typeface="Cambria"/>
        <a:ea typeface="Cambria"/>
        <a:cs typeface="Cambria"/>
        <a:sym typeface="Cambria"/>
      </a:defRPr>
    </a:lvl2pPr>
    <a:lvl3pPr indent="914400" algn="ctr">
      <a:spcBef>
        <a:spcPts val="1000"/>
      </a:spcBef>
      <a:defRPr>
        <a:latin typeface="Cambria"/>
        <a:ea typeface="Cambria"/>
        <a:cs typeface="Cambria"/>
        <a:sym typeface="Cambria"/>
      </a:defRPr>
    </a:lvl3pPr>
    <a:lvl4pPr indent="1371600" algn="ctr">
      <a:spcBef>
        <a:spcPts val="1000"/>
      </a:spcBef>
      <a:defRPr>
        <a:latin typeface="Cambria"/>
        <a:ea typeface="Cambria"/>
        <a:cs typeface="Cambria"/>
        <a:sym typeface="Cambria"/>
      </a:defRPr>
    </a:lvl4pPr>
    <a:lvl5pPr indent="1828800" algn="ctr">
      <a:spcBef>
        <a:spcPts val="1000"/>
      </a:spcBef>
      <a:defRPr>
        <a:latin typeface="Cambria"/>
        <a:ea typeface="Cambria"/>
        <a:cs typeface="Cambria"/>
        <a:sym typeface="Cambria"/>
      </a:defRPr>
    </a:lvl5pPr>
    <a:lvl6pPr indent="2286000" algn="ctr">
      <a:spcBef>
        <a:spcPts val="1000"/>
      </a:spcBef>
      <a:defRPr>
        <a:latin typeface="Cambria"/>
        <a:ea typeface="Cambria"/>
        <a:cs typeface="Cambria"/>
        <a:sym typeface="Cambria"/>
      </a:defRPr>
    </a:lvl6pPr>
    <a:lvl7pPr indent="2743200" algn="ctr">
      <a:spcBef>
        <a:spcPts val="1000"/>
      </a:spcBef>
      <a:defRPr>
        <a:latin typeface="Cambria"/>
        <a:ea typeface="Cambria"/>
        <a:cs typeface="Cambria"/>
        <a:sym typeface="Cambria"/>
      </a:defRPr>
    </a:lvl7pPr>
    <a:lvl8pPr indent="3200400" algn="ctr">
      <a:spcBef>
        <a:spcPts val="1000"/>
      </a:spcBef>
      <a:defRPr>
        <a:latin typeface="Cambria"/>
        <a:ea typeface="Cambria"/>
        <a:cs typeface="Cambria"/>
        <a:sym typeface="Cambria"/>
      </a:defRPr>
    </a:lvl8pPr>
    <a:lvl9pPr indent="3657600" algn="ctr">
      <a:spcBef>
        <a:spcPts val="1000"/>
      </a:spcBef>
      <a:defRPr>
        <a:latin typeface="Cambria"/>
        <a:ea typeface="Cambria"/>
        <a:cs typeface="Cambria"/>
        <a:sym typeface="Cambria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12700" cap="flat">
              <a:solidFill>
                <a:srgbClr val="FFFFD9"/>
              </a:solidFill>
              <a:prstDash val="solid"/>
              <a:bevel/>
            </a:ln>
          </a:top>
          <a:bottom>
            <a:ln w="127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FFFFFC"/>
          </a:solidFill>
        </a:fill>
      </a:tcStyle>
    </a:wholeTbl>
    <a:band2H>
      <a:tcTxStyle/>
      <a:tcStyle>
        <a:tcBdr/>
        <a:fill>
          <a:solidFill>
            <a:srgbClr val="FFFFFD"/>
          </a:solidFill>
        </a:fill>
      </a:tcStyle>
    </a:band2H>
    <a:firstCol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12700" cap="flat">
              <a:solidFill>
                <a:srgbClr val="FFFFD9"/>
              </a:solidFill>
              <a:prstDash val="solid"/>
              <a:bevel/>
            </a:ln>
          </a:top>
          <a:bottom>
            <a:ln w="127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FFFFF7"/>
          </a:solidFill>
        </a:fill>
      </a:tcStyle>
    </a:firstCol>
    <a:lastRow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38100" cap="flat">
              <a:solidFill>
                <a:srgbClr val="FFFFD9"/>
              </a:solidFill>
              <a:prstDash val="solid"/>
              <a:bevel/>
            </a:ln>
          </a:top>
          <a:bottom>
            <a:ln w="127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FFFFF7"/>
          </a:solidFill>
        </a:fill>
      </a:tcStyle>
    </a:lastRow>
    <a:firstRow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12700" cap="flat">
              <a:solidFill>
                <a:srgbClr val="FFFFD9"/>
              </a:solidFill>
              <a:prstDash val="solid"/>
              <a:bevel/>
            </a:ln>
          </a:top>
          <a:bottom>
            <a:ln w="381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FFFFF7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12700" cap="flat">
              <a:solidFill>
                <a:srgbClr val="FFFFD9"/>
              </a:solidFill>
              <a:prstDash val="solid"/>
              <a:bevel/>
            </a:ln>
          </a:top>
          <a:bottom>
            <a:ln w="127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FFFFF6"/>
          </a:solidFill>
        </a:fill>
      </a:tcStyle>
    </a:wholeTbl>
    <a:band2H>
      <a:tcTxStyle/>
      <a:tcStyle>
        <a:tcBdr/>
        <a:fill>
          <a:solidFill>
            <a:srgbClr val="FFFFFB"/>
          </a:solidFill>
        </a:fill>
      </a:tcStyle>
    </a:band2H>
    <a:firstCol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12700" cap="flat">
              <a:solidFill>
                <a:srgbClr val="FFFFD9"/>
              </a:solidFill>
              <a:prstDash val="solid"/>
              <a:bevel/>
            </a:ln>
          </a:top>
          <a:bottom>
            <a:ln w="127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FFFFE9"/>
          </a:solidFill>
        </a:fill>
      </a:tcStyle>
    </a:firstCol>
    <a:lastRow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38100" cap="flat">
              <a:solidFill>
                <a:srgbClr val="FFFFD9"/>
              </a:solidFill>
              <a:prstDash val="solid"/>
              <a:bevel/>
            </a:ln>
          </a:top>
          <a:bottom>
            <a:ln w="127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FFFFE9"/>
          </a:solidFill>
        </a:fill>
      </a:tcStyle>
    </a:lastRow>
    <a:firstRow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12700" cap="flat">
              <a:solidFill>
                <a:srgbClr val="FFFFD9"/>
              </a:solidFill>
              <a:prstDash val="solid"/>
              <a:bevel/>
            </a:ln>
          </a:top>
          <a:bottom>
            <a:ln w="381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FFFFE9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12700" cap="flat">
              <a:solidFill>
                <a:srgbClr val="FFFFD9"/>
              </a:solidFill>
              <a:prstDash val="solid"/>
              <a:bevel/>
            </a:ln>
          </a:top>
          <a:bottom>
            <a:ln w="127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CCE6E6"/>
          </a:solidFill>
        </a:fill>
      </a:tcStyle>
    </a:wholeTbl>
    <a:band2H>
      <a:tcTxStyle/>
      <a:tcStyle>
        <a:tcBdr/>
        <a:fill>
          <a:solidFill>
            <a:srgbClr val="E7F3F3"/>
          </a:solidFill>
        </a:fill>
      </a:tcStyle>
    </a:band2H>
    <a:firstCol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12700" cap="flat">
              <a:solidFill>
                <a:srgbClr val="FFFFD9"/>
              </a:solidFill>
              <a:prstDash val="solid"/>
              <a:bevel/>
            </a:ln>
          </a:top>
          <a:bottom>
            <a:ln w="127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2DB9B9"/>
          </a:solidFill>
        </a:fill>
      </a:tcStyle>
    </a:firstCol>
    <a:lastRow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38100" cap="flat">
              <a:solidFill>
                <a:srgbClr val="FFFFD9"/>
              </a:solidFill>
              <a:prstDash val="solid"/>
              <a:bevel/>
            </a:ln>
          </a:top>
          <a:bottom>
            <a:ln w="127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2DB9B9"/>
          </a:solidFill>
        </a:fill>
      </a:tcStyle>
    </a:lastRow>
    <a:firstRow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12700" cap="flat">
              <a:solidFill>
                <a:srgbClr val="FFFFD9"/>
              </a:solidFill>
              <a:prstDash val="solid"/>
              <a:bevel/>
            </a:ln>
          </a:top>
          <a:bottom>
            <a:ln w="381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2DB9B9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D9"/>
          </a:solidFill>
        </a:fill>
      </a:tcStyle>
    </a:band2H>
    <a:firstCol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7"/>
          </a:solidFill>
        </a:fill>
      </a:tcStyle>
    </a:firstCol>
    <a:lastRow>
      <a:tcTxStyle b="on" i="on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D9"/>
          </a:solidFill>
        </a:fill>
      </a:tcStyle>
    </a:lastRow>
    <a:firstRow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7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12700" cap="flat">
              <a:solidFill>
                <a:srgbClr val="FFFFD9"/>
              </a:solidFill>
              <a:prstDash val="solid"/>
              <a:bevel/>
            </a:ln>
          </a:top>
          <a:bottom>
            <a:ln w="127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12700" cap="flat">
              <a:solidFill>
                <a:srgbClr val="FFFFD9"/>
              </a:solidFill>
              <a:prstDash val="solid"/>
              <a:bevel/>
            </a:ln>
          </a:top>
          <a:bottom>
            <a:ln w="127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38100" cap="flat">
              <a:solidFill>
                <a:srgbClr val="FFFFD9"/>
              </a:solidFill>
              <a:prstDash val="solid"/>
              <a:bevel/>
            </a:ln>
          </a:top>
          <a:bottom>
            <a:ln w="127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Trebuchet MS"/>
          <a:ea typeface="Trebuchet MS"/>
          <a:cs typeface="Trebuchet MS"/>
        </a:font>
        <a:srgbClr val="FFFFD9"/>
      </a:tcTxStyle>
      <a:tcStyle>
        <a:tcBdr>
          <a:left>
            <a:ln w="12700" cap="flat">
              <a:solidFill>
                <a:srgbClr val="FFFFD9"/>
              </a:solidFill>
              <a:prstDash val="solid"/>
              <a:bevel/>
            </a:ln>
          </a:left>
          <a:right>
            <a:ln w="12700" cap="flat">
              <a:solidFill>
                <a:srgbClr val="FFFFD9"/>
              </a:solidFill>
              <a:prstDash val="solid"/>
              <a:bevel/>
            </a:ln>
          </a:right>
          <a:top>
            <a:ln w="12700" cap="flat">
              <a:solidFill>
                <a:srgbClr val="FFFFD9"/>
              </a:solidFill>
              <a:prstDash val="solid"/>
              <a:bevel/>
            </a:ln>
          </a:top>
          <a:bottom>
            <a:ln w="38100" cap="flat">
              <a:solidFill>
                <a:srgbClr val="FFFFD9"/>
              </a:solidFill>
              <a:prstDash val="solid"/>
              <a:bevel/>
            </a:ln>
          </a:bottom>
          <a:insideH>
            <a:ln w="12700" cap="flat">
              <a:solidFill>
                <a:srgbClr val="FFFFD9"/>
              </a:solidFill>
              <a:prstDash val="solid"/>
              <a:bevel/>
            </a:ln>
          </a:insideH>
          <a:insideV>
            <a:ln w="12700" cap="flat">
              <a:solidFill>
                <a:srgbClr val="FFFFD9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63"/>
    <p:restoredTop sz="87363"/>
  </p:normalViewPr>
  <p:slideViewPr>
    <p:cSldViewPr snapToGrid="0" snapToObjects="1" showGuides="1">
      <p:cViewPr>
        <p:scale>
          <a:sx n="128" d="100"/>
          <a:sy n="128" d="100"/>
        </p:scale>
        <p:origin x="1816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4563A-504C-104C-80B6-2373B64F1C8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12065-1EFB-724A-BF89-D1AAF7C9E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586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57" name="Shape 1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1305234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mri-q.com/how-do-z-gradients-work.html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mri-q.com/x--and-y--gradients.html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0" name="Shape 26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 dirty="0">
                <a:latin typeface="Times New Roman"/>
                <a:ea typeface="Times New Roman"/>
                <a:cs typeface="Times New Roman"/>
                <a:sym typeface="Times New Roman"/>
              </a:rPr>
              <a:t>C= choline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 dirty="0">
                <a:latin typeface="Times New Roman"/>
                <a:ea typeface="Times New Roman"/>
                <a:cs typeface="Times New Roman"/>
                <a:sym typeface="Times New Roman"/>
              </a:rPr>
              <a:t>Cr =creatine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 dirty="0">
                <a:latin typeface="Times New Roman"/>
                <a:ea typeface="Times New Roman"/>
                <a:cs typeface="Times New Roman"/>
                <a:sym typeface="Times New Roman"/>
              </a:rPr>
              <a:t>N = N-acetyl aspartate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MRI, the term contrast is used in two main ways:</a:t>
            </a:r>
          </a:p>
        </p:txBody>
      </p:sp>
    </p:spTree>
    <p:extLst>
      <p:ext uri="{BB962C8B-B14F-4D97-AF65-F5344CB8AC3E}">
        <p14:creationId xmlns:p14="http://schemas.microsoft.com/office/powerpoint/2010/main" val="2636090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fMRI, there is a third usage of the term contrast:</a:t>
            </a:r>
          </a:p>
        </p:txBody>
      </p:sp>
    </p:spTree>
    <p:extLst>
      <p:ext uri="{BB962C8B-B14F-4D97-AF65-F5344CB8AC3E}">
        <p14:creationId xmlns:p14="http://schemas.microsoft.com/office/powerpoint/2010/main" val="4160565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M: nuclei have magnetic properties</a:t>
            </a:r>
          </a:p>
          <a:p>
            <a:r>
              <a:rPr lang="en-US" dirty="0"/>
              <a:t>R: nuclei have resonant frequency</a:t>
            </a:r>
          </a:p>
          <a:p>
            <a:r>
              <a:rPr lang="en-US" dirty="0"/>
              <a:t>Magnetic moment: related to magnitude of the magnetic field, as well as the direction</a:t>
            </a:r>
          </a:p>
        </p:txBody>
      </p:sp>
    </p:spTree>
    <p:extLst>
      <p:ext uri="{BB962C8B-B14F-4D97-AF65-F5344CB8AC3E}">
        <p14:creationId xmlns:p14="http://schemas.microsoft.com/office/powerpoint/2010/main" val="3595024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M: nuclei have magnetic properties</a:t>
            </a:r>
          </a:p>
          <a:p>
            <a:r>
              <a:rPr lang="en-US" dirty="0"/>
              <a:t>R: nuclei have resonant frequency</a:t>
            </a:r>
          </a:p>
        </p:txBody>
      </p:sp>
    </p:spTree>
    <p:extLst>
      <p:ext uri="{BB962C8B-B14F-4D97-AF65-F5344CB8AC3E}">
        <p14:creationId xmlns:p14="http://schemas.microsoft.com/office/powerpoint/2010/main" val="3595024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2-D projection can be derived from several 1-D measurements</a:t>
            </a:r>
          </a:p>
          <a:p>
            <a:endParaRPr lang="en-US" dirty="0"/>
          </a:p>
          <a:p>
            <a:r>
              <a:rPr lang="en-US" dirty="0"/>
              <a:t>zeugmatography: that which is used for joining</a:t>
            </a:r>
          </a:p>
        </p:txBody>
      </p:sp>
    </p:spTree>
    <p:extLst>
      <p:ext uri="{BB962C8B-B14F-4D97-AF65-F5344CB8AC3E}">
        <p14:creationId xmlns:p14="http://schemas.microsoft.com/office/powerpoint/2010/main" val="3194016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55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60" name="Shape 56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lvl="0">
              <a:defRPr sz="1800"/>
            </a:pPr>
            <a:r>
              <a:rPr sz="1200" dirty="0"/>
              <a:t>oxygenated blood stronger signal (diamagnetic, less perturbation of magnetic field) than deoxygenated blood (paramagnetic)!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15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60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607" name="Shape 6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lnSpc>
                <a:spcPct val="100000"/>
              </a:lnSpc>
              <a:spcBef>
                <a:spcPts val="4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>
              <a:defRPr sz="1800"/>
            </a:pPr>
            <a:br>
              <a:rPr sz="1200" dirty="0"/>
            </a:br>
            <a:endParaRPr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Shape 65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652" name="Shape 6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br>
              <a:rPr sz="1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sz="1200" u="sng" dirty="0">
                <a:solidFill>
                  <a:srgbClr val="FF5050"/>
                </a:solidFill>
                <a:uFill>
                  <a:solidFill>
                    <a:srgbClr val="FF505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http://mri-q.com/how-do-z-gradients-work.html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66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665" name="Shape 6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br>
              <a:rPr sz="1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sz="1200" u="sng" dirty="0">
                <a:solidFill>
                  <a:srgbClr val="FF5050"/>
                </a:solidFill>
                <a:uFill>
                  <a:solidFill>
                    <a:srgbClr val="FF505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http://mri-q.com/x--and-y--gradients.html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Shape 6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674" name="Shape 6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lnSpc>
                <a:spcPct val="100000"/>
              </a:lnSpc>
              <a:spcBef>
                <a:spcPts val="4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>
              <a:defRPr sz="1800"/>
            </a:pPr>
            <a:br>
              <a:rPr sz="1200" dirty="0"/>
            </a:br>
            <a:endParaRPr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>
            <a:spLocks noGrp="1"/>
          </p:cNvSpPr>
          <p:nvPr>
            <p:ph type="title"/>
          </p:nvPr>
        </p:nvSpPr>
        <p:spPr>
          <a:xfrm>
            <a:off x="685800" y="1844675"/>
            <a:ext cx="7772400" cy="204152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7" name="Shape 7"/>
          <p:cNvSpPr>
            <a:spLocks noGrp="1"/>
          </p:cNvSpPr>
          <p:nvPr>
            <p:ph type="body" idx="1"/>
          </p:nvPr>
        </p:nvSpPr>
        <p:spPr>
          <a:xfrm>
            <a:off x="1371600" y="3886200"/>
            <a:ext cx="6400800" cy="29718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</a:lvl1pPr>
            <a:lvl2pPr marL="0" indent="457200" algn="ctr">
              <a:buSzTx/>
              <a:buNone/>
            </a:lvl2pPr>
            <a:lvl3pPr marL="0" indent="914400" algn="ctr">
              <a:buSzTx/>
              <a:buNone/>
            </a:lvl3pPr>
            <a:lvl4pPr marL="0" indent="1371600" algn="ctr">
              <a:buSzTx/>
              <a:buNone/>
            </a:lvl4pPr>
            <a:lvl5pPr marL="0" indent="1828800" algn="ctr">
              <a:buSzTx/>
              <a:buNone/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3200"/>
              <a:t>Body Level Two</a:t>
            </a:r>
          </a:p>
          <a:p>
            <a:pPr lvl="2">
              <a:defRPr sz="1800"/>
            </a:pPr>
            <a:r>
              <a:rPr sz="3200"/>
              <a:t>Body Level Three</a:t>
            </a:r>
          </a:p>
          <a:p>
            <a:pPr lvl="3">
              <a:defRPr sz="1800"/>
            </a:pPr>
            <a:r>
              <a:rPr sz="3200"/>
              <a:t>Body Level Four</a:t>
            </a:r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  <p:sp>
        <p:nvSpPr>
          <p:cNvPr id="8" name="Shape 8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701842" indent="-320842">
              <a:buChar char="•"/>
              <a:defRPr sz="2600"/>
            </a:lvl2pPr>
            <a:lvl3pPr>
              <a:defRPr sz="2000"/>
            </a:lvl3pPr>
            <a:lvl4pPr marL="1463842" indent="-320842">
              <a:buChar char="•"/>
              <a:defRPr sz="2000"/>
            </a:lvl4pPr>
            <a:lvl5pPr marL="1844842" indent="-320842">
              <a:buChar char="•"/>
              <a:defRPr sz="2000"/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26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FF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cap="all"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>
              <a:defRPr sz="1800" cap="none">
                <a:solidFill>
                  <a:srgbClr val="000000"/>
                </a:solidFill>
              </a:defRPr>
            </a:pPr>
            <a:r>
              <a:rPr sz="4000" cap="all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None/>
              <a:defRPr sz="2000"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457200">
              <a:spcBef>
                <a:spcPts val="400"/>
              </a:spcBef>
              <a:buSzTx/>
              <a:buNone/>
              <a:defRPr sz="2000"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914400">
              <a:spcBef>
                <a:spcPts val="400"/>
              </a:spcBef>
              <a:buSzTx/>
              <a:buNone/>
              <a:defRPr sz="2000"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1371600">
              <a:spcBef>
                <a:spcPts val="400"/>
              </a:spcBef>
              <a:buSzTx/>
              <a:buNone/>
              <a:defRPr sz="2000"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1828800">
              <a:spcBef>
                <a:spcPts val="400"/>
              </a:spcBef>
              <a:buSzTx/>
              <a:buNone/>
              <a:defRPr sz="20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  <p:sp>
        <p:nvSpPr>
          <p:cNvPr id="16" name="Shape 16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bg>
      <p:bgPr>
        <a:solidFill>
          <a:srgbClr val="FF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8038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19" name="Shape 1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52578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>
                <a:latin typeface="Trebuchet MS"/>
                <a:ea typeface="Trebuchet MS"/>
                <a:cs typeface="Trebuchet MS"/>
                <a:sym typeface="Trebuchet MS"/>
              </a:defRPr>
            </a:lvl1pPr>
            <a:lvl2pPr marL="790575" indent="-333375">
              <a:spcBef>
                <a:spcPts val="600"/>
              </a:spcBef>
              <a:defRPr sz="2800">
                <a:latin typeface="Trebuchet MS"/>
                <a:ea typeface="Trebuchet MS"/>
                <a:cs typeface="Trebuchet MS"/>
                <a:sym typeface="Trebuchet MS"/>
              </a:defRPr>
            </a:lvl2pPr>
            <a:lvl3pPr marL="1234439" indent="-320039">
              <a:spcBef>
                <a:spcPts val="600"/>
              </a:spcBef>
              <a:defRPr sz="2800">
                <a:latin typeface="Trebuchet MS"/>
                <a:ea typeface="Trebuchet MS"/>
                <a:cs typeface="Trebuchet MS"/>
                <a:sym typeface="Trebuchet MS"/>
              </a:defRPr>
            </a:lvl3pPr>
            <a:lvl4pPr marL="1727200" indent="-355600">
              <a:spcBef>
                <a:spcPts val="600"/>
              </a:spcBef>
              <a:defRPr sz="2800">
                <a:latin typeface="Trebuchet MS"/>
                <a:ea typeface="Trebuchet MS"/>
                <a:cs typeface="Trebuchet MS"/>
                <a:sym typeface="Trebuchet MS"/>
              </a:defRPr>
            </a:lvl4pPr>
            <a:lvl5pPr marL="2184400" indent="-355600">
              <a:spcBef>
                <a:spcPts val="600"/>
              </a:spcBef>
              <a:defRPr sz="28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 lvl="0">
              <a:defRPr sz="1800"/>
            </a:pPr>
            <a:r>
              <a:rPr sz="2800"/>
              <a:t>Body Level One</a:t>
            </a:r>
          </a:p>
          <a:p>
            <a:pPr lvl="1">
              <a:defRPr sz="1800"/>
            </a:pPr>
            <a:r>
              <a:rPr sz="2800"/>
              <a:t>Body Level Two</a:t>
            </a:r>
          </a:p>
          <a:p>
            <a:pPr lvl="2">
              <a:defRPr sz="1800"/>
            </a:pPr>
            <a:r>
              <a:rPr sz="2800"/>
              <a:t>Body Level Three</a:t>
            </a:r>
          </a:p>
          <a:p>
            <a:pPr lvl="3">
              <a:defRPr sz="1800"/>
            </a:pPr>
            <a:r>
              <a:rPr sz="2800"/>
              <a:t>Body Level Four</a:t>
            </a:r>
          </a:p>
          <a:p>
            <a:pPr lvl="4">
              <a:defRPr sz="1800"/>
            </a:pPr>
            <a:r>
              <a:rPr sz="2800"/>
              <a:t>Body Level Five</a:t>
            </a:r>
          </a:p>
        </p:txBody>
      </p:sp>
      <p:sp>
        <p:nvSpPr>
          <p:cNvPr id="20" name="Shape 20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FF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xfrm>
            <a:off x="457200" y="256810"/>
            <a:ext cx="8229600" cy="1178656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xfrm>
            <a:off x="457200" y="1435465"/>
            <a:ext cx="4040188" cy="73941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None/>
              <a:defRPr sz="2400">
                <a:latin typeface="Trebuchet MS Bold"/>
                <a:ea typeface="Trebuchet MS Bold"/>
                <a:cs typeface="Trebuchet MS Bold"/>
                <a:sym typeface="Trebuchet MS Bold"/>
              </a:defRPr>
            </a:lvl1pPr>
            <a:lvl2pPr marL="0" indent="457200">
              <a:spcBef>
                <a:spcPts val="500"/>
              </a:spcBef>
              <a:buSzTx/>
              <a:buNone/>
              <a:defRPr sz="2400">
                <a:latin typeface="Trebuchet MS Bold"/>
                <a:ea typeface="Trebuchet MS Bold"/>
                <a:cs typeface="Trebuchet MS Bold"/>
                <a:sym typeface="Trebuchet MS Bold"/>
              </a:defRPr>
            </a:lvl2pPr>
            <a:lvl3pPr marL="0" indent="914400">
              <a:spcBef>
                <a:spcPts val="500"/>
              </a:spcBef>
              <a:buSzTx/>
              <a:buNone/>
              <a:defRPr sz="2400">
                <a:latin typeface="Trebuchet MS Bold"/>
                <a:ea typeface="Trebuchet MS Bold"/>
                <a:cs typeface="Trebuchet MS Bold"/>
                <a:sym typeface="Trebuchet MS Bold"/>
              </a:defRPr>
            </a:lvl3pPr>
            <a:lvl4pPr marL="0" indent="1371600">
              <a:spcBef>
                <a:spcPts val="500"/>
              </a:spcBef>
              <a:buSzTx/>
              <a:buNone/>
              <a:defRPr sz="2400">
                <a:latin typeface="Trebuchet MS Bold"/>
                <a:ea typeface="Trebuchet MS Bold"/>
                <a:cs typeface="Trebuchet MS Bold"/>
                <a:sym typeface="Trebuchet MS Bold"/>
              </a:defRPr>
            </a:lvl4pPr>
            <a:lvl5pPr marL="0" indent="1828800">
              <a:spcBef>
                <a:spcPts val="500"/>
              </a:spcBef>
              <a:buSzTx/>
              <a:buNone/>
              <a:defRPr sz="2400">
                <a:latin typeface="Trebuchet MS Bold"/>
                <a:ea typeface="Trebuchet MS Bold"/>
                <a:cs typeface="Trebuchet MS Bold"/>
                <a:sym typeface="Trebuchet MS Bold"/>
              </a:defRPr>
            </a:lvl5pPr>
          </a:lstStyle>
          <a:p>
            <a:pPr lvl="0">
              <a:defRPr sz="1800"/>
            </a:pPr>
            <a:r>
              <a:rPr sz="2400"/>
              <a:t>Body Level One</a:t>
            </a:r>
          </a:p>
          <a:p>
            <a:pPr lvl="1">
              <a:defRPr sz="1800"/>
            </a:pPr>
            <a:r>
              <a:rPr sz="2400"/>
              <a:t>Body Level Two</a:t>
            </a:r>
          </a:p>
          <a:p>
            <a:pPr lvl="2">
              <a:defRPr sz="1800"/>
            </a:pPr>
            <a:r>
              <a:rPr sz="2400"/>
              <a:t>Body Level Three</a:t>
            </a:r>
          </a:p>
          <a:p>
            <a:pPr lvl="3">
              <a:defRPr sz="1800"/>
            </a:pPr>
            <a:r>
              <a:rPr sz="2400"/>
              <a:t>Body Level Four</a:t>
            </a:r>
          </a:p>
          <a:p>
            <a:pPr lvl="4">
              <a:defRPr sz="1800"/>
            </a:pPr>
            <a:r>
              <a:rPr sz="2400"/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FF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8038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27" name="Shape 27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FF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/>
          </p:cNvSpPr>
          <p:nvPr>
            <p:ph type="title"/>
          </p:nvPr>
        </p:nvSpPr>
        <p:spPr>
          <a:xfrm>
            <a:off x="457200" y="0"/>
            <a:ext cx="3008314" cy="1435100"/>
          </a:xfrm>
          <a:prstGeom prst="rect">
            <a:avLst/>
          </a:prstGeom>
        </p:spPr>
        <p:txBody>
          <a:bodyPr anchor="b"/>
          <a:lstStyle>
            <a:lvl1pPr algn="l">
              <a:defRPr sz="2000"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32" name="Shape 32"/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6584950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3200"/>
              <a:t>Body Level Two</a:t>
            </a:r>
          </a:p>
          <a:p>
            <a:pPr lvl="2">
              <a:defRPr sz="1800"/>
            </a:pPr>
            <a:r>
              <a:rPr sz="3200"/>
              <a:t>Body Level Three</a:t>
            </a:r>
          </a:p>
          <a:p>
            <a:pPr lvl="3">
              <a:defRPr sz="1800"/>
            </a:pPr>
            <a:r>
              <a:rPr sz="3200"/>
              <a:t>Body Level Four</a:t>
            </a:r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  <p:sp>
        <p:nvSpPr>
          <p:cNvPr id="33" name="Shape 33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FF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36" name="Shape 36"/>
          <p:cNvSpPr>
            <a:spLocks noGrp="1"/>
          </p:cNvSpPr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None/>
              <a:defRPr sz="1400"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indent="457200">
              <a:spcBef>
                <a:spcPts val="300"/>
              </a:spcBef>
              <a:buSzTx/>
              <a:buNone/>
              <a:defRPr sz="1400"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indent="914400">
              <a:spcBef>
                <a:spcPts val="300"/>
              </a:spcBef>
              <a:buSzTx/>
              <a:buNone/>
              <a:defRPr sz="1400"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indent="1371600">
              <a:spcBef>
                <a:spcPts val="300"/>
              </a:spcBef>
              <a:buSzTx/>
              <a:buNone/>
              <a:defRPr sz="1400"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indent="1828800">
              <a:spcBef>
                <a:spcPts val="300"/>
              </a:spcBef>
              <a:buSzTx/>
              <a:buNone/>
              <a:defRPr sz="1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 lvl="0">
              <a:defRPr sz="1800"/>
            </a:pPr>
            <a:r>
              <a:rPr sz="1400"/>
              <a:t>Body Level One</a:t>
            </a:r>
          </a:p>
          <a:p>
            <a:pPr lvl="1">
              <a:defRPr sz="1800"/>
            </a:pPr>
            <a:r>
              <a:rPr sz="1400"/>
              <a:t>Body Level Two</a:t>
            </a:r>
          </a:p>
          <a:p>
            <a:pPr lvl="2">
              <a:defRPr sz="1800"/>
            </a:pPr>
            <a:r>
              <a:rPr sz="1400"/>
              <a:t>Body Level Three</a:t>
            </a:r>
          </a:p>
          <a:p>
            <a:pPr lvl="3">
              <a:defRPr sz="1800"/>
            </a:pPr>
            <a:r>
              <a:rPr sz="1400"/>
              <a:t>Body Level Four</a:t>
            </a:r>
          </a:p>
          <a:p>
            <a:pPr lvl="4">
              <a:defRPr sz="1800"/>
            </a:pPr>
            <a:r>
              <a:rPr sz="1400"/>
              <a:t>Body Level Five</a:t>
            </a:r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bg>
      <p:bgPr>
        <a:solidFill>
          <a:srgbClr val="FF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8038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3200"/>
              <a:t>Body Level Two</a:t>
            </a:r>
          </a:p>
          <a:p>
            <a:pPr lvl="2">
              <a:defRPr sz="1800"/>
            </a:pPr>
            <a:r>
              <a:rPr sz="3200"/>
              <a:t>Body Level Three</a:t>
            </a:r>
          </a:p>
          <a:p>
            <a:pPr lvl="3">
              <a:defRPr sz="1800"/>
            </a:pPr>
            <a:r>
              <a:rPr sz="3200"/>
              <a:t>Body Level Four</a:t>
            </a:r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bg>
      <p:bgPr>
        <a:solidFill>
          <a:srgbClr val="FF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xfrm>
            <a:off x="6629400" y="0"/>
            <a:ext cx="2057400" cy="6248402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44" name="Shape 44"/>
          <p:cNvSpPr>
            <a:spLocks noGrp="1"/>
          </p:cNvSpPr>
          <p:nvPr>
            <p:ph type="body" idx="1"/>
          </p:nvPr>
        </p:nvSpPr>
        <p:spPr>
          <a:xfrm>
            <a:off x="457200" y="122237"/>
            <a:ext cx="6019800" cy="6735764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3200"/>
              <a:t>Body Level Two</a:t>
            </a:r>
          </a:p>
          <a:p>
            <a:pPr lvl="2">
              <a:defRPr sz="1800"/>
            </a:pPr>
            <a:r>
              <a:rPr sz="3200"/>
              <a:t>Body Level Three</a:t>
            </a:r>
          </a:p>
          <a:p>
            <a:pPr lvl="3">
              <a:defRPr sz="1800"/>
            </a:pPr>
            <a:r>
              <a:rPr sz="3200"/>
              <a:t>Body Level Four</a:t>
            </a:r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Content and Text">
    <p:bg>
      <p:bgPr>
        <a:solidFill>
          <a:srgbClr val="FF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8038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5257800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3200"/>
              <a:t>Body Level Two</a:t>
            </a:r>
          </a:p>
          <a:p>
            <a:pPr lvl="2">
              <a:defRPr sz="1800"/>
            </a:pPr>
            <a:r>
              <a:rPr sz="3200"/>
              <a:t>Body Level Three</a:t>
            </a:r>
          </a:p>
          <a:p>
            <a:pPr lvl="3">
              <a:defRPr sz="1800"/>
            </a:pPr>
            <a:r>
              <a:rPr sz="3200"/>
              <a:t>Body Level Four</a:t>
            </a:r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Content, and 2 Content">
    <p:bg>
      <p:bgPr>
        <a:solidFill>
          <a:srgbClr val="FF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8038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52" name="Shape 5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5257800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3200"/>
              <a:t>Body Level Two</a:t>
            </a:r>
          </a:p>
          <a:p>
            <a:pPr lvl="2">
              <a:defRPr sz="1800"/>
            </a:pPr>
            <a:r>
              <a:rPr sz="3200"/>
              <a:t>Body Level Three</a:t>
            </a:r>
          </a:p>
          <a:p>
            <a:pPr lvl="3">
              <a:defRPr sz="1800"/>
            </a:pPr>
            <a:r>
              <a:rPr sz="3200"/>
              <a:t>Body Level Four</a:t>
            </a:r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">
    <p:bg>
      <p:bgPr>
        <a:solidFill>
          <a:srgbClr val="FF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body" idx="1"/>
          </p:nvPr>
        </p:nvSpPr>
        <p:spPr>
          <a:xfrm>
            <a:off x="457200" y="122237"/>
            <a:ext cx="8229600" cy="6003926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3200"/>
              <a:t>Body Level Two</a:t>
            </a:r>
          </a:p>
          <a:p>
            <a:pPr lvl="2">
              <a:defRPr sz="1800"/>
            </a:pPr>
            <a:r>
              <a:rPr sz="3200"/>
              <a:t>Body Level Three</a:t>
            </a:r>
          </a:p>
          <a:p>
            <a:pPr lvl="3">
              <a:defRPr sz="1800"/>
            </a:pPr>
            <a:r>
              <a:rPr sz="3200"/>
              <a:t>Body Level Four</a:t>
            </a:r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  <p:sp>
        <p:nvSpPr>
          <p:cNvPr id="56" name="Shape 56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775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59" name="Shape 59"/>
          <p:cNvSpPr/>
          <p:nvPr/>
        </p:nvSpPr>
        <p:spPr>
          <a:xfrm>
            <a:off x="-9144" y="6053328"/>
            <a:ext cx="2249424" cy="713233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60" name="Shape 60"/>
          <p:cNvSpPr/>
          <p:nvPr/>
        </p:nvSpPr>
        <p:spPr>
          <a:xfrm>
            <a:off x="2359151" y="6044184"/>
            <a:ext cx="6784849" cy="713233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2362200" y="2324100"/>
            <a:ext cx="6477000" cy="35433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cap="all">
                <a:solidFill>
                  <a:srgbClr val="EBDDC3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 cap="none">
                <a:solidFill>
                  <a:srgbClr val="000000"/>
                </a:solidFill>
              </a:defRPr>
            </a:pPr>
            <a:r>
              <a:rPr sz="4400" cap="all">
                <a:solidFill>
                  <a:srgbClr val="EBDDC3"/>
                </a:solidFill>
              </a:rPr>
              <a:t>Title Text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2362200" y="5927873"/>
            <a:ext cx="6705600" cy="93012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SzTx/>
              <a:buNone/>
              <a:defRPr sz="2600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  <a:lvl2pPr marL="0" indent="457200">
              <a:buSzTx/>
              <a:buNone/>
              <a:defRPr sz="2600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lvl2pPr>
            <a:lvl3pPr marL="0" indent="914400">
              <a:buSzTx/>
              <a:buNone/>
              <a:defRPr sz="2600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lvl3pPr>
            <a:lvl4pPr marL="0" indent="1371600">
              <a:buSzTx/>
              <a:buNone/>
              <a:defRPr sz="2600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lvl4pPr>
            <a:lvl5pPr marL="0" indent="1828800">
              <a:buSzTx/>
              <a:buNone/>
              <a:defRPr sz="2600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FFFFFF"/>
                </a:solidFill>
              </a:rPr>
              <a:t>Body Level Five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8001000" y="81280"/>
            <a:ext cx="838200" cy="29464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spcBef>
                <a:spcPts val="800"/>
              </a:spcBef>
              <a:defRPr sz="1400">
                <a:solidFill>
                  <a:srgbClr val="EBDDC3"/>
                </a:solidFill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/>
        </p:nvSpPr>
        <p:spPr>
          <a:xfrm>
            <a:off x="0" y="1234439"/>
            <a:ext cx="9144000" cy="320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66" name="Shape 66"/>
          <p:cNvSpPr/>
          <p:nvPr/>
        </p:nvSpPr>
        <p:spPr>
          <a:xfrm>
            <a:off x="0" y="1280160"/>
            <a:ext cx="533400" cy="228601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67" name="Shape 67"/>
          <p:cNvSpPr/>
          <p:nvPr/>
        </p:nvSpPr>
        <p:spPr>
          <a:xfrm>
            <a:off x="590550" y="1280160"/>
            <a:ext cx="8553450" cy="228601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xfrm>
            <a:off x="612648" y="0"/>
            <a:ext cx="8153401" cy="14478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775F55"/>
                </a:solidFill>
              </a:rPr>
              <a:t>Title Text</a:t>
            </a:r>
          </a:p>
        </p:txBody>
      </p:sp>
      <p:sp>
        <p:nvSpPr>
          <p:cNvPr id="69" name="Shape 69"/>
          <p:cNvSpPr>
            <a:spLocks noGrp="1"/>
          </p:cNvSpPr>
          <p:nvPr>
            <p:ph type="sldNum" sz="quarter" idx="2"/>
          </p:nvPr>
        </p:nvSpPr>
        <p:spPr>
          <a:xfrm>
            <a:off x="0" y="1137601"/>
            <a:ext cx="533400" cy="26924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1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320040" indent="-320040">
              <a:buClr>
                <a:srgbClr val="DD8047"/>
              </a:buClr>
              <a:buSzPct val="60000"/>
              <a:buFont typeface="Wingdings"/>
              <a:buChar char="◻"/>
              <a:defRPr sz="2900">
                <a:latin typeface="Tw Cen MT"/>
                <a:ea typeface="Tw Cen MT"/>
                <a:cs typeface="Tw Cen MT"/>
                <a:sym typeface="Tw Cen MT"/>
              </a:defRPr>
            </a:lvl1pPr>
            <a:lvl2pPr marL="671732" indent="-305972">
              <a:buClr>
                <a:srgbClr val="DD8047"/>
              </a:buClr>
              <a:buSzPct val="70000"/>
              <a:buFont typeface="Wingdings"/>
              <a:buChar char=""/>
              <a:defRPr sz="2900">
                <a:latin typeface="Tw Cen MT"/>
                <a:ea typeface="Tw Cen MT"/>
                <a:cs typeface="Tw Cen MT"/>
                <a:sym typeface="Tw Cen MT"/>
              </a:defRPr>
            </a:lvl2pPr>
            <a:lvl3pPr marL="974034" indent="-288234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3pPr>
            <a:lvl4pPr marL="1474469" indent="-331469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4pPr>
            <a:lvl5pPr marL="1931670" indent="-331470">
              <a:buClr>
                <a:srgbClr val="DD8047"/>
              </a:buClr>
              <a:buSzPct val="6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5pPr>
          </a:lstStyle>
          <a:p>
            <a:pPr lvl="0">
              <a:defRPr sz="1800"/>
            </a:pPr>
            <a:r>
              <a:rPr sz="2900"/>
              <a:t>Body Level One</a:t>
            </a:r>
          </a:p>
          <a:p>
            <a:pPr lvl="1">
              <a:defRPr sz="1800"/>
            </a:pPr>
            <a:r>
              <a:rPr sz="2900"/>
              <a:t>Body Level Two</a:t>
            </a:r>
          </a:p>
          <a:p>
            <a:pPr lvl="2">
              <a:defRPr sz="1800"/>
            </a:pPr>
            <a:r>
              <a:rPr sz="2900"/>
              <a:t>Body Level Three</a:t>
            </a:r>
          </a:p>
          <a:p>
            <a:pPr lvl="3">
              <a:defRPr sz="1800"/>
            </a:pPr>
            <a:r>
              <a:rPr sz="2900"/>
              <a:t>Body Level Four</a:t>
            </a:r>
          </a:p>
          <a:p>
            <a:pPr lvl="4">
              <a:defRPr sz="1800"/>
            </a:pPr>
            <a:r>
              <a:rPr sz="29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blipFill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4" cy="33877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None/>
              <a:defRPr sz="28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  <a:lvl2pPr marL="0" indent="365760">
              <a:buSzTx/>
              <a:buNone/>
              <a:defRPr sz="28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2pPr>
            <a:lvl3pPr marL="0" indent="685800">
              <a:buSzTx/>
              <a:buNone/>
              <a:defRPr sz="28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3pPr>
            <a:lvl4pPr marL="0" indent="1143000">
              <a:buSzTx/>
              <a:buNone/>
              <a:defRPr sz="28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4pPr>
            <a:lvl5pPr marL="0" indent="1600200">
              <a:buSzTx/>
              <a:buNone/>
              <a:defRPr sz="28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775F55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775F55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775F55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775F55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775F55"/>
                </a:solidFill>
              </a:rPr>
              <a:t>Body Level Five</a:t>
            </a:r>
          </a:p>
        </p:txBody>
      </p:sp>
      <p:sp>
        <p:nvSpPr>
          <p:cNvPr id="73" name="Shape 73"/>
          <p:cNvSpPr/>
          <p:nvPr/>
        </p:nvSpPr>
        <p:spPr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74" name="Shape 7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75" name="Shape 7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76" name="Shape 76"/>
          <p:cNvSpPr>
            <a:spLocks noGrp="1"/>
          </p:cNvSpPr>
          <p:nvPr>
            <p:ph type="title"/>
          </p:nvPr>
        </p:nvSpPr>
        <p:spPr>
          <a:xfrm>
            <a:off x="1371600" y="1447800"/>
            <a:ext cx="7620000" cy="1295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77" name="Shape 77"/>
          <p:cNvSpPr>
            <a:spLocks noGrp="1"/>
          </p:cNvSpPr>
          <p:nvPr>
            <p:ph type="sldNum" sz="quarter" idx="2"/>
          </p:nvPr>
        </p:nvSpPr>
        <p:spPr>
          <a:xfrm>
            <a:off x="0" y="1879918"/>
            <a:ext cx="1295400" cy="447041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400"/>
              </a:spcBef>
              <a:defRPr sz="2400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/>
          <p:nvPr/>
        </p:nvSpPr>
        <p:spPr>
          <a:xfrm>
            <a:off x="0" y="1234439"/>
            <a:ext cx="9144000" cy="320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80" name="Shape 80"/>
          <p:cNvSpPr/>
          <p:nvPr/>
        </p:nvSpPr>
        <p:spPr>
          <a:xfrm>
            <a:off x="0" y="1280160"/>
            <a:ext cx="533400" cy="228601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81" name="Shape 81"/>
          <p:cNvSpPr/>
          <p:nvPr/>
        </p:nvSpPr>
        <p:spPr>
          <a:xfrm>
            <a:off x="590550" y="1280160"/>
            <a:ext cx="8553450" cy="228601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82" name="Shape 82"/>
          <p:cNvSpPr>
            <a:spLocks noGrp="1"/>
          </p:cNvSpPr>
          <p:nvPr>
            <p:ph type="title"/>
          </p:nvPr>
        </p:nvSpPr>
        <p:spPr>
          <a:xfrm>
            <a:off x="609600" y="0"/>
            <a:ext cx="8153400" cy="14478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775F55"/>
                </a:solidFill>
              </a:rPr>
              <a:t>Title Text</a:t>
            </a:r>
          </a:p>
        </p:txBody>
      </p:sp>
      <p:sp>
        <p:nvSpPr>
          <p:cNvPr id="83" name="Shape 83"/>
          <p:cNvSpPr>
            <a:spLocks noGrp="1"/>
          </p:cNvSpPr>
          <p:nvPr>
            <p:ph type="body" idx="1"/>
          </p:nvPr>
        </p:nvSpPr>
        <p:spPr>
          <a:xfrm>
            <a:off x="609600" y="1589567"/>
            <a:ext cx="3886200" cy="5268434"/>
          </a:xfrm>
          <a:prstGeom prst="rect">
            <a:avLst/>
          </a:prstGeom>
        </p:spPr>
        <p:txBody>
          <a:bodyPr>
            <a:normAutofit/>
          </a:bodyPr>
          <a:lstStyle>
            <a:lvl1pPr marL="320040" indent="-320040">
              <a:buClr>
                <a:srgbClr val="DD8047"/>
              </a:buClr>
              <a:buSzPct val="60000"/>
              <a:buFont typeface="Wingdings"/>
              <a:buChar char="◻"/>
              <a:defRPr sz="2900">
                <a:latin typeface="Tw Cen MT"/>
                <a:ea typeface="Tw Cen MT"/>
                <a:cs typeface="Tw Cen MT"/>
                <a:sym typeface="Tw Cen MT"/>
              </a:defRPr>
            </a:lvl1pPr>
            <a:lvl2pPr marL="671732" indent="-305972">
              <a:buClr>
                <a:srgbClr val="DD8047"/>
              </a:buClr>
              <a:buSzPct val="70000"/>
              <a:buFont typeface="Wingdings"/>
              <a:buChar char=""/>
              <a:defRPr sz="2900">
                <a:latin typeface="Tw Cen MT"/>
                <a:ea typeface="Tw Cen MT"/>
                <a:cs typeface="Tw Cen MT"/>
                <a:sym typeface="Tw Cen MT"/>
              </a:defRPr>
            </a:lvl2pPr>
            <a:lvl3pPr marL="974034" indent="-288234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3pPr>
            <a:lvl4pPr marL="1474469" indent="-331469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4pPr>
            <a:lvl5pPr marL="1931670" indent="-331470">
              <a:buClr>
                <a:srgbClr val="DD8047"/>
              </a:buClr>
              <a:buSzPct val="6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5pPr>
          </a:lstStyle>
          <a:p>
            <a:pPr lvl="0">
              <a:defRPr sz="1800"/>
            </a:pPr>
            <a:r>
              <a:rPr sz="2900"/>
              <a:t>Body Level One</a:t>
            </a:r>
          </a:p>
          <a:p>
            <a:pPr lvl="1">
              <a:defRPr sz="1800"/>
            </a:pPr>
            <a:r>
              <a:rPr sz="2900"/>
              <a:t>Body Level Two</a:t>
            </a:r>
          </a:p>
          <a:p>
            <a:pPr lvl="2">
              <a:defRPr sz="1800"/>
            </a:pPr>
            <a:r>
              <a:rPr sz="2900"/>
              <a:t>Body Level Three</a:t>
            </a:r>
          </a:p>
          <a:p>
            <a:pPr lvl="3">
              <a:defRPr sz="1800"/>
            </a:pPr>
            <a:r>
              <a:rPr sz="2900"/>
              <a:t>Body Level Four</a:t>
            </a:r>
          </a:p>
          <a:p>
            <a:pPr lvl="4">
              <a:defRPr sz="1800"/>
            </a:pPr>
            <a:r>
              <a:rPr sz="2900"/>
              <a:t>Body Level Five</a:t>
            </a:r>
          </a:p>
        </p:txBody>
      </p:sp>
      <p:sp>
        <p:nvSpPr>
          <p:cNvPr id="84" name="Shape 84"/>
          <p:cNvSpPr>
            <a:spLocks noGrp="1"/>
          </p:cNvSpPr>
          <p:nvPr>
            <p:ph type="sldNum" sz="quarter" idx="2"/>
          </p:nvPr>
        </p:nvSpPr>
        <p:spPr>
          <a:xfrm>
            <a:off x="0" y="1137601"/>
            <a:ext cx="533400" cy="26924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/>
        </p:nvSpPr>
        <p:spPr>
          <a:xfrm>
            <a:off x="0" y="1234439"/>
            <a:ext cx="9144000" cy="320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87" name="Shape 87"/>
          <p:cNvSpPr/>
          <p:nvPr/>
        </p:nvSpPr>
        <p:spPr>
          <a:xfrm>
            <a:off x="0" y="1280160"/>
            <a:ext cx="533400" cy="228601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88" name="Shape 88"/>
          <p:cNvSpPr/>
          <p:nvPr/>
        </p:nvSpPr>
        <p:spPr>
          <a:xfrm>
            <a:off x="590550" y="1280160"/>
            <a:ext cx="8553450" cy="228601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89" name="Shape 89"/>
          <p:cNvSpPr>
            <a:spLocks noGrp="1"/>
          </p:cNvSpPr>
          <p:nvPr>
            <p:ph type="title"/>
          </p:nvPr>
        </p:nvSpPr>
        <p:spPr>
          <a:xfrm>
            <a:off x="533400" y="0"/>
            <a:ext cx="8153400" cy="141605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775F55"/>
                </a:solidFill>
              </a:rPr>
              <a:t>Title Text</a:t>
            </a:r>
          </a:p>
        </p:txBody>
      </p:sp>
      <p:sp>
        <p:nvSpPr>
          <p:cNvPr id="90" name="Shape 90"/>
          <p:cNvSpPr>
            <a:spLocks noGrp="1"/>
          </p:cNvSpPr>
          <p:nvPr>
            <p:ph type="body" idx="1"/>
          </p:nvPr>
        </p:nvSpPr>
        <p:spPr>
          <a:xfrm>
            <a:off x="609600" y="2438400"/>
            <a:ext cx="3886200" cy="4419600"/>
          </a:xfrm>
          <a:prstGeom prst="rect">
            <a:avLst/>
          </a:prstGeom>
        </p:spPr>
        <p:txBody>
          <a:bodyPr>
            <a:normAutofit/>
          </a:bodyPr>
          <a:lstStyle>
            <a:lvl1pPr marL="320040" indent="-320040">
              <a:buClr>
                <a:srgbClr val="DD8047"/>
              </a:buClr>
              <a:buSzPct val="60000"/>
              <a:buFont typeface="Wingdings"/>
              <a:buChar char="◻"/>
              <a:defRPr sz="2900">
                <a:latin typeface="Tw Cen MT"/>
                <a:ea typeface="Tw Cen MT"/>
                <a:cs typeface="Tw Cen MT"/>
                <a:sym typeface="Tw Cen MT"/>
              </a:defRPr>
            </a:lvl1pPr>
            <a:lvl2pPr marL="671732" indent="-305972">
              <a:buClr>
                <a:srgbClr val="DD8047"/>
              </a:buClr>
              <a:buSzPct val="70000"/>
              <a:buFont typeface="Wingdings"/>
              <a:buChar char=""/>
              <a:defRPr sz="2900">
                <a:latin typeface="Tw Cen MT"/>
                <a:ea typeface="Tw Cen MT"/>
                <a:cs typeface="Tw Cen MT"/>
                <a:sym typeface="Tw Cen MT"/>
              </a:defRPr>
            </a:lvl2pPr>
            <a:lvl3pPr marL="974034" indent="-288234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3pPr>
            <a:lvl4pPr marL="1474469" indent="-331469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4pPr>
            <a:lvl5pPr marL="1931670" indent="-331470">
              <a:buClr>
                <a:srgbClr val="DD8047"/>
              </a:buClr>
              <a:buSzPct val="6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5pPr>
          </a:lstStyle>
          <a:p>
            <a:pPr lvl="0">
              <a:defRPr sz="1800"/>
            </a:pPr>
            <a:r>
              <a:rPr sz="2900"/>
              <a:t>Body Level One</a:t>
            </a:r>
          </a:p>
          <a:p>
            <a:pPr lvl="1">
              <a:defRPr sz="1800"/>
            </a:pPr>
            <a:r>
              <a:rPr sz="2900"/>
              <a:t>Body Level Two</a:t>
            </a:r>
          </a:p>
          <a:p>
            <a:pPr lvl="2">
              <a:defRPr sz="1800"/>
            </a:pPr>
            <a:r>
              <a:rPr sz="2900"/>
              <a:t>Body Level Three</a:t>
            </a:r>
          </a:p>
          <a:p>
            <a:pPr lvl="3">
              <a:defRPr sz="1800"/>
            </a:pPr>
            <a:r>
              <a:rPr sz="2900"/>
              <a:t>Body Level Four</a:t>
            </a:r>
          </a:p>
          <a:p>
            <a:pPr lvl="4">
              <a:defRPr sz="1800"/>
            </a:pPr>
            <a:r>
              <a:rPr sz="2900"/>
              <a:t>Body Level Five</a:t>
            </a:r>
          </a:p>
        </p:txBody>
      </p:sp>
      <p:sp>
        <p:nvSpPr>
          <p:cNvPr id="91" name="Shape 91"/>
          <p:cNvSpPr>
            <a:spLocks noGrp="1"/>
          </p:cNvSpPr>
          <p:nvPr>
            <p:ph type="sldNum" sz="quarter" idx="2"/>
          </p:nvPr>
        </p:nvSpPr>
        <p:spPr>
          <a:xfrm>
            <a:off x="0" y="1137601"/>
            <a:ext cx="533400" cy="26924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/>
        </p:nvSpPr>
        <p:spPr>
          <a:xfrm>
            <a:off x="0" y="1234439"/>
            <a:ext cx="9144000" cy="320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94" name="Shape 94"/>
          <p:cNvSpPr/>
          <p:nvPr/>
        </p:nvSpPr>
        <p:spPr>
          <a:xfrm>
            <a:off x="0" y="1280160"/>
            <a:ext cx="533400" cy="228601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95" name="Shape 95"/>
          <p:cNvSpPr/>
          <p:nvPr/>
        </p:nvSpPr>
        <p:spPr>
          <a:xfrm>
            <a:off x="590550" y="1280160"/>
            <a:ext cx="8553450" cy="228601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96" name="Shape 96"/>
          <p:cNvSpPr>
            <a:spLocks noGrp="1"/>
          </p:cNvSpPr>
          <p:nvPr>
            <p:ph type="title"/>
          </p:nvPr>
        </p:nvSpPr>
        <p:spPr>
          <a:xfrm>
            <a:off x="609600" y="0"/>
            <a:ext cx="8153400" cy="14478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775F55"/>
                </a:solidFill>
              </a:rPr>
              <a:t>Title Text</a:t>
            </a:r>
          </a:p>
        </p:txBody>
      </p:sp>
      <p:sp>
        <p:nvSpPr>
          <p:cNvPr id="97" name="Shape 97"/>
          <p:cNvSpPr>
            <a:spLocks noGrp="1"/>
          </p:cNvSpPr>
          <p:nvPr>
            <p:ph type="sldNum" sz="quarter" idx="2"/>
          </p:nvPr>
        </p:nvSpPr>
        <p:spPr>
          <a:xfrm>
            <a:off x="0" y="1137601"/>
            <a:ext cx="533400" cy="26924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 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/>
          </p:cNvSpPr>
          <p:nvPr>
            <p:ph type="title"/>
          </p:nvPr>
        </p:nvSpPr>
        <p:spPr>
          <a:xfrm>
            <a:off x="609600" y="0"/>
            <a:ext cx="8153400" cy="14478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775F55"/>
                </a:solidFill>
              </a:rPr>
              <a:t>Title Text</a:t>
            </a:r>
          </a:p>
        </p:txBody>
      </p:sp>
      <p:sp>
        <p:nvSpPr>
          <p:cNvPr id="100" name="Shape 100"/>
          <p:cNvSpPr>
            <a:spLocks noGrp="1"/>
          </p:cNvSpPr>
          <p:nvPr>
            <p:ph type="sldNum" sz="quarter" idx="2"/>
          </p:nvPr>
        </p:nvSpPr>
        <p:spPr>
          <a:xfrm>
            <a:off x="0" y="1137601"/>
            <a:ext cx="533400" cy="26924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/>
        </p:nvSpPr>
        <p:spPr>
          <a:xfrm>
            <a:off x="0" y="1234439"/>
            <a:ext cx="9144000" cy="320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05" name="Shape 105"/>
          <p:cNvSpPr/>
          <p:nvPr/>
        </p:nvSpPr>
        <p:spPr>
          <a:xfrm>
            <a:off x="0" y="1280160"/>
            <a:ext cx="533400" cy="228601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06" name="Shape 106"/>
          <p:cNvSpPr/>
          <p:nvPr/>
        </p:nvSpPr>
        <p:spPr>
          <a:xfrm>
            <a:off x="590550" y="1280160"/>
            <a:ext cx="8553450" cy="228601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title"/>
          </p:nvPr>
        </p:nvSpPr>
        <p:spPr>
          <a:xfrm>
            <a:off x="609600" y="0"/>
            <a:ext cx="8077200" cy="141605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775F55"/>
                </a:solidFill>
              </a:rPr>
              <a:t>Title Text</a:t>
            </a:r>
          </a:p>
        </p:txBody>
      </p:sp>
      <p:sp>
        <p:nvSpPr>
          <p:cNvPr id="108" name="Shape 108"/>
          <p:cNvSpPr>
            <a:spLocks noGrp="1"/>
          </p:cNvSpPr>
          <p:nvPr>
            <p:ph type="sldNum" sz="quarter" idx="2"/>
          </p:nvPr>
        </p:nvSpPr>
        <p:spPr>
          <a:xfrm>
            <a:off x="0" y="1137601"/>
            <a:ext cx="533400" cy="26924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  <p:sp>
        <p:nvSpPr>
          <p:cNvPr id="109" name="Shape 109"/>
          <p:cNvSpPr>
            <a:spLocks noGrp="1"/>
          </p:cNvSpPr>
          <p:nvPr>
            <p:ph type="body" idx="1"/>
          </p:nvPr>
        </p:nvSpPr>
        <p:spPr>
          <a:xfrm>
            <a:off x="609600" y="1752600"/>
            <a:ext cx="1600200" cy="5105400"/>
          </a:xfrm>
          <a:prstGeom prst="rect">
            <a:avLst/>
          </a:prstGeom>
          <a:solidFill>
            <a:srgbClr val="DD8047"/>
          </a:solidFill>
          <a:ln w="50800" cap="sq">
            <a:solidFill>
              <a:srgbClr val="DD8047"/>
            </a:solidFill>
            <a:miter lim="800000"/>
          </a:ln>
        </p:spPr>
        <p:txBody>
          <a:bodyPr lIns="91439" tIns="91439" rIns="91439" bIns="91439">
            <a:normAutofit/>
          </a:bodyPr>
          <a:lstStyle>
            <a:lvl1pPr marL="0" indent="0">
              <a:spcBef>
                <a:spcPts val="1000"/>
              </a:spcBef>
              <a:buSzTx/>
              <a:buNone/>
              <a:defRPr sz="1800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  <a:lvl2pPr marL="0" indent="365760">
              <a:spcBef>
                <a:spcPts val="1000"/>
              </a:spcBef>
              <a:buSzTx/>
              <a:buNone/>
              <a:defRPr sz="1800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lvl2pPr>
            <a:lvl3pPr marL="0" indent="685800">
              <a:spcBef>
                <a:spcPts val="1000"/>
              </a:spcBef>
              <a:buSzTx/>
              <a:buNone/>
              <a:defRPr sz="1800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lvl3pPr>
            <a:lvl4pPr marL="0" indent="1143000">
              <a:spcBef>
                <a:spcPts val="1000"/>
              </a:spcBef>
              <a:buSzTx/>
              <a:buNone/>
              <a:defRPr sz="1800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lvl4pPr>
            <a:lvl5pPr marL="0" indent="1600200">
              <a:spcBef>
                <a:spcPts val="1000"/>
              </a:spcBef>
              <a:buSzTx/>
              <a:buNone/>
              <a:defRPr sz="1800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lvl5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Body Level One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Body Level Two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Body Level Three</a:t>
            </a:r>
          </a:p>
          <a:p>
            <a:pPr lvl="3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Body Level Four</a:t>
            </a:r>
          </a:p>
          <a:p>
            <a:pPr lvl="4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blipFill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/>
          </p:cNvSpPr>
          <p:nvPr>
            <p:ph type="body" idx="1"/>
          </p:nvPr>
        </p:nvSpPr>
        <p:spPr>
          <a:xfrm>
            <a:off x="1600200" y="5486400"/>
            <a:ext cx="7315200" cy="137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None/>
              <a:defRPr sz="1700">
                <a:latin typeface="Tw Cen MT"/>
                <a:ea typeface="Tw Cen MT"/>
                <a:cs typeface="Tw Cen MT"/>
                <a:sym typeface="Tw Cen MT"/>
              </a:defRPr>
            </a:lvl1pPr>
            <a:lvl2pPr marL="0" indent="365760">
              <a:buSzTx/>
              <a:buNone/>
              <a:defRPr sz="1700">
                <a:latin typeface="Tw Cen MT"/>
                <a:ea typeface="Tw Cen MT"/>
                <a:cs typeface="Tw Cen MT"/>
                <a:sym typeface="Tw Cen MT"/>
              </a:defRPr>
            </a:lvl2pPr>
            <a:lvl3pPr marL="0" indent="685800">
              <a:buSzTx/>
              <a:buNone/>
              <a:defRPr sz="1700">
                <a:latin typeface="Tw Cen MT"/>
                <a:ea typeface="Tw Cen MT"/>
                <a:cs typeface="Tw Cen MT"/>
                <a:sym typeface="Tw Cen MT"/>
              </a:defRPr>
            </a:lvl3pPr>
            <a:lvl4pPr marL="0" indent="1143000">
              <a:buSzTx/>
              <a:buNone/>
              <a:defRPr sz="1700">
                <a:latin typeface="Tw Cen MT"/>
                <a:ea typeface="Tw Cen MT"/>
                <a:cs typeface="Tw Cen MT"/>
                <a:sym typeface="Tw Cen MT"/>
              </a:defRPr>
            </a:lvl4pPr>
            <a:lvl5pPr marL="0" indent="1600200">
              <a:buSzTx/>
              <a:buNone/>
              <a:defRPr sz="1700">
                <a:latin typeface="Tw Cen MT"/>
                <a:ea typeface="Tw Cen MT"/>
                <a:cs typeface="Tw Cen MT"/>
                <a:sym typeface="Tw Cen MT"/>
              </a:defRPr>
            </a:lvl5pPr>
          </a:lstStyle>
          <a:p>
            <a:pPr lvl="0">
              <a:defRPr sz="1800"/>
            </a:pPr>
            <a:r>
              <a:rPr sz="1700"/>
              <a:t>Body Level One</a:t>
            </a:r>
          </a:p>
          <a:p>
            <a:pPr lvl="1">
              <a:defRPr sz="1800"/>
            </a:pPr>
            <a:r>
              <a:rPr sz="1700"/>
              <a:t>Body Level Two</a:t>
            </a:r>
          </a:p>
          <a:p>
            <a:pPr lvl="2">
              <a:defRPr sz="1800"/>
            </a:pPr>
            <a:r>
              <a:rPr sz="1700"/>
              <a:t>Body Level Three</a:t>
            </a:r>
          </a:p>
          <a:p>
            <a:pPr lvl="3">
              <a:defRPr sz="1800"/>
            </a:pPr>
            <a:r>
              <a:rPr sz="1700"/>
              <a:t>Body Level Four</a:t>
            </a:r>
          </a:p>
          <a:p>
            <a:pPr lvl="4">
              <a:defRPr sz="1800"/>
            </a:pPr>
            <a:r>
              <a:rPr sz="1700"/>
              <a:t>Body Level Five</a:t>
            </a:r>
          </a:p>
        </p:txBody>
      </p:sp>
      <p:sp>
        <p:nvSpPr>
          <p:cNvPr id="112" name="Shape 112"/>
          <p:cNvSpPr/>
          <p:nvPr/>
        </p:nvSpPr>
        <p:spPr>
          <a:xfrm>
            <a:off x="-9145" y="4572000"/>
            <a:ext cx="9144001" cy="8869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13" name="Shape 113"/>
          <p:cNvSpPr/>
          <p:nvPr/>
        </p:nvSpPr>
        <p:spPr>
          <a:xfrm>
            <a:off x="-9145" y="4663440"/>
            <a:ext cx="1463042" cy="713233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14" name="Shape 114"/>
          <p:cNvSpPr/>
          <p:nvPr/>
        </p:nvSpPr>
        <p:spPr>
          <a:xfrm>
            <a:off x="1545336" y="4654296"/>
            <a:ext cx="7598665" cy="713233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15" name="Shape 115"/>
          <p:cNvSpPr>
            <a:spLocks noGrp="1"/>
          </p:cNvSpPr>
          <p:nvPr>
            <p:ph type="title"/>
          </p:nvPr>
        </p:nvSpPr>
        <p:spPr>
          <a:xfrm>
            <a:off x="1600200" y="4495800"/>
            <a:ext cx="7315200" cy="9906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116" name="Shape 116"/>
          <p:cNvSpPr/>
          <p:nvPr/>
        </p:nvSpPr>
        <p:spPr>
          <a:xfrm>
            <a:off x="1447800" y="0"/>
            <a:ext cx="100585" cy="68671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sldNum" sz="quarter" idx="2"/>
          </p:nvPr>
        </p:nvSpPr>
        <p:spPr>
          <a:xfrm>
            <a:off x="0" y="4532628"/>
            <a:ext cx="1447800" cy="26924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/>
        </p:nvSpPr>
        <p:spPr>
          <a:xfrm>
            <a:off x="0" y="1234439"/>
            <a:ext cx="9144000" cy="320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20" name="Shape 120"/>
          <p:cNvSpPr/>
          <p:nvPr/>
        </p:nvSpPr>
        <p:spPr>
          <a:xfrm>
            <a:off x="0" y="1280160"/>
            <a:ext cx="533400" cy="228601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21" name="Shape 121"/>
          <p:cNvSpPr/>
          <p:nvPr/>
        </p:nvSpPr>
        <p:spPr>
          <a:xfrm>
            <a:off x="590550" y="1280160"/>
            <a:ext cx="8553450" cy="228601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22" name="Shape 122"/>
          <p:cNvSpPr>
            <a:spLocks noGrp="1"/>
          </p:cNvSpPr>
          <p:nvPr>
            <p:ph type="title"/>
          </p:nvPr>
        </p:nvSpPr>
        <p:spPr>
          <a:xfrm>
            <a:off x="609600" y="0"/>
            <a:ext cx="8153400" cy="14478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775F55"/>
                </a:solidFill>
              </a:rPr>
              <a:t>Title Text</a:t>
            </a:r>
          </a:p>
        </p:txBody>
      </p:sp>
      <p:sp>
        <p:nvSpPr>
          <p:cNvPr id="123" name="Shape 123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1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320040" indent="-320040">
              <a:buClr>
                <a:srgbClr val="DD8047"/>
              </a:buClr>
              <a:buSzPct val="60000"/>
              <a:buFont typeface="Wingdings"/>
              <a:buChar char="◻"/>
              <a:defRPr sz="2900">
                <a:latin typeface="Tw Cen MT"/>
                <a:ea typeface="Tw Cen MT"/>
                <a:cs typeface="Tw Cen MT"/>
                <a:sym typeface="Tw Cen MT"/>
              </a:defRPr>
            </a:lvl1pPr>
            <a:lvl2pPr marL="671732" indent="-305972">
              <a:buClr>
                <a:srgbClr val="DD8047"/>
              </a:buClr>
              <a:buSzPct val="70000"/>
              <a:buFont typeface="Wingdings"/>
              <a:buChar char=""/>
              <a:defRPr sz="2900">
                <a:latin typeface="Tw Cen MT"/>
                <a:ea typeface="Tw Cen MT"/>
                <a:cs typeface="Tw Cen MT"/>
                <a:sym typeface="Tw Cen MT"/>
              </a:defRPr>
            </a:lvl2pPr>
            <a:lvl3pPr marL="974034" indent="-288234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3pPr>
            <a:lvl4pPr marL="1474469" indent="-331469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4pPr>
            <a:lvl5pPr marL="1931670" indent="-331470">
              <a:buClr>
                <a:srgbClr val="DD8047"/>
              </a:buClr>
              <a:buSzPct val="6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5pPr>
          </a:lstStyle>
          <a:p>
            <a:pPr lvl="0">
              <a:defRPr sz="1800"/>
            </a:pPr>
            <a:r>
              <a:rPr sz="2900"/>
              <a:t>Body Level One</a:t>
            </a:r>
          </a:p>
          <a:p>
            <a:pPr lvl="1">
              <a:defRPr sz="1800"/>
            </a:pPr>
            <a:r>
              <a:rPr sz="2900"/>
              <a:t>Body Level Two</a:t>
            </a:r>
          </a:p>
          <a:p>
            <a:pPr lvl="2">
              <a:defRPr sz="1800"/>
            </a:pPr>
            <a:r>
              <a:rPr sz="2900"/>
              <a:t>Body Level Three</a:t>
            </a:r>
          </a:p>
          <a:p>
            <a:pPr lvl="3">
              <a:defRPr sz="1800"/>
            </a:pPr>
            <a:r>
              <a:rPr sz="2900"/>
              <a:t>Body Level Four</a:t>
            </a:r>
          </a:p>
          <a:p>
            <a:pPr lvl="4">
              <a:defRPr sz="1800"/>
            </a:pPr>
            <a:r>
              <a:rPr sz="2900"/>
              <a:t>Body Level Five</a:t>
            </a:r>
          </a:p>
        </p:txBody>
      </p:sp>
      <p:sp>
        <p:nvSpPr>
          <p:cNvPr id="124" name="Shape 124"/>
          <p:cNvSpPr>
            <a:spLocks noGrp="1"/>
          </p:cNvSpPr>
          <p:nvPr>
            <p:ph type="sldNum" sz="quarter" idx="2"/>
          </p:nvPr>
        </p:nvSpPr>
        <p:spPr>
          <a:xfrm>
            <a:off x="0" y="1137601"/>
            <a:ext cx="533400" cy="26924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/>
          </p:cNvSpPr>
          <p:nvPr>
            <p:ph type="title"/>
          </p:nvPr>
        </p:nvSpPr>
        <p:spPr>
          <a:xfrm>
            <a:off x="6553200" y="0"/>
            <a:ext cx="2057400" cy="673576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775F55"/>
                </a:solidFill>
              </a:rPr>
              <a:t>Title Text</a:t>
            </a:r>
          </a:p>
        </p:txBody>
      </p:sp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xfrm>
            <a:off x="457200" y="609600"/>
            <a:ext cx="5562600" cy="6248400"/>
          </a:xfrm>
          <a:prstGeom prst="rect">
            <a:avLst/>
          </a:prstGeom>
        </p:spPr>
        <p:txBody>
          <a:bodyPr>
            <a:normAutofit/>
          </a:bodyPr>
          <a:lstStyle>
            <a:lvl1pPr marL="320040" indent="-320040">
              <a:buClr>
                <a:srgbClr val="DD8047"/>
              </a:buClr>
              <a:buSzPct val="60000"/>
              <a:buFont typeface="Wingdings"/>
              <a:buChar char="◻"/>
              <a:defRPr sz="2900">
                <a:latin typeface="Tw Cen MT"/>
                <a:ea typeface="Tw Cen MT"/>
                <a:cs typeface="Tw Cen MT"/>
                <a:sym typeface="Tw Cen MT"/>
              </a:defRPr>
            </a:lvl1pPr>
            <a:lvl2pPr marL="671732" indent="-305972">
              <a:buClr>
                <a:srgbClr val="DD8047"/>
              </a:buClr>
              <a:buSzPct val="70000"/>
              <a:buFont typeface="Wingdings"/>
              <a:buChar char=""/>
              <a:defRPr sz="2900">
                <a:latin typeface="Tw Cen MT"/>
                <a:ea typeface="Tw Cen MT"/>
                <a:cs typeface="Tw Cen MT"/>
                <a:sym typeface="Tw Cen MT"/>
              </a:defRPr>
            </a:lvl2pPr>
            <a:lvl3pPr marL="974034" indent="-288234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3pPr>
            <a:lvl4pPr marL="1474469" indent="-331469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4pPr>
            <a:lvl5pPr marL="1931670" indent="-331470">
              <a:buClr>
                <a:srgbClr val="DD8047"/>
              </a:buClr>
              <a:buSzPct val="6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5pPr>
          </a:lstStyle>
          <a:p>
            <a:pPr lvl="0">
              <a:defRPr sz="1800"/>
            </a:pPr>
            <a:r>
              <a:rPr sz="2900"/>
              <a:t>Body Level One</a:t>
            </a:r>
          </a:p>
          <a:p>
            <a:pPr lvl="1">
              <a:defRPr sz="1800"/>
            </a:pPr>
            <a:r>
              <a:rPr sz="2900"/>
              <a:t>Body Level Two</a:t>
            </a:r>
          </a:p>
          <a:p>
            <a:pPr lvl="2">
              <a:defRPr sz="1800"/>
            </a:pPr>
            <a:r>
              <a:rPr sz="2900"/>
              <a:t>Body Level Three</a:t>
            </a:r>
          </a:p>
          <a:p>
            <a:pPr lvl="3">
              <a:defRPr sz="1800"/>
            </a:pPr>
            <a:r>
              <a:rPr sz="2900"/>
              <a:t>Body Level Four</a:t>
            </a:r>
          </a:p>
          <a:p>
            <a:pPr lvl="4">
              <a:defRPr sz="1800"/>
            </a:pPr>
            <a:r>
              <a:rPr sz="2900"/>
              <a:t>Body Level Five</a:t>
            </a:r>
          </a:p>
        </p:txBody>
      </p:sp>
      <p:sp>
        <p:nvSpPr>
          <p:cNvPr id="128" name="Shape 128"/>
          <p:cNvSpPr/>
          <p:nvPr/>
        </p:nvSpPr>
        <p:spPr>
          <a:xfrm>
            <a:off x="6096317" y="0"/>
            <a:ext cx="320041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29" name="Shape 129"/>
          <p:cNvSpPr/>
          <p:nvPr/>
        </p:nvSpPr>
        <p:spPr>
          <a:xfrm>
            <a:off x="6142037" y="609600"/>
            <a:ext cx="228601" cy="6248400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30" name="Shape 130"/>
          <p:cNvSpPr/>
          <p:nvPr/>
        </p:nvSpPr>
        <p:spPr>
          <a:xfrm>
            <a:off x="6142037" y="0"/>
            <a:ext cx="228601" cy="533400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31" name="Shape 131"/>
          <p:cNvSpPr>
            <a:spLocks noGrp="1"/>
          </p:cNvSpPr>
          <p:nvPr>
            <p:ph type="sldNum" sz="quarter" idx="2"/>
          </p:nvPr>
        </p:nvSpPr>
        <p:spPr>
          <a:xfrm rot="5400000">
            <a:off x="5989637" y="9842"/>
            <a:ext cx="533401" cy="26924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Content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/>
        </p:nvSpPr>
        <p:spPr>
          <a:xfrm>
            <a:off x="0" y="1234439"/>
            <a:ext cx="9144000" cy="320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34" name="Shape 134"/>
          <p:cNvSpPr/>
          <p:nvPr/>
        </p:nvSpPr>
        <p:spPr>
          <a:xfrm>
            <a:off x="0" y="1280160"/>
            <a:ext cx="533400" cy="228601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35" name="Shape 135"/>
          <p:cNvSpPr/>
          <p:nvPr/>
        </p:nvSpPr>
        <p:spPr>
          <a:xfrm>
            <a:off x="590550" y="1280160"/>
            <a:ext cx="8553450" cy="228601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36" name="Shape 136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803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775F55"/>
                </a:solidFill>
              </a:rPr>
              <a:t>Title Text</a:t>
            </a:r>
          </a:p>
        </p:txBody>
      </p:sp>
      <p:sp>
        <p:nvSpPr>
          <p:cNvPr id="137" name="Shape 137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320040" indent="-320040">
              <a:buClr>
                <a:srgbClr val="DD8047"/>
              </a:buClr>
              <a:buSzPct val="60000"/>
              <a:buFont typeface="Wingdings"/>
              <a:buChar char="◻"/>
              <a:defRPr sz="2900">
                <a:latin typeface="Tw Cen MT"/>
                <a:ea typeface="Tw Cen MT"/>
                <a:cs typeface="Tw Cen MT"/>
                <a:sym typeface="Tw Cen MT"/>
              </a:defRPr>
            </a:lvl1pPr>
            <a:lvl2pPr marL="671732" indent="-305972">
              <a:buClr>
                <a:srgbClr val="DD8047"/>
              </a:buClr>
              <a:buSzPct val="70000"/>
              <a:buFont typeface="Wingdings"/>
              <a:buChar char=""/>
              <a:defRPr sz="2900">
                <a:latin typeface="Tw Cen MT"/>
                <a:ea typeface="Tw Cen MT"/>
                <a:cs typeface="Tw Cen MT"/>
                <a:sym typeface="Tw Cen MT"/>
              </a:defRPr>
            </a:lvl2pPr>
            <a:lvl3pPr marL="974034" indent="-288234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3pPr>
            <a:lvl4pPr marL="1474469" indent="-331469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4pPr>
            <a:lvl5pPr marL="1931670" indent="-331470">
              <a:buClr>
                <a:srgbClr val="DD8047"/>
              </a:buClr>
              <a:buSzPct val="6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5pPr>
          </a:lstStyle>
          <a:p>
            <a:pPr lvl="0">
              <a:defRPr sz="1800"/>
            </a:pPr>
            <a:r>
              <a:rPr sz="2900"/>
              <a:t>Body Level One</a:t>
            </a:r>
          </a:p>
          <a:p>
            <a:pPr lvl="1">
              <a:defRPr sz="1800"/>
            </a:pPr>
            <a:r>
              <a:rPr sz="2900"/>
              <a:t>Body Level Two</a:t>
            </a:r>
          </a:p>
          <a:p>
            <a:pPr lvl="2">
              <a:defRPr sz="1800"/>
            </a:pPr>
            <a:r>
              <a:rPr sz="2900"/>
              <a:t>Body Level Three</a:t>
            </a:r>
          </a:p>
          <a:p>
            <a:pPr lvl="3">
              <a:defRPr sz="1800"/>
            </a:pPr>
            <a:r>
              <a:rPr sz="2900"/>
              <a:t>Body Level Four</a:t>
            </a:r>
          </a:p>
          <a:p>
            <a:pPr lvl="4">
              <a:defRPr sz="1800"/>
            </a:pPr>
            <a:r>
              <a:rPr sz="2900"/>
              <a:t>Body Level Five</a:t>
            </a:r>
          </a:p>
        </p:txBody>
      </p:sp>
      <p:sp>
        <p:nvSpPr>
          <p:cNvPr id="138" name="Shape 138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Content,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/>
        </p:nvSpPr>
        <p:spPr>
          <a:xfrm>
            <a:off x="0" y="1234439"/>
            <a:ext cx="9144000" cy="320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41" name="Shape 141"/>
          <p:cNvSpPr/>
          <p:nvPr/>
        </p:nvSpPr>
        <p:spPr>
          <a:xfrm>
            <a:off x="0" y="1280160"/>
            <a:ext cx="533400" cy="228601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42" name="Shape 142"/>
          <p:cNvSpPr/>
          <p:nvPr/>
        </p:nvSpPr>
        <p:spPr>
          <a:xfrm>
            <a:off x="590550" y="1280160"/>
            <a:ext cx="8553450" cy="228601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43" name="Shape 14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803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>
                <a:solidFill>
                  <a:srgbClr val="775F55"/>
                </a:solidFill>
                <a:latin typeface="Tw Cen MT"/>
                <a:ea typeface="Tw Cen MT"/>
                <a:cs typeface="Tw Cen MT"/>
                <a:sym typeface="Tw Cen M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775F55"/>
                </a:solidFill>
              </a:rPr>
              <a:t>Title Text</a:t>
            </a:r>
          </a:p>
        </p:txBody>
      </p:sp>
      <p:sp>
        <p:nvSpPr>
          <p:cNvPr id="144" name="Shape 14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320040" indent="-320040">
              <a:buClr>
                <a:srgbClr val="DD8047"/>
              </a:buClr>
              <a:buSzPct val="60000"/>
              <a:buFont typeface="Wingdings"/>
              <a:buChar char="◻"/>
              <a:defRPr sz="2900">
                <a:latin typeface="Tw Cen MT"/>
                <a:ea typeface="Tw Cen MT"/>
                <a:cs typeface="Tw Cen MT"/>
                <a:sym typeface="Tw Cen MT"/>
              </a:defRPr>
            </a:lvl1pPr>
            <a:lvl2pPr marL="671732" indent="-305972">
              <a:buClr>
                <a:srgbClr val="DD8047"/>
              </a:buClr>
              <a:buSzPct val="70000"/>
              <a:buFont typeface="Wingdings"/>
              <a:buChar char=""/>
              <a:defRPr sz="2900">
                <a:latin typeface="Tw Cen MT"/>
                <a:ea typeface="Tw Cen MT"/>
                <a:cs typeface="Tw Cen MT"/>
                <a:sym typeface="Tw Cen MT"/>
              </a:defRPr>
            </a:lvl2pPr>
            <a:lvl3pPr marL="974034" indent="-288234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3pPr>
            <a:lvl4pPr marL="1474469" indent="-331469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4pPr>
            <a:lvl5pPr marL="1931670" indent="-331470">
              <a:buClr>
                <a:srgbClr val="DD8047"/>
              </a:buClr>
              <a:buSzPct val="6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5pPr>
          </a:lstStyle>
          <a:p>
            <a:pPr lvl="0">
              <a:defRPr sz="1800"/>
            </a:pPr>
            <a:r>
              <a:rPr sz="2900"/>
              <a:t>Body Level One</a:t>
            </a:r>
          </a:p>
          <a:p>
            <a:pPr lvl="1">
              <a:defRPr sz="1800"/>
            </a:pPr>
            <a:r>
              <a:rPr sz="2900"/>
              <a:t>Body Level Two</a:t>
            </a:r>
          </a:p>
          <a:p>
            <a:pPr lvl="2">
              <a:defRPr sz="1800"/>
            </a:pPr>
            <a:r>
              <a:rPr sz="2900"/>
              <a:t>Body Level Three</a:t>
            </a:r>
          </a:p>
          <a:p>
            <a:pPr lvl="3">
              <a:defRPr sz="1800"/>
            </a:pPr>
            <a:r>
              <a:rPr sz="2900"/>
              <a:t>Body Level Four</a:t>
            </a:r>
          </a:p>
          <a:p>
            <a:pPr lvl="4">
              <a:defRPr sz="1800"/>
            </a:pPr>
            <a:r>
              <a:rPr sz="2900"/>
              <a:t>Body Level Five</a:t>
            </a:r>
          </a:p>
        </p:txBody>
      </p:sp>
      <p:sp>
        <p:nvSpPr>
          <p:cNvPr id="145" name="Shape 145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/>
          <p:nvPr/>
        </p:nvSpPr>
        <p:spPr>
          <a:xfrm>
            <a:off x="0" y="1234439"/>
            <a:ext cx="9144000" cy="320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48" name="Shape 148"/>
          <p:cNvSpPr/>
          <p:nvPr/>
        </p:nvSpPr>
        <p:spPr>
          <a:xfrm>
            <a:off x="0" y="1280160"/>
            <a:ext cx="533400" cy="228601"/>
          </a:xfrm>
          <a:prstGeom prst="rect">
            <a:avLst/>
          </a:prstGeom>
          <a:solidFill>
            <a:srgbClr val="DD804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49" name="Shape 149"/>
          <p:cNvSpPr/>
          <p:nvPr/>
        </p:nvSpPr>
        <p:spPr>
          <a:xfrm>
            <a:off x="590550" y="1280160"/>
            <a:ext cx="8553450" cy="228601"/>
          </a:xfrm>
          <a:prstGeom prst="rect">
            <a:avLst/>
          </a:prstGeom>
          <a:solidFill>
            <a:srgbClr val="94B6D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b="1">
                <a:solidFill>
                  <a:srgbClr val="FFFFFF"/>
                </a:solidFill>
                <a:latin typeface="Tw Cen MT"/>
                <a:ea typeface="Tw Cen MT"/>
                <a:cs typeface="Tw Cen MT"/>
                <a:sym typeface="Tw Cen MT"/>
              </a:defRPr>
            </a:pPr>
            <a:endParaRPr/>
          </a:p>
        </p:txBody>
      </p:sp>
      <p:sp>
        <p:nvSpPr>
          <p:cNvPr id="150" name="Shape 150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82296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20040" indent="-320040">
              <a:buClr>
                <a:srgbClr val="DD8047"/>
              </a:buClr>
              <a:buSzPct val="60000"/>
              <a:buFont typeface="Wingdings"/>
              <a:buChar char="◻"/>
              <a:defRPr sz="2900">
                <a:latin typeface="Tw Cen MT"/>
                <a:ea typeface="Tw Cen MT"/>
                <a:cs typeface="Tw Cen MT"/>
                <a:sym typeface="Tw Cen MT"/>
              </a:defRPr>
            </a:lvl1pPr>
            <a:lvl2pPr marL="671732" indent="-305972">
              <a:buClr>
                <a:srgbClr val="DD8047"/>
              </a:buClr>
              <a:buSzPct val="70000"/>
              <a:buFont typeface="Wingdings"/>
              <a:buChar char=""/>
              <a:defRPr sz="2900">
                <a:latin typeface="Tw Cen MT"/>
                <a:ea typeface="Tw Cen MT"/>
                <a:cs typeface="Tw Cen MT"/>
                <a:sym typeface="Tw Cen MT"/>
              </a:defRPr>
            </a:lvl2pPr>
            <a:lvl3pPr marL="974034" indent="-288234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3pPr>
            <a:lvl4pPr marL="1474469" indent="-331469">
              <a:buClr>
                <a:srgbClr val="DD8047"/>
              </a:buClr>
              <a:buSzPct val="7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4pPr>
            <a:lvl5pPr marL="1931670" indent="-331470">
              <a:buClr>
                <a:srgbClr val="DD8047"/>
              </a:buClr>
              <a:buSzPct val="65000"/>
              <a:buFont typeface="Wingdings"/>
              <a:buChar char="■"/>
              <a:defRPr sz="2900">
                <a:latin typeface="Tw Cen MT"/>
                <a:ea typeface="Tw Cen MT"/>
                <a:cs typeface="Tw Cen MT"/>
                <a:sym typeface="Tw Cen MT"/>
              </a:defRPr>
            </a:lvl5pPr>
          </a:lstStyle>
          <a:p>
            <a:pPr lvl="0">
              <a:defRPr sz="1800"/>
            </a:pPr>
            <a:r>
              <a:rPr sz="2900"/>
              <a:t>Body Level One</a:t>
            </a:r>
          </a:p>
          <a:p>
            <a:pPr lvl="1">
              <a:defRPr sz="1800"/>
            </a:pPr>
            <a:r>
              <a:rPr sz="2900"/>
              <a:t>Body Level Two</a:t>
            </a:r>
          </a:p>
          <a:p>
            <a:pPr lvl="2">
              <a:defRPr sz="1800"/>
            </a:pPr>
            <a:r>
              <a:rPr sz="2900"/>
              <a:t>Body Level Three</a:t>
            </a:r>
          </a:p>
          <a:p>
            <a:pPr lvl="3">
              <a:defRPr sz="1800"/>
            </a:pPr>
            <a:r>
              <a:rPr sz="2900"/>
              <a:t>Body Level Four</a:t>
            </a:r>
          </a:p>
          <a:p>
            <a:pPr lvl="4">
              <a:defRPr sz="1800"/>
            </a:pPr>
            <a:r>
              <a:rPr sz="2900"/>
              <a:t>Body Level Five</a:t>
            </a:r>
          </a:p>
        </p:txBody>
      </p:sp>
      <p:sp>
        <p:nvSpPr>
          <p:cNvPr id="151" name="Shape 151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>
            <a:spLocks noGrp="1"/>
          </p:cNvSpPr>
          <p:nvPr>
            <p:ph type="title"/>
          </p:nvPr>
        </p:nvSpPr>
        <p:spPr>
          <a:xfrm>
            <a:off x="457200" y="92076"/>
            <a:ext cx="8229600" cy="15081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457200"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4000"/>
              <a:t>Title Text</a:t>
            </a:r>
          </a:p>
        </p:txBody>
      </p:sp>
      <p:sp>
        <p:nvSpPr>
          <p:cNvPr id="154" name="Shape 15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457200">
              <a:spcBef>
                <a:spcPts val="400"/>
              </a:spcBef>
              <a:buFont typeface="Arial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774700" indent="-317500" defTabSz="457200">
              <a:spcBef>
                <a:spcPts val="400"/>
              </a:spcBef>
              <a:buFont typeface="Arial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marL="1200150" indent="-285750" defTabSz="457200">
              <a:spcBef>
                <a:spcPts val="400"/>
              </a:spcBef>
              <a:buFont typeface="Arial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marL="1657350" indent="-285750" defTabSz="457200">
              <a:spcBef>
                <a:spcPts val="400"/>
              </a:spcBef>
              <a:buFont typeface="Arial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marL="2114550" indent="-285750" defTabSz="457200">
              <a:spcBef>
                <a:spcPts val="400"/>
              </a:spcBef>
              <a:buFont typeface="Arial"/>
              <a:defRPr sz="20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  <p:sp>
        <p:nvSpPr>
          <p:cNvPr id="155" name="Shape 155"/>
          <p:cNvSpPr>
            <a:spLocks noGrp="1"/>
          </p:cNvSpPr>
          <p:nvPr>
            <p:ph type="sldNum" sz="quarter" idx="2"/>
          </p:nvPr>
        </p:nvSpPr>
        <p:spPr>
          <a:xfrm>
            <a:off x="6553200" y="6406785"/>
            <a:ext cx="2133600" cy="264255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spcBef>
                <a:spcPts val="0"/>
              </a:spcBef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5093" y="0"/>
            <a:ext cx="9133814" cy="808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00090"/>
                </a:solidFill>
              </a:rP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/>
          <a:lstStyle>
            <a:lvl2pPr marL="701842" indent="-320842">
              <a:buChar char="•"/>
              <a:defRPr sz="2600"/>
            </a:lvl2pPr>
            <a:lvl3pPr>
              <a:defRPr sz="2000"/>
            </a:lvl3pPr>
            <a:lvl4pPr marL="1463842" indent="-320842">
              <a:buChar char="•"/>
              <a:defRPr sz="2000"/>
            </a:lvl4pPr>
            <a:lvl5pPr marL="1844842" indent="-320842">
              <a:buChar char="•"/>
              <a:defRPr sz="2000"/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26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305196" y="6221730"/>
            <a:ext cx="381605" cy="26924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spcBef>
                <a:spcPts val="700"/>
              </a:spcBef>
              <a:defRPr sz="1200"/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transition spd="med"/>
  <p:hf hdr="0" ftr="0" dt="0"/>
  <p:txStyles>
    <p:titleStyle>
      <a:lvl1pPr algn="ctr">
        <a:defRPr sz="3600">
          <a:solidFill>
            <a:srgbClr val="000090"/>
          </a:solidFill>
          <a:latin typeface="Cambria"/>
          <a:ea typeface="Cambria"/>
          <a:cs typeface="Cambria"/>
          <a:sym typeface="Cambria"/>
        </a:defRPr>
      </a:lvl1pPr>
      <a:lvl2pPr algn="ctr">
        <a:defRPr sz="3600">
          <a:solidFill>
            <a:srgbClr val="000090"/>
          </a:solidFill>
          <a:latin typeface="Cambria"/>
          <a:ea typeface="Cambria"/>
          <a:cs typeface="Cambria"/>
          <a:sym typeface="Cambria"/>
        </a:defRPr>
      </a:lvl2pPr>
      <a:lvl3pPr algn="ctr">
        <a:defRPr sz="3600">
          <a:solidFill>
            <a:srgbClr val="000090"/>
          </a:solidFill>
          <a:latin typeface="Cambria"/>
          <a:ea typeface="Cambria"/>
          <a:cs typeface="Cambria"/>
          <a:sym typeface="Cambria"/>
        </a:defRPr>
      </a:lvl3pPr>
      <a:lvl4pPr algn="ctr">
        <a:defRPr sz="3600">
          <a:solidFill>
            <a:srgbClr val="000090"/>
          </a:solidFill>
          <a:latin typeface="Cambria"/>
          <a:ea typeface="Cambria"/>
          <a:cs typeface="Cambria"/>
          <a:sym typeface="Cambria"/>
        </a:defRPr>
      </a:lvl4pPr>
      <a:lvl5pPr algn="ctr">
        <a:defRPr sz="3600">
          <a:solidFill>
            <a:srgbClr val="000090"/>
          </a:solidFill>
          <a:latin typeface="Cambria"/>
          <a:ea typeface="Cambria"/>
          <a:cs typeface="Cambria"/>
          <a:sym typeface="Cambria"/>
        </a:defRPr>
      </a:lvl5pPr>
      <a:lvl6pPr indent="457200" algn="ctr">
        <a:defRPr sz="3600">
          <a:solidFill>
            <a:srgbClr val="000090"/>
          </a:solidFill>
          <a:latin typeface="Cambria"/>
          <a:ea typeface="Cambria"/>
          <a:cs typeface="Cambria"/>
          <a:sym typeface="Cambria"/>
        </a:defRPr>
      </a:lvl6pPr>
      <a:lvl7pPr indent="914400" algn="ctr">
        <a:defRPr sz="3600">
          <a:solidFill>
            <a:srgbClr val="000090"/>
          </a:solidFill>
          <a:latin typeface="Cambria"/>
          <a:ea typeface="Cambria"/>
          <a:cs typeface="Cambria"/>
          <a:sym typeface="Cambria"/>
        </a:defRPr>
      </a:lvl7pPr>
      <a:lvl8pPr indent="1371600" algn="ctr">
        <a:defRPr sz="3600">
          <a:solidFill>
            <a:srgbClr val="000090"/>
          </a:solidFill>
          <a:latin typeface="Cambria"/>
          <a:ea typeface="Cambria"/>
          <a:cs typeface="Cambria"/>
          <a:sym typeface="Cambria"/>
        </a:defRPr>
      </a:lvl8pPr>
      <a:lvl9pPr indent="1828800" algn="ctr">
        <a:defRPr sz="3600">
          <a:solidFill>
            <a:srgbClr val="000090"/>
          </a:solidFill>
          <a:latin typeface="Cambria"/>
          <a:ea typeface="Cambria"/>
          <a:cs typeface="Cambria"/>
          <a:sym typeface="Cambria"/>
        </a:defRPr>
      </a:lvl9pPr>
    </p:titleStyle>
    <p:bodyStyle>
      <a:lvl1pPr marL="342900" indent="-342900">
        <a:spcBef>
          <a:spcPts val="700"/>
        </a:spcBef>
        <a:buSzPct val="100000"/>
        <a:buChar char="•"/>
        <a:defRPr sz="3200">
          <a:latin typeface="Cambria"/>
          <a:ea typeface="Cambria"/>
          <a:cs typeface="Cambria"/>
          <a:sym typeface="Cambria"/>
        </a:defRPr>
      </a:lvl1pPr>
      <a:lvl2pPr marL="783771" indent="-326571">
        <a:spcBef>
          <a:spcPts val="700"/>
        </a:spcBef>
        <a:buSzPct val="100000"/>
        <a:buChar char="–"/>
        <a:defRPr sz="3200">
          <a:latin typeface="Cambria"/>
          <a:ea typeface="Cambria"/>
          <a:cs typeface="Cambria"/>
          <a:sym typeface="Cambria"/>
        </a:defRPr>
      </a:lvl2pPr>
      <a:lvl3pPr marL="1219200" indent="-304800">
        <a:spcBef>
          <a:spcPts val="700"/>
        </a:spcBef>
        <a:buSzPct val="100000"/>
        <a:buChar char="•"/>
        <a:defRPr sz="3200">
          <a:latin typeface="Cambria"/>
          <a:ea typeface="Cambria"/>
          <a:cs typeface="Cambria"/>
          <a:sym typeface="Cambria"/>
        </a:defRPr>
      </a:lvl3pPr>
      <a:lvl4pPr marL="1737360" indent="-365760">
        <a:spcBef>
          <a:spcPts val="700"/>
        </a:spcBef>
        <a:buSzPct val="100000"/>
        <a:buChar char="–"/>
        <a:defRPr sz="3200">
          <a:latin typeface="Cambria"/>
          <a:ea typeface="Cambria"/>
          <a:cs typeface="Cambria"/>
          <a:sym typeface="Cambria"/>
        </a:defRPr>
      </a:lvl4pPr>
      <a:lvl5pPr marL="2194560" indent="-365760">
        <a:spcBef>
          <a:spcPts val="700"/>
        </a:spcBef>
        <a:buSzPct val="100000"/>
        <a:buChar char="»"/>
        <a:defRPr sz="3200">
          <a:latin typeface="Cambria"/>
          <a:ea typeface="Cambria"/>
          <a:cs typeface="Cambria"/>
          <a:sym typeface="Cambria"/>
        </a:defRPr>
      </a:lvl5pPr>
      <a:lvl6pPr marL="2651760" indent="-365760">
        <a:spcBef>
          <a:spcPts val="700"/>
        </a:spcBef>
        <a:buSzPct val="100000"/>
        <a:buChar char="»"/>
        <a:defRPr sz="3200">
          <a:latin typeface="Cambria"/>
          <a:ea typeface="Cambria"/>
          <a:cs typeface="Cambria"/>
          <a:sym typeface="Cambria"/>
        </a:defRPr>
      </a:lvl6pPr>
      <a:lvl7pPr marL="3108960" indent="-365760">
        <a:spcBef>
          <a:spcPts val="700"/>
        </a:spcBef>
        <a:buSzPct val="100000"/>
        <a:buChar char="»"/>
        <a:defRPr sz="3200">
          <a:latin typeface="Cambria"/>
          <a:ea typeface="Cambria"/>
          <a:cs typeface="Cambria"/>
          <a:sym typeface="Cambria"/>
        </a:defRPr>
      </a:lvl7pPr>
      <a:lvl8pPr marL="3566159" indent="-365759">
        <a:spcBef>
          <a:spcPts val="700"/>
        </a:spcBef>
        <a:buSzPct val="100000"/>
        <a:buChar char="»"/>
        <a:defRPr sz="3200">
          <a:latin typeface="Cambria"/>
          <a:ea typeface="Cambria"/>
          <a:cs typeface="Cambria"/>
          <a:sym typeface="Cambria"/>
        </a:defRPr>
      </a:lvl8pPr>
      <a:lvl9pPr marL="4023359" indent="-365759">
        <a:spcBef>
          <a:spcPts val="700"/>
        </a:spcBef>
        <a:buSzPct val="100000"/>
        <a:buChar char="»"/>
        <a:defRPr sz="3200">
          <a:latin typeface="Cambria"/>
          <a:ea typeface="Cambria"/>
          <a:cs typeface="Cambria"/>
          <a:sym typeface="Cambria"/>
        </a:defRPr>
      </a:lvl9pPr>
    </p:bodyStyle>
    <p:otherStyle>
      <a:lvl1pPr algn="r">
        <a:spcBef>
          <a:spcPts val="700"/>
        </a:spcBef>
        <a:defRPr sz="1200">
          <a:solidFill>
            <a:schemeClr val="tx1"/>
          </a:solidFill>
          <a:latin typeface="+mn-lt"/>
          <a:ea typeface="+mn-ea"/>
          <a:cs typeface="+mn-cs"/>
          <a:sym typeface="Cambria"/>
        </a:defRPr>
      </a:lvl1pPr>
      <a:lvl2pPr indent="457200" algn="r">
        <a:spcBef>
          <a:spcPts val="700"/>
        </a:spcBef>
        <a:defRPr sz="1200">
          <a:solidFill>
            <a:schemeClr val="tx1"/>
          </a:solidFill>
          <a:latin typeface="+mn-lt"/>
          <a:ea typeface="+mn-ea"/>
          <a:cs typeface="+mn-cs"/>
          <a:sym typeface="Cambria"/>
        </a:defRPr>
      </a:lvl2pPr>
      <a:lvl3pPr indent="914400" algn="r">
        <a:spcBef>
          <a:spcPts val="700"/>
        </a:spcBef>
        <a:defRPr sz="1200">
          <a:solidFill>
            <a:schemeClr val="tx1"/>
          </a:solidFill>
          <a:latin typeface="+mn-lt"/>
          <a:ea typeface="+mn-ea"/>
          <a:cs typeface="+mn-cs"/>
          <a:sym typeface="Cambria"/>
        </a:defRPr>
      </a:lvl3pPr>
      <a:lvl4pPr indent="1371600" algn="r">
        <a:spcBef>
          <a:spcPts val="700"/>
        </a:spcBef>
        <a:defRPr sz="1200">
          <a:solidFill>
            <a:schemeClr val="tx1"/>
          </a:solidFill>
          <a:latin typeface="+mn-lt"/>
          <a:ea typeface="+mn-ea"/>
          <a:cs typeface="+mn-cs"/>
          <a:sym typeface="Cambria"/>
        </a:defRPr>
      </a:lvl4pPr>
      <a:lvl5pPr indent="1828800" algn="r">
        <a:spcBef>
          <a:spcPts val="700"/>
        </a:spcBef>
        <a:defRPr sz="1200">
          <a:solidFill>
            <a:schemeClr val="tx1"/>
          </a:solidFill>
          <a:latin typeface="+mn-lt"/>
          <a:ea typeface="+mn-ea"/>
          <a:cs typeface="+mn-cs"/>
          <a:sym typeface="Cambria"/>
        </a:defRPr>
      </a:lvl5pPr>
      <a:lvl6pPr indent="2286000" algn="r">
        <a:spcBef>
          <a:spcPts val="700"/>
        </a:spcBef>
        <a:defRPr sz="1200">
          <a:solidFill>
            <a:schemeClr val="tx1"/>
          </a:solidFill>
          <a:latin typeface="+mn-lt"/>
          <a:ea typeface="+mn-ea"/>
          <a:cs typeface="+mn-cs"/>
          <a:sym typeface="Cambria"/>
        </a:defRPr>
      </a:lvl6pPr>
      <a:lvl7pPr indent="2743200" algn="r">
        <a:spcBef>
          <a:spcPts val="700"/>
        </a:spcBef>
        <a:defRPr sz="1200">
          <a:solidFill>
            <a:schemeClr val="tx1"/>
          </a:solidFill>
          <a:latin typeface="+mn-lt"/>
          <a:ea typeface="+mn-ea"/>
          <a:cs typeface="+mn-cs"/>
          <a:sym typeface="Cambria"/>
        </a:defRPr>
      </a:lvl7pPr>
      <a:lvl8pPr indent="3200400" algn="r">
        <a:spcBef>
          <a:spcPts val="700"/>
        </a:spcBef>
        <a:defRPr sz="1200">
          <a:solidFill>
            <a:schemeClr val="tx1"/>
          </a:solidFill>
          <a:latin typeface="+mn-lt"/>
          <a:ea typeface="+mn-ea"/>
          <a:cs typeface="+mn-cs"/>
          <a:sym typeface="Cambria"/>
        </a:defRPr>
      </a:lvl8pPr>
      <a:lvl9pPr indent="3657600" algn="r">
        <a:spcBef>
          <a:spcPts val="700"/>
        </a:spcBef>
        <a:defRPr sz="1200">
          <a:solidFill>
            <a:schemeClr val="tx1"/>
          </a:solidFill>
          <a:latin typeface="+mn-lt"/>
          <a:ea typeface="+mn-ea"/>
          <a:cs typeface="+mn-cs"/>
          <a:sym typeface="Cambri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fil.ion.ucl.ac.uk/spm/docs/installa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jpeg"/><Relationship Id="rId9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gi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B"/>
            </a:gs>
            <a:gs pos="35000">
              <a:srgbClr val="FFFFFC"/>
            </a:gs>
            <a:gs pos="100000">
              <a:srgbClr val="FFFFFE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400" b="1">
                <a:solidFill>
                  <a:srgbClr val="000090"/>
                </a:solidFill>
              </a:rPr>
              <a:t>Functional Neuroimaging</a:t>
            </a:r>
          </a:p>
        </p:txBody>
      </p:sp>
      <p:sp>
        <p:nvSpPr>
          <p:cNvPr id="160" name="Shape 16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en-US" sz="3200" dirty="0"/>
              <a:t>NEUROSCI 382 / PSY 303</a:t>
            </a:r>
          </a:p>
          <a:p>
            <a:pPr lvl="0">
              <a:defRPr sz="1800"/>
            </a:pPr>
            <a:r>
              <a:rPr sz="3200" dirty="0"/>
              <a:t>T</a:t>
            </a:r>
            <a:r>
              <a:rPr lang="en-US" sz="3200" dirty="0"/>
              <a:t>hur</a:t>
            </a:r>
            <a:r>
              <a:rPr sz="3200" dirty="0"/>
              <a:t>sday, </a:t>
            </a:r>
            <a:r>
              <a:rPr lang="en-US" sz="3200" dirty="0"/>
              <a:t>Aug</a:t>
            </a:r>
            <a:r>
              <a:rPr sz="3200" dirty="0"/>
              <a:t> </a:t>
            </a:r>
            <a:r>
              <a:rPr lang="en-US" sz="3200" dirty="0"/>
              <a:t>25</a:t>
            </a:r>
            <a:r>
              <a:rPr sz="3200" dirty="0"/>
              <a:t>, 20</a:t>
            </a:r>
            <a:r>
              <a:rPr lang="en-US" sz="3200" dirty="0"/>
              <a:t>26</a:t>
            </a:r>
            <a:endParaRPr sz="3200" dirty="0"/>
          </a:p>
          <a:p>
            <a:pPr lvl="0">
              <a:defRPr sz="1800"/>
            </a:pPr>
            <a:r>
              <a:rPr sz="3200" dirty="0"/>
              <a:t>Week </a:t>
            </a:r>
            <a:r>
              <a:rPr lang="en-US" sz="3200" dirty="0"/>
              <a:t>1</a:t>
            </a:r>
            <a:endParaRPr sz="3200" dirty="0"/>
          </a:p>
          <a:p>
            <a:pPr lvl="0">
              <a:defRPr sz="1800"/>
            </a:pPr>
            <a:r>
              <a:rPr lang="en-US" sz="3200" dirty="0"/>
              <a:t>Introduction and </a:t>
            </a:r>
            <a:r>
              <a:rPr sz="3200" dirty="0"/>
              <a:t>Chapters 1 &amp; 2</a:t>
            </a:r>
          </a:p>
        </p:txBody>
      </p:sp>
      <p:sp>
        <p:nvSpPr>
          <p:cNvPr id="161" name="Shape 16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1</a:t>
            </a:fld>
            <a:endParaRPr sz="120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Perkins LINK 088, Classroom 4</a:t>
            </a:r>
          </a:p>
          <a:p>
            <a:r>
              <a:rPr lang="en-US" dirty="0"/>
              <a:t>Thursdays 3:05 – 5:45 PM</a:t>
            </a:r>
          </a:p>
          <a:p>
            <a:pPr lvl="1"/>
            <a:r>
              <a:rPr lang="en-US" dirty="0"/>
              <a:t>2 consecutive periods with ~10 min break</a:t>
            </a:r>
          </a:p>
          <a:p>
            <a:pPr lvl="1"/>
            <a:r>
              <a:rPr lang="en-US" dirty="0"/>
              <a:t>2 parts:</a:t>
            </a:r>
          </a:p>
          <a:p>
            <a:pPr lvl="2"/>
            <a:r>
              <a:rPr lang="en-US" dirty="0"/>
              <a:t>lecture (reading assignments)</a:t>
            </a:r>
          </a:p>
          <a:p>
            <a:pPr lvl="2"/>
            <a:r>
              <a:rPr lang="en-US" dirty="0"/>
              <a:t>lab (hands-on data analysis)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294671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half of the semester:</a:t>
            </a:r>
          </a:p>
          <a:p>
            <a:pPr lvl="1"/>
            <a:r>
              <a:rPr lang="en-US" dirty="0"/>
              <a:t>physics of MRI and fMRI</a:t>
            </a:r>
          </a:p>
          <a:p>
            <a:pPr lvl="1"/>
            <a:r>
              <a:rPr lang="en-US" dirty="0"/>
              <a:t>physiological basis of the BOLD signal</a:t>
            </a:r>
          </a:p>
          <a:p>
            <a:r>
              <a:rPr lang="en-US" dirty="0"/>
              <a:t>Midterm I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half of the semester:</a:t>
            </a:r>
          </a:p>
          <a:p>
            <a:pPr lvl="1"/>
            <a:r>
              <a:rPr lang="en-US" dirty="0"/>
              <a:t>study design</a:t>
            </a:r>
          </a:p>
          <a:p>
            <a:pPr lvl="1"/>
            <a:r>
              <a:rPr lang="en-US" dirty="0"/>
              <a:t>data analysis</a:t>
            </a:r>
          </a:p>
          <a:p>
            <a:pPr lvl="1"/>
            <a:r>
              <a:rPr lang="en-US" dirty="0"/>
              <a:t>clinical applications</a:t>
            </a:r>
          </a:p>
          <a:p>
            <a:r>
              <a:rPr lang="en-US" dirty="0"/>
              <a:t>Midterm 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104604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projects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~4 students</a:t>
            </a:r>
          </a:p>
          <a:p>
            <a:pPr lvl="1"/>
            <a:r>
              <a:rPr lang="en-US" dirty="0"/>
              <a:t>design your own research study</a:t>
            </a:r>
          </a:p>
          <a:p>
            <a:pPr lvl="1"/>
            <a:r>
              <a:rPr lang="en-US" dirty="0"/>
              <a:t>program experimental design</a:t>
            </a:r>
          </a:p>
          <a:p>
            <a:pPr lvl="1"/>
            <a:r>
              <a:rPr lang="en-US" dirty="0"/>
              <a:t>run study (two 2-hour scanning sessions, i.e. 2 participants)</a:t>
            </a:r>
          </a:p>
          <a:p>
            <a:pPr lvl="2"/>
            <a:r>
              <a:rPr lang="en-US" dirty="0"/>
              <a:t>normally $640/hour!</a:t>
            </a:r>
          </a:p>
          <a:p>
            <a:pPr lvl="1"/>
            <a:r>
              <a:rPr lang="en-US" dirty="0"/>
              <a:t>analyze data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Project presentation &amp; Results presentation (10-15 </a:t>
            </a:r>
            <a:r>
              <a:rPr lang="en-US" dirty="0" err="1"/>
              <a:t>mins</a:t>
            </a:r>
            <a:r>
              <a:rPr lang="en-US" dirty="0"/>
              <a:t> each)</a:t>
            </a:r>
          </a:p>
          <a:p>
            <a:pPr lvl="1"/>
            <a:r>
              <a:rPr lang="en-US" dirty="0"/>
              <a:t>Write-up (~3000 words)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0786405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9768E-0E14-4B86-2B84-191DF2E7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class is on Canvas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167BD-51BF-EB16-7AE1-DFD05FD78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600200"/>
            <a:ext cx="7485961" cy="5257800"/>
          </a:xfrm>
        </p:spPr>
        <p:txBody>
          <a:bodyPr/>
          <a:lstStyle/>
          <a:p>
            <a:r>
              <a:rPr lang="en-US" sz="2400" dirty="0"/>
              <a:t>Read the syllabus!</a:t>
            </a:r>
          </a:p>
          <a:p>
            <a:endParaRPr lang="en-US" sz="2400" dirty="0"/>
          </a:p>
          <a:p>
            <a:r>
              <a:rPr lang="en-US" sz="2400" dirty="0"/>
              <a:t>Lab materials posted in Files</a:t>
            </a:r>
          </a:p>
          <a:p>
            <a:endParaRPr lang="en-US" sz="2400" dirty="0"/>
          </a:p>
          <a:p>
            <a:r>
              <a:rPr lang="en-US" sz="2400" dirty="0"/>
              <a:t>Lecture PDF posted after class in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249F3-96C8-F38C-A6FF-37EC798A5CA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011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848" y="670518"/>
            <a:ext cx="4784304" cy="619087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0772243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assignments typically for lecture part</a:t>
            </a:r>
          </a:p>
          <a:p>
            <a:pPr lvl="1"/>
            <a:r>
              <a:rPr lang="en-US" dirty="0"/>
              <a:t>they can be long and dense – plan your time wisely</a:t>
            </a:r>
          </a:p>
          <a:p>
            <a:pPr lvl="1"/>
            <a:r>
              <a:rPr lang="en-US" dirty="0"/>
              <a:t>get together with a study partner!!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073002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57C1-295D-CBAA-B5A7-3E05AEC15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electronic devices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7F1C9-B723-B653-CAE5-E5B939FD3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‘no tech’ classroom</a:t>
            </a:r>
          </a:p>
          <a:p>
            <a:pPr lvl="1"/>
            <a:r>
              <a:rPr lang="en-US" dirty="0"/>
              <a:t>no electronic devices (laptops, iPads, phones, etc.) are allowed during lectures</a:t>
            </a:r>
          </a:p>
          <a:p>
            <a:pPr lvl="2"/>
            <a:r>
              <a:rPr lang="en-US" dirty="0"/>
              <a:t>this helps you and your fellow students</a:t>
            </a:r>
          </a:p>
          <a:p>
            <a:pPr lvl="1"/>
            <a:r>
              <a:rPr lang="en-US" dirty="0"/>
              <a:t>if you need to use a laptop etc. for note taking, or use an electronic device for another reason, please get in touch with me so we can discuss this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12400-C6AE-8233-E69C-EB005D6D190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7224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96143"/>
            <a:ext cx="8569842" cy="4484914"/>
          </a:xfrm>
        </p:spPr>
        <p:txBody>
          <a:bodyPr/>
          <a:lstStyle/>
          <a:p>
            <a:pPr marL="0" lvl="1" indent="0">
              <a:buNone/>
            </a:pPr>
            <a:r>
              <a:rPr lang="en-US" sz="3200" dirty="0"/>
              <a:t>By next class, download:</a:t>
            </a:r>
          </a:p>
          <a:p>
            <a:pPr marL="342900" lvl="1" indent="-342900"/>
            <a:r>
              <a:rPr lang="en-US" sz="3200" dirty="0"/>
              <a:t>via Duke OIT software:</a:t>
            </a:r>
          </a:p>
          <a:p>
            <a:pPr lvl="1"/>
            <a:r>
              <a:rPr lang="en-US" dirty="0" err="1"/>
              <a:t>Matlab</a:t>
            </a:r>
            <a:r>
              <a:rPr lang="en-US" dirty="0"/>
              <a:t> (2026</a:t>
            </a:r>
            <a:r>
              <a:rPr lang="en-US" b="1" u="sng" dirty="0"/>
              <a:t>b</a:t>
            </a:r>
            <a:r>
              <a:rPr lang="en-US" dirty="0"/>
              <a:t>, or earlier)</a:t>
            </a:r>
          </a:p>
          <a:p>
            <a:pPr lvl="2"/>
            <a:r>
              <a:rPr lang="en-US" dirty="0"/>
              <a:t>No toolboxes necessary!</a:t>
            </a:r>
          </a:p>
          <a:p>
            <a:endParaRPr lang="en-US" sz="2000" dirty="0"/>
          </a:p>
          <a:p>
            <a:pPr marL="342900" lvl="1" indent="-342900"/>
            <a:r>
              <a:rPr lang="en-US" sz="3200" dirty="0"/>
              <a:t>via the internet:</a:t>
            </a:r>
          </a:p>
          <a:p>
            <a:pPr marL="860258" lvl="2" indent="-342900"/>
            <a:r>
              <a:rPr lang="en-US" sz="2600" dirty="0"/>
              <a:t>Statistical Parametric Mapping (SPM): </a:t>
            </a:r>
          </a:p>
          <a:p>
            <a:pPr marL="1104900" lvl="3" indent="-342900"/>
            <a:r>
              <a:rPr lang="en-US" sz="1800" dirty="0">
                <a:hlinkClick r:id="rId2"/>
              </a:rPr>
              <a:t>https://www.fil.ion.ucl.ac.uk/spm/docs/installation/</a:t>
            </a:r>
            <a:endParaRPr lang="en-US" sz="1800" dirty="0"/>
          </a:p>
          <a:p>
            <a:pPr marL="1104900" lvl="3" indent="-342900"/>
            <a:r>
              <a:rPr lang="en-US" sz="1800" dirty="0"/>
              <a:t>Latest version is SPM25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uk-UA" smtClean="0"/>
              <a:t>9</a:t>
            </a:fld>
            <a:endParaRPr lang="uk-U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858" y="2650829"/>
            <a:ext cx="1460973" cy="12783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987" y="4496903"/>
            <a:ext cx="1433857" cy="14338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94830" y="909167"/>
            <a:ext cx="4154340" cy="58990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mbria"/>
                <a:ea typeface="Cambria"/>
                <a:cs typeface="Cambria"/>
                <a:sym typeface="Wingdings"/>
              </a:rPr>
              <a:t> bring your laptop to class!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294601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30% Midterm I</a:t>
            </a:r>
          </a:p>
          <a:p>
            <a:r>
              <a:rPr lang="en-US" dirty="0"/>
              <a:t>30% Midterm II</a:t>
            </a:r>
          </a:p>
          <a:p>
            <a:r>
              <a:rPr lang="en-US" dirty="0"/>
              <a:t>30% Project</a:t>
            </a:r>
          </a:p>
          <a:p>
            <a:r>
              <a:rPr lang="en-US" dirty="0"/>
              <a:t>10% Labs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370191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5400" dirty="0"/>
          </a:p>
          <a:p>
            <a:pPr marL="0" indent="0" algn="ctr">
              <a:buNone/>
            </a:pPr>
            <a:r>
              <a:rPr lang="en-US" sz="5400" dirty="0"/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196485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/>
          </p:cNvSpPr>
          <p:nvPr>
            <p:ph type="title"/>
          </p:nvPr>
        </p:nvSpPr>
        <p:spPr>
          <a:xfrm>
            <a:off x="5093" y="0"/>
            <a:ext cx="9133814" cy="890852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000090"/>
                </a:solidFill>
              </a:rPr>
              <a:t>1. What is fMRI?</a:t>
            </a:r>
          </a:p>
        </p:txBody>
      </p:sp>
      <p:grpSp>
        <p:nvGrpSpPr>
          <p:cNvPr id="168" name="Group 168"/>
          <p:cNvGrpSpPr/>
          <p:nvPr/>
        </p:nvGrpSpPr>
        <p:grpSpPr>
          <a:xfrm>
            <a:off x="962721" y="122151"/>
            <a:ext cx="5918331" cy="1907944"/>
            <a:chOff x="0" y="0"/>
            <a:chExt cx="5918330" cy="1907943"/>
          </a:xfrm>
        </p:grpSpPr>
        <p:sp>
          <p:nvSpPr>
            <p:cNvPr id="164" name="Shape 164"/>
            <p:cNvSpPr/>
            <p:nvPr/>
          </p:nvSpPr>
          <p:spPr>
            <a:xfrm flipV="1">
              <a:off x="1300227" y="15772"/>
              <a:ext cx="4618104" cy="615004"/>
            </a:xfrm>
            <a:prstGeom prst="line">
              <a:avLst/>
            </a:prstGeom>
            <a:noFill/>
            <a:ln w="28575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457200">
                <a:spcBef>
                  <a:spcPts val="0"/>
                </a:spcBef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65" name="Shape 165"/>
            <p:cNvSpPr/>
            <p:nvPr/>
          </p:nvSpPr>
          <p:spPr>
            <a:xfrm>
              <a:off x="1316307" y="0"/>
              <a:ext cx="4585944" cy="646548"/>
            </a:xfrm>
            <a:prstGeom prst="line">
              <a:avLst/>
            </a:prstGeom>
            <a:noFill/>
            <a:ln w="28575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lvl="0" algn="l" defTabSz="457200">
                <a:spcBef>
                  <a:spcPts val="0"/>
                </a:spcBef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66" name="Shape 166"/>
            <p:cNvSpPr/>
            <p:nvPr/>
          </p:nvSpPr>
          <p:spPr>
            <a:xfrm>
              <a:off x="1354217" y="1156103"/>
              <a:ext cx="4535524" cy="751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lvl="0"/>
              <a:r>
                <a:rPr sz="4400"/>
                <a:t>What fMRI is </a:t>
              </a:r>
              <a:r>
                <a:rPr sz="4400" u="sng"/>
                <a:t>NOT</a:t>
              </a:r>
              <a:r>
                <a:rPr sz="4400"/>
                <a:t>!</a:t>
              </a:r>
            </a:p>
          </p:txBody>
        </p:sp>
        <p:sp>
          <p:nvSpPr>
            <p:cNvPr id="167" name="Shape 167"/>
            <p:cNvSpPr/>
            <p:nvPr/>
          </p:nvSpPr>
          <p:spPr>
            <a:xfrm>
              <a:off x="0" y="1343276"/>
              <a:ext cx="1269587" cy="428295"/>
            </a:xfrm>
            <a:prstGeom prst="rightArrow">
              <a:avLst>
                <a:gd name="adj1" fmla="val 32000"/>
                <a:gd name="adj2" fmla="val 102636"/>
              </a:avLst>
            </a:prstGeom>
            <a:solidFill>
              <a:srgbClr val="000000"/>
            </a:solidFill>
            <a:ln w="25400" cap="flat">
              <a:solidFill>
                <a:srgbClr val="FFFFF7"/>
              </a:solidFill>
              <a:prstDash val="solid"/>
              <a:bevel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defRPr>
                  <a:latin typeface="Trebuchet MS Bold"/>
                  <a:ea typeface="Trebuchet MS Bold"/>
                  <a:cs typeface="Trebuchet MS Bold"/>
                  <a:sym typeface="Trebuchet MS Bold"/>
                </a:defRPr>
              </a:pPr>
              <a:endParaRPr/>
            </a:p>
          </p:txBody>
        </p:sp>
      </p:grpSp>
      <p:sp>
        <p:nvSpPr>
          <p:cNvPr id="169" name="Shape 16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12</a:t>
            </a:fld>
            <a:endParaRPr sz="12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1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 dirty="0">
                <a:solidFill>
                  <a:srgbClr val="000090"/>
                </a:solidFill>
              </a:rPr>
              <a:t>fMRI is </a:t>
            </a:r>
            <a:r>
              <a:rPr sz="4000" u="sng" dirty="0">
                <a:solidFill>
                  <a:srgbClr val="000090"/>
                </a:solidFill>
              </a:rPr>
              <a:t>not bumpology</a:t>
            </a:r>
          </a:p>
        </p:txBody>
      </p:sp>
      <p:sp>
        <p:nvSpPr>
          <p:cNvPr id="172" name="Shape 172"/>
          <p:cNvSpPr>
            <a:spLocks noGrp="1"/>
          </p:cNvSpPr>
          <p:nvPr>
            <p:ph type="body" idx="1"/>
          </p:nvPr>
        </p:nvSpPr>
        <p:spPr>
          <a:xfrm>
            <a:off x="4409975" y="1600200"/>
            <a:ext cx="4538225" cy="4548238"/>
          </a:xfrm>
          <a:prstGeom prst="rect">
            <a:avLst/>
          </a:prstGeom>
        </p:spPr>
        <p:txBody>
          <a:bodyPr/>
          <a:lstStyle/>
          <a:p>
            <a:pPr marL="214312" lvl="0" indent="-214312">
              <a:lnSpc>
                <a:spcPct val="90000"/>
              </a:lnSpc>
              <a:defRPr sz="1800"/>
            </a:pPr>
            <a:r>
              <a:rPr sz="2000" u="sng" dirty="0"/>
              <a:t>Phrenology</a:t>
            </a:r>
            <a:r>
              <a:rPr sz="2000" dirty="0"/>
              <a:t> (“Study of mental science”) claimed that bumps on the skull reflected exaggerated functions/traits</a:t>
            </a:r>
          </a:p>
          <a:p>
            <a:pPr lvl="0">
              <a:lnSpc>
                <a:spcPct val="90000"/>
              </a:lnSpc>
              <a:defRPr sz="1800"/>
            </a:pPr>
            <a:endParaRPr sz="2000" dirty="0"/>
          </a:p>
          <a:p>
            <a:pPr marL="214312" lvl="0" indent="-214312">
              <a:lnSpc>
                <a:spcPct val="90000"/>
              </a:lnSpc>
              <a:defRPr sz="1800"/>
            </a:pPr>
            <a:r>
              <a:rPr sz="2000" dirty="0"/>
              <a:t>it lacked any </a:t>
            </a:r>
            <a:r>
              <a:rPr sz="2000" i="1" dirty="0"/>
              <a:t>mechanism</a:t>
            </a:r>
            <a:r>
              <a:rPr sz="2000" i="1" dirty="0">
                <a:latin typeface="Tw Cen MT"/>
                <a:ea typeface="Tw Cen MT"/>
                <a:cs typeface="Tw Cen MT"/>
                <a:sym typeface="Tw Cen MT"/>
              </a:rPr>
              <a:t> </a:t>
            </a:r>
            <a:r>
              <a:rPr sz="2000" dirty="0"/>
              <a:t>underlying its claims</a:t>
            </a:r>
          </a:p>
          <a:p>
            <a:pPr lvl="0">
              <a:lnSpc>
                <a:spcPct val="90000"/>
              </a:lnSpc>
              <a:defRPr sz="1800"/>
            </a:pPr>
            <a:endParaRPr sz="2000" dirty="0"/>
          </a:p>
          <a:p>
            <a:pPr marL="214312" lvl="0" indent="-214312">
              <a:lnSpc>
                <a:spcPct val="90000"/>
              </a:lnSpc>
              <a:defRPr sz="1800"/>
            </a:pPr>
            <a:r>
              <a:rPr sz="2000" dirty="0"/>
              <a:t>it used anecdotal, rather than scientific, evidence</a:t>
            </a:r>
          </a:p>
          <a:p>
            <a:pPr lvl="0">
              <a:lnSpc>
                <a:spcPct val="90000"/>
              </a:lnSpc>
              <a:defRPr sz="1800"/>
            </a:pPr>
            <a:endParaRPr sz="2000" dirty="0"/>
          </a:p>
          <a:p>
            <a:pPr marL="214312" lvl="0" indent="-214312">
              <a:lnSpc>
                <a:spcPct val="90000"/>
              </a:lnSpc>
              <a:defRPr sz="1800"/>
            </a:pPr>
            <a:r>
              <a:rPr sz="2000" dirty="0"/>
              <a:t>nevertheless, </a:t>
            </a:r>
            <a:r>
              <a:rPr lang="en-US" sz="2000" dirty="0"/>
              <a:t>one of </a:t>
            </a:r>
            <a:r>
              <a:rPr sz="2000" dirty="0"/>
              <a:t>its central idea</a:t>
            </a:r>
            <a:r>
              <a:rPr lang="en-US" sz="2000" dirty="0"/>
              <a:t>s</a:t>
            </a:r>
            <a:r>
              <a:rPr sz="2000" dirty="0"/>
              <a:t> persisted:                   </a:t>
            </a:r>
          </a:p>
          <a:p>
            <a:pPr marL="320040" lvl="0" indent="-320040">
              <a:lnSpc>
                <a:spcPct val="90000"/>
              </a:lnSpc>
              <a:buSzTx/>
              <a:buNone/>
              <a:defRPr sz="1800"/>
            </a:pPr>
            <a:r>
              <a:rPr sz="2000" dirty="0"/>
              <a:t>	</a:t>
            </a:r>
            <a:r>
              <a:rPr sz="2000" b="1" i="1" dirty="0"/>
              <a:t>Localization of Function</a:t>
            </a:r>
          </a:p>
        </p:txBody>
      </p:sp>
      <p:pic>
        <p:nvPicPr>
          <p:cNvPr id="173" name="image3.png" descr="gallhead2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838200"/>
            <a:ext cx="4038600" cy="2882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image5.jpg" descr="image?id=11626&amp;rendTypeId=4"/>
          <p:cNvPicPr/>
          <p:nvPr/>
        </p:nvPicPr>
        <p:blipFill>
          <a:blip r:embed="rId3"/>
          <a:stretch>
            <a:fillRect/>
          </a:stretch>
        </p:blipFill>
        <p:spPr>
          <a:xfrm>
            <a:off x="1371600" y="4025900"/>
            <a:ext cx="1722439" cy="2171700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Shape 175"/>
          <p:cNvSpPr/>
          <p:nvPr/>
        </p:nvSpPr>
        <p:spPr>
          <a:xfrm>
            <a:off x="1371600" y="5672137"/>
            <a:ext cx="175260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800"/>
              </a:spcBef>
              <a:defRPr sz="14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0">
                <a:solidFill>
                  <a:srgbClr val="FFFFFF"/>
                </a:solidFill>
              </a:rPr>
              <a:t>Franz Joseph Gall (1758-1828)</a:t>
            </a:r>
          </a:p>
        </p:txBody>
      </p:sp>
      <p:sp>
        <p:nvSpPr>
          <p:cNvPr id="176" name="Shape 176"/>
          <p:cNvSpPr/>
          <p:nvPr/>
        </p:nvSpPr>
        <p:spPr>
          <a:xfrm>
            <a:off x="2209800" y="3459162"/>
            <a:ext cx="213360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700"/>
              </a:spcBef>
              <a:defRPr sz="1200">
                <a:solidFill>
                  <a:srgbClr val="FF000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>
                <a:solidFill>
                  <a:srgbClr val="FF0000"/>
                </a:solidFill>
              </a:rPr>
              <a:t>from Gall (c. 1810)</a:t>
            </a:r>
          </a:p>
        </p:txBody>
      </p:sp>
      <p:sp>
        <p:nvSpPr>
          <p:cNvPr id="177" name="Shape 17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13</a:t>
            </a:fld>
            <a:endParaRPr sz="120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 dirty="0">
                <a:solidFill>
                  <a:srgbClr val="000090"/>
                </a:solidFill>
              </a:rPr>
              <a:t>fMRI is </a:t>
            </a:r>
            <a:r>
              <a:rPr sz="4000" u="sng" dirty="0">
                <a:solidFill>
                  <a:srgbClr val="000090"/>
                </a:solidFill>
              </a:rPr>
              <a:t>not mind-reading</a:t>
            </a:r>
          </a:p>
        </p:txBody>
      </p:sp>
      <p:pic>
        <p:nvPicPr>
          <p:cNvPr id="181" name="image6.png" descr="clip_image001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1620837"/>
            <a:ext cx="6553200" cy="3948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4" name="Group 184"/>
          <p:cNvGrpSpPr/>
          <p:nvPr/>
        </p:nvGrpSpPr>
        <p:grpSpPr>
          <a:xfrm>
            <a:off x="5867400" y="5018566"/>
            <a:ext cx="3124200" cy="1297462"/>
            <a:chOff x="0" y="127479"/>
            <a:chExt cx="3124200" cy="1297461"/>
          </a:xfrm>
        </p:grpSpPr>
        <p:sp>
          <p:nvSpPr>
            <p:cNvPr id="182" name="Shape 182"/>
            <p:cNvSpPr/>
            <p:nvPr/>
          </p:nvSpPr>
          <p:spPr>
            <a:xfrm flipH="1" flipV="1">
              <a:off x="916171" y="127479"/>
              <a:ext cx="455429" cy="939321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spcBef>
                  <a:spcPts val="0"/>
                </a:spcBef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83" name="Shape 183"/>
            <p:cNvSpPr/>
            <p:nvPr/>
          </p:nvSpPr>
          <p:spPr>
            <a:xfrm>
              <a:off x="0" y="1066800"/>
              <a:ext cx="3124200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0"/>
              <a:r>
                <a:t>This is not an anti-thought.</a:t>
              </a:r>
            </a:p>
          </p:txBody>
        </p:sp>
      </p:grpSp>
      <p:grpSp>
        <p:nvGrpSpPr>
          <p:cNvPr id="187" name="Group 187"/>
          <p:cNvGrpSpPr/>
          <p:nvPr/>
        </p:nvGrpSpPr>
        <p:grpSpPr>
          <a:xfrm>
            <a:off x="1676400" y="4586287"/>
            <a:ext cx="3124200" cy="1424941"/>
            <a:chOff x="0" y="0"/>
            <a:chExt cx="3124200" cy="1424940"/>
          </a:xfrm>
        </p:grpSpPr>
        <p:sp>
          <p:nvSpPr>
            <p:cNvPr id="185" name="Shape 185"/>
            <p:cNvSpPr/>
            <p:nvPr/>
          </p:nvSpPr>
          <p:spPr>
            <a:xfrm flipH="1" flipV="1">
              <a:off x="914399" y="-1"/>
              <a:ext cx="457202" cy="1066802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spcBef>
                  <a:spcPts val="0"/>
                </a:spcBef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86" name="Shape 186"/>
            <p:cNvSpPr/>
            <p:nvPr/>
          </p:nvSpPr>
          <p:spPr>
            <a:xfrm>
              <a:off x="0" y="1066800"/>
              <a:ext cx="3124200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0"/>
              <a:r>
                <a:t>This is not a thought.</a:t>
              </a:r>
            </a:p>
          </p:txBody>
        </p:sp>
      </p:grpSp>
      <p:grpSp>
        <p:nvGrpSpPr>
          <p:cNvPr id="190" name="Group 190"/>
          <p:cNvGrpSpPr/>
          <p:nvPr/>
        </p:nvGrpSpPr>
        <p:grpSpPr>
          <a:xfrm>
            <a:off x="6219566" y="3443287"/>
            <a:ext cx="2924434" cy="624841"/>
            <a:chOff x="-333634" y="0"/>
            <a:chExt cx="2924434" cy="624840"/>
          </a:xfrm>
        </p:grpSpPr>
        <p:sp>
          <p:nvSpPr>
            <p:cNvPr id="188" name="Shape 188"/>
            <p:cNvSpPr/>
            <p:nvPr/>
          </p:nvSpPr>
          <p:spPr>
            <a:xfrm flipH="1">
              <a:off x="-333634" y="380999"/>
              <a:ext cx="1321060" cy="162921"/>
            </a:xfrm>
            <a:prstGeom prst="line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spcBef>
                  <a:spcPts val="0"/>
                </a:spcBef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89" name="Shape 189"/>
            <p:cNvSpPr/>
            <p:nvPr/>
          </p:nvSpPr>
          <p:spPr>
            <a:xfrm>
              <a:off x="533400" y="0"/>
              <a:ext cx="2057400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0"/>
              <a:r>
                <a:t>This is not a thought.</a:t>
              </a:r>
            </a:p>
          </p:txBody>
        </p:sp>
      </p:grpSp>
      <p:sp>
        <p:nvSpPr>
          <p:cNvPr id="191" name="Shape 19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14</a:t>
            </a:fld>
            <a:endParaRPr sz="1200"/>
          </a:p>
        </p:txBody>
      </p:sp>
      <p:sp>
        <p:nvSpPr>
          <p:cNvPr id="2" name="TextBox 1"/>
          <p:cNvSpPr txBox="1"/>
          <p:nvPr/>
        </p:nvSpPr>
        <p:spPr>
          <a:xfrm>
            <a:off x="2924435" y="722596"/>
            <a:ext cx="3295131" cy="49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mbria"/>
                <a:ea typeface="Cambria"/>
                <a:cs typeface="Cambria"/>
                <a:sym typeface="Cambria"/>
              </a:rPr>
              <a:t>(Though we are getting closer</a:t>
            </a:r>
            <a:r>
              <a:rPr kumimoji="0" lang="mr-I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mbria"/>
                <a:ea typeface="Cambria"/>
                <a:cs typeface="Cambria"/>
                <a:sym typeface="Cambria"/>
              </a:rPr>
              <a:t>…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mbria"/>
                <a:ea typeface="Cambria"/>
                <a:cs typeface="Cambria"/>
                <a:sym typeface="Cambria"/>
              </a:rP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3" animBg="1" advAuto="0"/>
      <p:bldP spid="187" grpId="1" animBg="1" advAuto="0"/>
      <p:bldP spid="190" grpId="2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/>
          </p:cNvSpPr>
          <p:nvPr>
            <p:ph type="title"/>
          </p:nvPr>
        </p:nvSpPr>
        <p:spPr>
          <a:xfrm>
            <a:off x="5093" y="0"/>
            <a:ext cx="9133814" cy="1279972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 dirty="0">
                <a:solidFill>
                  <a:srgbClr val="000090"/>
                </a:solidFill>
              </a:rPr>
              <a:t>fMRI is </a:t>
            </a:r>
            <a:r>
              <a:rPr sz="4000" u="sng" dirty="0">
                <a:solidFill>
                  <a:srgbClr val="000090"/>
                </a:solidFill>
              </a:rPr>
              <a:t>not </a:t>
            </a:r>
            <a:r>
              <a:rPr lang="en-US" sz="4000" u="sng" dirty="0">
                <a:solidFill>
                  <a:srgbClr val="000090"/>
                </a:solidFill>
              </a:rPr>
              <a:t>a </a:t>
            </a:r>
            <a:r>
              <a:rPr sz="4000" u="sng" dirty="0">
                <a:solidFill>
                  <a:srgbClr val="000090"/>
                </a:solidFill>
              </a:rPr>
              <a:t>simple one-</a:t>
            </a:r>
            <a:r>
              <a:rPr lang="en-US" sz="4000" u="sng" dirty="0">
                <a:solidFill>
                  <a:srgbClr val="000090"/>
                </a:solidFill>
              </a:rPr>
              <a:t>to</a:t>
            </a:r>
            <a:r>
              <a:rPr sz="4000" u="sng" dirty="0">
                <a:solidFill>
                  <a:srgbClr val="000090"/>
                </a:solidFill>
              </a:rPr>
              <a:t>-one</a:t>
            </a:r>
          </a:p>
        </p:txBody>
      </p:sp>
      <p:sp>
        <p:nvSpPr>
          <p:cNvPr id="194" name="Shape 19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>
              <a:lnSpc>
                <a:spcPct val="90000"/>
              </a:lnSpc>
              <a:buSzTx/>
              <a:buNone/>
              <a:defRPr sz="1800"/>
            </a:pPr>
            <a:r>
              <a:rPr sz="3200" dirty="0"/>
              <a:t>It’s not enough just to show ‘activation’ in a brain region</a:t>
            </a:r>
            <a:r>
              <a:rPr lang="en-US" sz="3200" dirty="0"/>
              <a:t> to know its function</a:t>
            </a:r>
            <a:r>
              <a:rPr sz="3200" dirty="0"/>
              <a:t>:</a:t>
            </a:r>
          </a:p>
          <a:p>
            <a:pPr marL="320842" lvl="0" indent="-320842">
              <a:lnSpc>
                <a:spcPct val="90000"/>
              </a:lnSpc>
              <a:defRPr sz="1800"/>
            </a:pPr>
            <a:r>
              <a:rPr sz="2800" b="1" u="sng" dirty="0"/>
              <a:t>Insula</a:t>
            </a:r>
          </a:p>
          <a:p>
            <a:pPr marL="641684" lvl="1" indent="-260684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 dirty="0"/>
              <a:t>Interoception</a:t>
            </a:r>
          </a:p>
          <a:p>
            <a:pPr marL="641684" lvl="1" indent="-260684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 dirty="0"/>
              <a:t>Emotional processing</a:t>
            </a:r>
          </a:p>
          <a:p>
            <a:pPr marL="962526" lvl="2" indent="-200526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000" dirty="0"/>
              <a:t>Disgust</a:t>
            </a:r>
            <a:endParaRPr sz="2300" dirty="0"/>
          </a:p>
          <a:p>
            <a:pPr marL="962526" lvl="2" indent="-200526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000" dirty="0"/>
              <a:t>Empathy</a:t>
            </a:r>
            <a:endParaRPr sz="2300" dirty="0"/>
          </a:p>
          <a:p>
            <a:pPr marL="641684" lvl="1" indent="-260684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 dirty="0"/>
              <a:t>Social norm violations</a:t>
            </a:r>
          </a:p>
          <a:p>
            <a:pPr marL="641684" lvl="1" indent="-260684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 dirty="0"/>
              <a:t>Consciousness</a:t>
            </a:r>
          </a:p>
          <a:p>
            <a:pPr marL="641684" lvl="1" indent="-260684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 dirty="0"/>
              <a:t>Smoking</a:t>
            </a:r>
          </a:p>
          <a:p>
            <a:pPr marL="641684" lvl="1" indent="-260684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 dirty="0"/>
              <a:t>Phonological </a:t>
            </a:r>
            <a:r>
              <a:rPr lang="en-US" sz="2400" dirty="0"/>
              <a:t>&amp; language </a:t>
            </a:r>
            <a:r>
              <a:rPr sz="2400" dirty="0"/>
              <a:t>processing</a:t>
            </a:r>
          </a:p>
          <a:p>
            <a:pPr marL="641684" lvl="1" indent="-260684">
              <a:lnSpc>
                <a:spcPct val="90000"/>
              </a:lnSpc>
              <a:spcBef>
                <a:spcPts val="500"/>
              </a:spcBef>
              <a:defRPr sz="1800"/>
            </a:pPr>
            <a:r>
              <a:rPr lang="en-US" sz="2400" dirty="0"/>
              <a:t>Attention</a:t>
            </a:r>
            <a:endParaRPr sz="2400" dirty="0"/>
          </a:p>
        </p:txBody>
      </p:sp>
      <p:sp>
        <p:nvSpPr>
          <p:cNvPr id="195" name="Shape 1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15</a:t>
            </a:fld>
            <a:endParaRPr sz="12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1" build="p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 dirty="0">
                <a:solidFill>
                  <a:srgbClr val="000090"/>
                </a:solidFill>
              </a:rPr>
              <a:t>fMRI is </a:t>
            </a:r>
            <a:r>
              <a:rPr sz="4000" u="sng" dirty="0">
                <a:solidFill>
                  <a:srgbClr val="000090"/>
                </a:solidFill>
              </a:rPr>
              <a:t>not invasive</a:t>
            </a:r>
          </a:p>
        </p:txBody>
      </p:sp>
      <p:pic>
        <p:nvPicPr>
          <p:cNvPr id="199" name="image9.jpg" descr="fmri-fig-07-04-0"/>
          <p:cNvPicPr/>
          <p:nvPr/>
        </p:nvPicPr>
        <p:blipFill>
          <a:blip r:embed="rId2"/>
          <a:srcRect l="1576" t="14607" r="1713" b="14607"/>
          <a:stretch>
            <a:fillRect/>
          </a:stretch>
        </p:blipFill>
        <p:spPr>
          <a:xfrm>
            <a:off x="228600" y="1676399"/>
            <a:ext cx="5646738" cy="3100390"/>
          </a:xfrm>
          <a:prstGeom prst="rect">
            <a:avLst/>
          </a:prstGeom>
          <a:ln w="28575">
            <a:solidFill/>
            <a:miter/>
          </a:ln>
        </p:spPr>
      </p:pic>
      <p:pic>
        <p:nvPicPr>
          <p:cNvPr id="200" name="image10.jpg" descr="fmri-fig-15-01-0"/>
          <p:cNvPicPr/>
          <p:nvPr/>
        </p:nvPicPr>
        <p:blipFill>
          <a:blip r:embed="rId3"/>
          <a:srcRect l="2119" t="24802" r="51834" b="34378"/>
          <a:stretch>
            <a:fillRect/>
          </a:stretch>
        </p:blipFill>
        <p:spPr>
          <a:xfrm>
            <a:off x="4822824" y="3927474"/>
            <a:ext cx="3797301" cy="2525714"/>
          </a:xfrm>
          <a:prstGeom prst="rect">
            <a:avLst/>
          </a:prstGeom>
          <a:ln w="28575">
            <a:solidFill/>
            <a:miter/>
          </a:ln>
        </p:spPr>
      </p:pic>
      <p:sp>
        <p:nvSpPr>
          <p:cNvPr id="201" name="Shape 201"/>
          <p:cNvSpPr/>
          <p:nvPr/>
        </p:nvSpPr>
        <p:spPr>
          <a:xfrm>
            <a:off x="5828998" y="1604744"/>
            <a:ext cx="26670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lvl="0" algn="l"/>
            <a:r>
              <a:rPr dirty="0"/>
              <a:t>Positron Emission Tomography (PET)</a:t>
            </a:r>
          </a:p>
        </p:txBody>
      </p:sp>
      <p:sp>
        <p:nvSpPr>
          <p:cNvPr id="202" name="Shape 202"/>
          <p:cNvSpPr/>
          <p:nvPr/>
        </p:nvSpPr>
        <p:spPr>
          <a:xfrm>
            <a:off x="2111770" y="5759450"/>
            <a:ext cx="27432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lvl="0" algn="r"/>
            <a:r>
              <a:rPr dirty="0"/>
              <a:t>Intracranial  Stimulation / Recording</a:t>
            </a:r>
          </a:p>
        </p:txBody>
      </p:sp>
      <p:sp>
        <p:nvSpPr>
          <p:cNvPr id="203" name="Shape 2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16</a:t>
            </a:fld>
            <a:endParaRPr sz="120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/>
          </p:cNvSpPr>
          <p:nvPr>
            <p:ph type="title"/>
          </p:nvPr>
        </p:nvSpPr>
        <p:spPr>
          <a:xfrm>
            <a:off x="-4317" y="0"/>
            <a:ext cx="9152633" cy="1288257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fMRI is…</a:t>
            </a:r>
          </a:p>
        </p:txBody>
      </p:sp>
      <p:sp>
        <p:nvSpPr>
          <p:cNvPr id="206" name="Shape 206"/>
          <p:cNvSpPr>
            <a:spLocks noGrp="1"/>
          </p:cNvSpPr>
          <p:nvPr>
            <p:ph type="body" idx="1"/>
          </p:nvPr>
        </p:nvSpPr>
        <p:spPr>
          <a:xfrm>
            <a:off x="457200" y="1346200"/>
            <a:ext cx="8229600" cy="5257800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SzTx/>
              <a:buNone/>
              <a:defRPr sz="1800"/>
            </a:pPr>
            <a:r>
              <a:rPr sz="2700" b="1" dirty="0"/>
              <a:t>… a technique for measuring metabolic correlates of neural activity</a:t>
            </a:r>
          </a:p>
          <a:p>
            <a:pPr marL="800099" lvl="1" indent="-342899">
              <a:defRPr sz="1800"/>
            </a:pPr>
            <a:endParaRPr sz="1200" dirty="0"/>
          </a:p>
          <a:p>
            <a:pPr marL="342899" lvl="0" indent="-342899">
              <a:defRPr sz="1800"/>
            </a:pPr>
            <a:r>
              <a:rPr sz="2400" dirty="0"/>
              <a:t>uses a standard MRI scanner </a:t>
            </a:r>
          </a:p>
          <a:p>
            <a:pPr marL="342899" lvl="0" indent="-342899">
              <a:defRPr sz="1800"/>
            </a:pPr>
            <a:r>
              <a:rPr sz="2400" dirty="0"/>
              <a:t>acquires a series of images via clever manipulations of magnetic fields</a:t>
            </a:r>
            <a:r>
              <a:rPr lang="en-US" sz="2400" dirty="0"/>
              <a:t> </a:t>
            </a:r>
            <a:r>
              <a:rPr sz="2400" dirty="0"/>
              <a:t>/</a:t>
            </a:r>
            <a:r>
              <a:rPr lang="en-US" sz="2400" dirty="0"/>
              <a:t> magnetic </a:t>
            </a:r>
            <a:r>
              <a:rPr sz="2400" dirty="0"/>
              <a:t>gradients</a:t>
            </a:r>
          </a:p>
          <a:p>
            <a:pPr marL="342899" lvl="0" indent="-342899">
              <a:defRPr sz="1800"/>
            </a:pPr>
            <a:r>
              <a:rPr sz="2400" dirty="0"/>
              <a:t>measures </a:t>
            </a:r>
            <a:r>
              <a:rPr sz="2400" u="sng" dirty="0"/>
              <a:t>changes</a:t>
            </a:r>
            <a:r>
              <a:rPr sz="2400" dirty="0"/>
              <a:t> in blood oxygenation </a:t>
            </a:r>
            <a:r>
              <a:rPr lang="en-US" sz="2400" dirty="0"/>
              <a:t>levels </a:t>
            </a:r>
            <a:r>
              <a:rPr sz="2400" dirty="0"/>
              <a:t>over time</a:t>
            </a:r>
          </a:p>
          <a:p>
            <a:pPr marL="342899" lvl="0" indent="-342899">
              <a:defRPr sz="1800"/>
            </a:pPr>
            <a:r>
              <a:rPr sz="2400" dirty="0"/>
              <a:t>uses non-invasive, non-ionizing radiation (radio frequencies)</a:t>
            </a:r>
            <a:r>
              <a:rPr lang="en-US" sz="2400" dirty="0"/>
              <a:t> to perturb atomic nuclei (e.g. H)</a:t>
            </a:r>
            <a:endParaRPr sz="2400" dirty="0"/>
          </a:p>
          <a:p>
            <a:pPr marL="342899" lvl="0" indent="-342899">
              <a:defRPr sz="1800"/>
            </a:pPr>
            <a:r>
              <a:rPr sz="2400" dirty="0"/>
              <a:t>can be repeated many times; can be used for a wide range of </a:t>
            </a:r>
            <a:r>
              <a:rPr lang="en-US" sz="2400" dirty="0"/>
              <a:t>participants</a:t>
            </a:r>
            <a:endParaRPr sz="2400" dirty="0"/>
          </a:p>
          <a:p>
            <a:pPr marL="342899" lvl="0" indent="-342899">
              <a:defRPr sz="1800"/>
            </a:pPr>
            <a:r>
              <a:rPr sz="2400" dirty="0"/>
              <a:t>combines good spatial and reasonable temporal resolution</a:t>
            </a:r>
          </a:p>
        </p:txBody>
      </p:sp>
      <p:sp>
        <p:nvSpPr>
          <p:cNvPr id="207" name="Shape 20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17</a:t>
            </a:fld>
            <a:endParaRPr sz="12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1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fMRI is a </a:t>
            </a:r>
            <a:r>
              <a:rPr sz="4000" i="1">
                <a:solidFill>
                  <a:srgbClr val="000090"/>
                </a:solidFill>
              </a:rPr>
              <a:t>Measurement</a:t>
            </a:r>
            <a:r>
              <a:rPr sz="4000">
                <a:solidFill>
                  <a:srgbClr val="000090"/>
                </a:solidFill>
              </a:rPr>
              <a:t> Technique…</a:t>
            </a:r>
          </a:p>
        </p:txBody>
      </p:sp>
      <p:sp>
        <p:nvSpPr>
          <p:cNvPr id="211" name="Shape 211"/>
          <p:cNvSpPr/>
          <p:nvPr/>
        </p:nvSpPr>
        <p:spPr>
          <a:xfrm>
            <a:off x="252065" y="5194300"/>
            <a:ext cx="2542283" cy="4065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 lvl="0"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pPr>
            <a:endParaRPr/>
          </a:p>
        </p:txBody>
      </p:sp>
      <p:sp>
        <p:nvSpPr>
          <p:cNvPr id="212" name="Shape 2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18</a:t>
            </a:fld>
            <a:endParaRPr sz="1200"/>
          </a:p>
        </p:txBody>
      </p:sp>
      <p:pic>
        <p:nvPicPr>
          <p:cNvPr id="6" name="Picture 5" descr="FMRI3e-Fig-01-03-0.jpg"/>
          <p:cNvPicPr>
            <a:picLocks noChangeAspect="1"/>
          </p:cNvPicPr>
          <p:nvPr/>
        </p:nvPicPr>
        <p:blipFill rotWithShape="1">
          <a:blip r:embed="rId2"/>
          <a:srcRect b="7606"/>
          <a:stretch/>
        </p:blipFill>
        <p:spPr>
          <a:xfrm>
            <a:off x="304800" y="1623060"/>
            <a:ext cx="8534400" cy="36891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86841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… that provides information about a wide range of topics…</a:t>
            </a:r>
          </a:p>
        </p:txBody>
      </p:sp>
      <p:pic>
        <p:nvPicPr>
          <p:cNvPr id="215" name="image13.png" descr="Ocular_dominance_riken"/>
          <p:cNvPicPr/>
          <p:nvPr/>
        </p:nvPicPr>
        <p:blipFill>
          <a:blip r:embed="rId2"/>
          <a:srcRect l="52783" r="14771" b="51064"/>
          <a:stretch>
            <a:fillRect/>
          </a:stretch>
        </p:blipFill>
        <p:spPr>
          <a:xfrm>
            <a:off x="914400" y="2895600"/>
            <a:ext cx="1685925" cy="2263775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Shape 216"/>
          <p:cNvSpPr/>
          <p:nvPr/>
        </p:nvSpPr>
        <p:spPr>
          <a:xfrm>
            <a:off x="0" y="6248400"/>
            <a:ext cx="38100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lvl="0">
              <a:spcBef>
                <a:spcPts val="800"/>
              </a:spcBef>
            </a:pPr>
            <a:r>
              <a:rPr sz="1400"/>
              <a:t>Cheng, Waggoner, &amp; Tanaka (2001) </a:t>
            </a:r>
            <a:r>
              <a:rPr sz="1400" i="1"/>
              <a:t>Neuron</a:t>
            </a:r>
          </a:p>
        </p:txBody>
      </p:sp>
      <p:sp>
        <p:nvSpPr>
          <p:cNvPr id="217" name="Shape 217"/>
          <p:cNvSpPr/>
          <p:nvPr/>
        </p:nvSpPr>
        <p:spPr>
          <a:xfrm>
            <a:off x="4953000" y="6248400"/>
            <a:ext cx="381000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lvl="0">
              <a:spcBef>
                <a:spcPts val="800"/>
              </a:spcBef>
            </a:pPr>
            <a:r>
              <a:rPr sz="1400"/>
              <a:t>Berns et al. (2006) </a:t>
            </a:r>
            <a:r>
              <a:rPr sz="1400" i="1"/>
              <a:t>Science</a:t>
            </a:r>
          </a:p>
        </p:txBody>
      </p:sp>
      <p:pic>
        <p:nvPicPr>
          <p:cNvPr id="218" name="image14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4495800" y="2590800"/>
            <a:ext cx="4506913" cy="3378200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Shape 219"/>
          <p:cNvSpPr/>
          <p:nvPr/>
        </p:nvSpPr>
        <p:spPr>
          <a:xfrm>
            <a:off x="152400" y="1828800"/>
            <a:ext cx="3352800" cy="624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lvl="0"/>
            <a:r>
              <a:t>From bone-dry psychophysics…             (ocular dominance columns)</a:t>
            </a:r>
          </a:p>
        </p:txBody>
      </p:sp>
      <p:sp>
        <p:nvSpPr>
          <p:cNvPr id="220" name="Shape 220"/>
          <p:cNvSpPr/>
          <p:nvPr/>
        </p:nvSpPr>
        <p:spPr>
          <a:xfrm>
            <a:off x="4876800" y="1828800"/>
            <a:ext cx="3810000" cy="624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lvl="0"/>
            <a:r>
              <a:t>… to existential feelings.                                         (the dread of an upcoming shock)</a:t>
            </a:r>
          </a:p>
        </p:txBody>
      </p:sp>
      <p:sp>
        <p:nvSpPr>
          <p:cNvPr id="221" name="Shape 22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19</a:t>
            </a:fld>
            <a:endParaRPr sz="1200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>
            <a:spLocks noGrp="1"/>
          </p:cNvSpPr>
          <p:nvPr>
            <p:ph type="title"/>
          </p:nvPr>
        </p:nvSpPr>
        <p:spPr>
          <a:xfrm>
            <a:off x="-121907" y="42861"/>
            <a:ext cx="9133814" cy="808039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… using many Types of MR Imaging</a:t>
            </a:r>
          </a:p>
        </p:txBody>
      </p:sp>
      <p:grpSp>
        <p:nvGrpSpPr>
          <p:cNvPr id="227" name="Group 227"/>
          <p:cNvGrpSpPr/>
          <p:nvPr/>
        </p:nvGrpSpPr>
        <p:grpSpPr>
          <a:xfrm>
            <a:off x="3594099" y="990599"/>
            <a:ext cx="3298390" cy="2816226"/>
            <a:chOff x="0" y="0"/>
            <a:chExt cx="3298388" cy="2816225"/>
          </a:xfrm>
        </p:grpSpPr>
        <p:pic>
          <p:nvPicPr>
            <p:cNvPr id="224" name="image15.jpg" descr="facepercep_frontsm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06400" y="533400"/>
              <a:ext cx="1028700" cy="22828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5" name="image16.jpg" descr="nn1833-F1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447800" y="838200"/>
              <a:ext cx="1701800" cy="14287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26" name="Shape 226"/>
            <p:cNvSpPr/>
            <p:nvPr/>
          </p:nvSpPr>
          <p:spPr>
            <a:xfrm>
              <a:off x="0" y="0"/>
              <a:ext cx="3298389" cy="5440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l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3200">
                  <a:solidFill>
                    <a:srgbClr val="FFFFFF"/>
                  </a:solidFill>
                </a:rPr>
                <a:t>Functional Imaging</a:t>
              </a:r>
            </a:p>
          </p:txBody>
        </p:sp>
      </p:grpSp>
      <p:grpSp>
        <p:nvGrpSpPr>
          <p:cNvPr id="235" name="Group 235"/>
          <p:cNvGrpSpPr/>
          <p:nvPr/>
        </p:nvGrpSpPr>
        <p:grpSpPr>
          <a:xfrm>
            <a:off x="633413" y="3997324"/>
            <a:ext cx="4168810" cy="2824868"/>
            <a:chOff x="0" y="0"/>
            <a:chExt cx="4168809" cy="2824866"/>
          </a:xfrm>
        </p:grpSpPr>
        <p:grpSp>
          <p:nvGrpSpPr>
            <p:cNvPr id="233" name="Group 233"/>
            <p:cNvGrpSpPr/>
            <p:nvPr/>
          </p:nvGrpSpPr>
          <p:grpSpPr>
            <a:xfrm>
              <a:off x="-1" y="533400"/>
              <a:ext cx="4168811" cy="2291467"/>
              <a:chOff x="0" y="0"/>
              <a:chExt cx="4168809" cy="2291466"/>
            </a:xfrm>
          </p:grpSpPr>
          <p:grpSp>
            <p:nvGrpSpPr>
              <p:cNvPr id="231" name="Group 231"/>
              <p:cNvGrpSpPr/>
              <p:nvPr/>
            </p:nvGrpSpPr>
            <p:grpSpPr>
              <a:xfrm>
                <a:off x="0" y="0"/>
                <a:ext cx="3862388" cy="1958975"/>
                <a:chOff x="0" y="0"/>
                <a:chExt cx="3862387" cy="1958975"/>
              </a:xfrm>
            </p:grpSpPr>
            <p:pic>
              <p:nvPicPr>
                <p:cNvPr id="228" name="image17.png" descr="mrs_region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0" y="151710"/>
                  <a:ext cx="1438275" cy="168648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29" name="image18.png" descr="mrs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00199" y="0"/>
                  <a:ext cx="2262189" cy="195897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30" name="Shape 230"/>
                <p:cNvSpPr/>
                <p:nvPr/>
              </p:nvSpPr>
              <p:spPr>
                <a:xfrm>
                  <a:off x="609599" y="212099"/>
                  <a:ext cx="609602" cy="5655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noFill/>
                <a:ln w="44450" cap="flat">
                  <a:solidFill>
                    <a:srgbClr val="FFFF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>
                      <a:latin typeface="Trebuchet MS Bold"/>
                      <a:ea typeface="Trebuchet MS Bold"/>
                      <a:cs typeface="Trebuchet MS Bold"/>
                      <a:sym typeface="Trebuchet MS Bold"/>
                    </a:defRPr>
                  </a:pPr>
                  <a:endParaRPr/>
                </a:p>
              </p:txBody>
            </p:sp>
          </p:grpSp>
          <p:sp>
            <p:nvSpPr>
              <p:cNvPr id="232" name="Shape 232"/>
              <p:cNvSpPr/>
              <p:nvPr/>
            </p:nvSpPr>
            <p:spPr>
              <a:xfrm>
                <a:off x="39687" y="1870075"/>
                <a:ext cx="4129123" cy="42139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lvl="0" algn="l">
                  <a:spcBef>
                    <a:spcPts val="0"/>
                  </a:spcBef>
                </a:pPr>
                <a:r>
                  <a:rPr sz="24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</a:t>
                </a:r>
                <a:r>
                  <a:rPr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anatomical image illustrating MRS region)</a:t>
                </a:r>
              </a:p>
            </p:txBody>
          </p:sp>
        </p:grpSp>
        <p:sp>
          <p:nvSpPr>
            <p:cNvPr id="234" name="Shape 234"/>
            <p:cNvSpPr/>
            <p:nvPr/>
          </p:nvSpPr>
          <p:spPr>
            <a:xfrm>
              <a:off x="585787" y="0"/>
              <a:ext cx="2293700" cy="5440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l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3200">
                  <a:solidFill>
                    <a:srgbClr val="FFFFFF"/>
                  </a:solidFill>
                </a:rPr>
                <a:t>Spectroscopy</a:t>
              </a:r>
            </a:p>
          </p:txBody>
        </p:sp>
      </p:grpSp>
      <p:grpSp>
        <p:nvGrpSpPr>
          <p:cNvPr id="238" name="Group 238"/>
          <p:cNvGrpSpPr/>
          <p:nvPr/>
        </p:nvGrpSpPr>
        <p:grpSpPr>
          <a:xfrm>
            <a:off x="7051675" y="918209"/>
            <a:ext cx="2066925" cy="2811465"/>
            <a:chOff x="0" y="0"/>
            <a:chExt cx="2066925" cy="2811463"/>
          </a:xfrm>
        </p:grpSpPr>
        <p:pic>
          <p:nvPicPr>
            <p:cNvPr id="236" name="image19.jpg" descr="perf_ep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0" y="590550"/>
              <a:ext cx="2066925" cy="22209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7" name="Shape 237"/>
            <p:cNvSpPr/>
            <p:nvPr/>
          </p:nvSpPr>
          <p:spPr>
            <a:xfrm>
              <a:off x="173037" y="-1"/>
              <a:ext cx="1661875" cy="5440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l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3200">
                  <a:solidFill>
                    <a:srgbClr val="FFFFFF"/>
                  </a:solidFill>
                </a:rPr>
                <a:t>Perfusion</a:t>
              </a:r>
            </a:p>
          </p:txBody>
        </p:sp>
      </p:grpSp>
      <p:grpSp>
        <p:nvGrpSpPr>
          <p:cNvPr id="241" name="Group 241"/>
          <p:cNvGrpSpPr/>
          <p:nvPr/>
        </p:nvGrpSpPr>
        <p:grpSpPr>
          <a:xfrm>
            <a:off x="4724399" y="4144962"/>
            <a:ext cx="4304865" cy="2484438"/>
            <a:chOff x="0" y="0"/>
            <a:chExt cx="4304863" cy="2484436"/>
          </a:xfrm>
        </p:grpSpPr>
        <p:sp>
          <p:nvSpPr>
            <p:cNvPr id="239" name="Shape 239"/>
            <p:cNvSpPr/>
            <p:nvPr/>
          </p:nvSpPr>
          <p:spPr>
            <a:xfrm>
              <a:off x="0" y="0"/>
              <a:ext cx="4304864" cy="5440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l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3200">
                  <a:solidFill>
                    <a:srgbClr val="FFFFFF"/>
                  </a:solidFill>
                </a:rPr>
                <a:t>Diffusion Tensor Imaging</a:t>
              </a:r>
            </a:p>
          </p:txBody>
        </p:sp>
        <p:pic>
          <p:nvPicPr>
            <p:cNvPr id="240" name="image20.jpeg" descr="susumu_dti"/>
            <p:cNvPicPr/>
            <p:nvPr/>
          </p:nvPicPr>
          <p:blipFill>
            <a:blip r:embed="rId8"/>
            <a:srcRect r="49666" b="3237"/>
            <a:stretch>
              <a:fillRect/>
            </a:stretch>
          </p:blipFill>
          <p:spPr>
            <a:xfrm>
              <a:off x="533400" y="493712"/>
              <a:ext cx="3352801" cy="19907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47" name="Group 247"/>
          <p:cNvGrpSpPr/>
          <p:nvPr/>
        </p:nvGrpSpPr>
        <p:grpSpPr>
          <a:xfrm>
            <a:off x="76199" y="990599"/>
            <a:ext cx="3810001" cy="2658752"/>
            <a:chOff x="0" y="0"/>
            <a:chExt cx="3810000" cy="2658750"/>
          </a:xfrm>
        </p:grpSpPr>
        <p:sp>
          <p:nvSpPr>
            <p:cNvPr id="242" name="Shape 242"/>
            <p:cNvSpPr/>
            <p:nvPr/>
          </p:nvSpPr>
          <p:spPr>
            <a:xfrm>
              <a:off x="304800" y="2286000"/>
              <a:ext cx="1600200" cy="3727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l">
                <a:spcBef>
                  <a:spcPts val="0"/>
                </a:spcBef>
                <a:defRPr sz="2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000">
                  <a:solidFill>
                    <a:srgbClr val="FFFFFF"/>
                  </a:solidFill>
                </a:rPr>
                <a:t>T1 weighted</a:t>
              </a:r>
            </a:p>
          </p:txBody>
        </p:sp>
        <p:sp>
          <p:nvSpPr>
            <p:cNvPr id="243" name="Shape 243"/>
            <p:cNvSpPr/>
            <p:nvPr/>
          </p:nvSpPr>
          <p:spPr>
            <a:xfrm>
              <a:off x="2057400" y="2286000"/>
              <a:ext cx="1752600" cy="3484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l">
                <a:spcBef>
                  <a:spcPts val="0"/>
                </a:spcBef>
                <a:defRPr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FFFFFF"/>
                  </a:solidFill>
                </a:rPr>
                <a:t>T2 weighted</a:t>
              </a:r>
            </a:p>
          </p:txBody>
        </p:sp>
        <p:pic>
          <p:nvPicPr>
            <p:cNvPr id="244" name="image21.jpg" descr="t2fse_axial_slice16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828800" y="533400"/>
              <a:ext cx="1533525" cy="1828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5" name="Shape 245"/>
            <p:cNvSpPr/>
            <p:nvPr/>
          </p:nvSpPr>
          <p:spPr>
            <a:xfrm>
              <a:off x="0" y="0"/>
              <a:ext cx="3455948" cy="5440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l"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3200" dirty="0">
                  <a:solidFill>
                    <a:srgbClr val="FFFFFF"/>
                  </a:solidFill>
                </a:rPr>
                <a:t>Anatomical Imaging</a:t>
              </a:r>
            </a:p>
          </p:txBody>
        </p:sp>
        <p:pic>
          <p:nvPicPr>
            <p:cNvPr id="246" name="image22.png"/>
            <p:cNvPicPr/>
            <p:nvPr/>
          </p:nvPicPr>
          <p:blipFill>
            <a:blip r:embed="rId10"/>
            <a:srcRect l="25000" t="8333" r="30000" b="16667"/>
            <a:stretch>
              <a:fillRect/>
            </a:stretch>
          </p:blipFill>
          <p:spPr>
            <a:xfrm>
              <a:off x="381000" y="533400"/>
              <a:ext cx="1301750" cy="1828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48" name="Shape 248"/>
          <p:cNvSpPr/>
          <p:nvPr/>
        </p:nvSpPr>
        <p:spPr>
          <a:xfrm>
            <a:off x="3932842" y="1090930"/>
            <a:ext cx="2748507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rPr dirty="0"/>
              <a:t>Functional </a:t>
            </a:r>
            <a:r>
              <a:t>Imaging</a:t>
            </a:r>
            <a:r>
              <a:rPr lang="en-US"/>
              <a:t> (fMRI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249" name="Shape 249"/>
          <p:cNvSpPr/>
          <p:nvPr/>
        </p:nvSpPr>
        <p:spPr>
          <a:xfrm>
            <a:off x="7454128" y="1139984"/>
            <a:ext cx="104187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/>
          </a:lstStyle>
          <a:p>
            <a:pPr lvl="0"/>
            <a:r>
              <a:t>Perfusion</a:t>
            </a:r>
          </a:p>
        </p:txBody>
      </p:sp>
      <p:sp>
        <p:nvSpPr>
          <p:cNvPr id="250" name="Shape 250"/>
          <p:cNvSpPr/>
          <p:nvPr/>
        </p:nvSpPr>
        <p:spPr>
          <a:xfrm>
            <a:off x="659052" y="1139984"/>
            <a:ext cx="2601674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/>
          </a:lstStyle>
          <a:p>
            <a:pPr lvl="0" algn="ctr"/>
            <a:r>
              <a:rPr dirty="0"/>
              <a:t>Anatomical Imaging</a:t>
            </a:r>
            <a:r>
              <a:rPr lang="en-US" dirty="0"/>
              <a:t> (MRI)</a:t>
            </a:r>
            <a:endParaRPr dirty="0"/>
          </a:p>
        </p:txBody>
      </p:sp>
      <p:sp>
        <p:nvSpPr>
          <p:cNvPr id="251" name="Shape 251"/>
          <p:cNvSpPr/>
          <p:nvPr/>
        </p:nvSpPr>
        <p:spPr>
          <a:xfrm>
            <a:off x="583343" y="4342032"/>
            <a:ext cx="140620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/>
          </a:lstStyle>
          <a:p>
            <a:pPr lvl="0"/>
            <a:r>
              <a:t>Spectroscopy</a:t>
            </a:r>
          </a:p>
        </p:txBody>
      </p:sp>
      <p:sp>
        <p:nvSpPr>
          <p:cNvPr id="252" name="Shape 252"/>
          <p:cNvSpPr/>
          <p:nvPr/>
        </p:nvSpPr>
        <p:spPr>
          <a:xfrm>
            <a:off x="5392110" y="4309039"/>
            <a:ext cx="3084179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/>
          </a:lstStyle>
          <a:p>
            <a:pPr lvl="0"/>
            <a:r>
              <a:rPr dirty="0"/>
              <a:t>Diffusion Tensor Imaging</a:t>
            </a:r>
            <a:r>
              <a:rPr lang="en-US" dirty="0"/>
              <a:t> (DTI)</a:t>
            </a:r>
            <a:endParaRPr dirty="0"/>
          </a:p>
        </p:txBody>
      </p:sp>
      <p:sp>
        <p:nvSpPr>
          <p:cNvPr id="253" name="Shape 253"/>
          <p:cNvSpPr/>
          <p:nvPr/>
        </p:nvSpPr>
        <p:spPr>
          <a:xfrm>
            <a:off x="492320" y="3373754"/>
            <a:ext cx="1204874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600"/>
            </a:lvl1pPr>
          </a:lstStyle>
          <a:p>
            <a:pPr lvl="0">
              <a:defRPr sz="1800"/>
            </a:pPr>
            <a:r>
              <a:rPr sz="1600"/>
              <a:t>T1-weighted</a:t>
            </a:r>
          </a:p>
        </p:txBody>
      </p:sp>
      <p:sp>
        <p:nvSpPr>
          <p:cNvPr id="254" name="Shape 254"/>
          <p:cNvSpPr/>
          <p:nvPr/>
        </p:nvSpPr>
        <p:spPr>
          <a:xfrm>
            <a:off x="2074592" y="3375500"/>
            <a:ext cx="1204874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600"/>
            </a:lvl1pPr>
          </a:lstStyle>
          <a:p>
            <a:pPr lvl="0">
              <a:defRPr sz="1800"/>
            </a:pPr>
            <a:r>
              <a:rPr sz="1600" dirty="0"/>
              <a:t>T2-weighted</a:t>
            </a:r>
          </a:p>
        </p:txBody>
      </p:sp>
      <p:sp>
        <p:nvSpPr>
          <p:cNvPr id="258" name="Shape 2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20</a:t>
            </a:fld>
            <a:endParaRPr sz="1200"/>
          </a:p>
        </p:txBody>
      </p:sp>
      <p:sp>
        <p:nvSpPr>
          <p:cNvPr id="2" name="TextBox 1"/>
          <p:cNvSpPr txBox="1"/>
          <p:nvPr/>
        </p:nvSpPr>
        <p:spPr>
          <a:xfrm>
            <a:off x="-322646" y="1139984"/>
            <a:ext cx="92395" cy="49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>
            <a:spLocks noGrp="1"/>
          </p:cNvSpPr>
          <p:nvPr>
            <p:ph type="title"/>
          </p:nvPr>
        </p:nvSpPr>
        <p:spPr>
          <a:xfrm>
            <a:off x="5093" y="0"/>
            <a:ext cx="9133814" cy="911196"/>
          </a:xfrm>
          <a:prstGeom prst="rect">
            <a:avLst/>
          </a:prstGeom>
        </p:spPr>
        <p:txBody>
          <a:bodyPr lIns="0" tIns="0" rIns="0" bIns="0"/>
          <a:lstStyle>
            <a:lvl1pPr>
              <a:defRPr sz="5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000090"/>
                </a:solidFill>
              </a:rPr>
              <a:t>2. Key Concepts</a:t>
            </a:r>
          </a:p>
        </p:txBody>
      </p:sp>
      <p:sp>
        <p:nvSpPr>
          <p:cNvPr id="263" name="Shape 26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264" name="Shape 26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21</a:t>
            </a:fld>
            <a:endParaRPr sz="120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Contrast &amp; Resolution</a:t>
            </a:r>
          </a:p>
        </p:txBody>
      </p:sp>
      <p:sp>
        <p:nvSpPr>
          <p:cNvPr id="267" name="Shape 26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 b="1" dirty="0"/>
              <a:t>Contrast</a:t>
            </a:r>
          </a:p>
          <a:p>
            <a:pPr lvl="1">
              <a:defRPr sz="1800"/>
            </a:pPr>
            <a:r>
              <a:rPr sz="2600" dirty="0"/>
              <a:t>anatomical contrast</a:t>
            </a:r>
          </a:p>
          <a:p>
            <a:pPr lvl="1">
              <a:defRPr sz="1800"/>
            </a:pPr>
            <a:r>
              <a:rPr sz="2600" dirty="0"/>
              <a:t>functional contrast</a:t>
            </a:r>
          </a:p>
          <a:p>
            <a:pPr lvl="1">
              <a:defRPr sz="1800"/>
            </a:pPr>
            <a:endParaRPr sz="2600" dirty="0"/>
          </a:p>
          <a:p>
            <a:pPr lvl="0">
              <a:defRPr sz="1800"/>
            </a:pPr>
            <a:r>
              <a:rPr sz="3200" dirty="0"/>
              <a:t>Resolution</a:t>
            </a:r>
          </a:p>
          <a:p>
            <a:pPr lvl="1">
              <a:defRPr sz="1800"/>
            </a:pPr>
            <a:r>
              <a:rPr sz="2600" dirty="0"/>
              <a:t>spatial resolution</a:t>
            </a:r>
          </a:p>
          <a:p>
            <a:pPr lvl="1">
              <a:defRPr sz="1800"/>
            </a:pPr>
            <a:r>
              <a:rPr sz="2600" dirty="0"/>
              <a:t>temporal resolution</a:t>
            </a:r>
          </a:p>
          <a:p>
            <a:pPr lvl="1">
              <a:defRPr sz="1800"/>
            </a:pPr>
            <a:r>
              <a:rPr sz="2600" dirty="0"/>
              <a:t>functional resolution</a:t>
            </a:r>
          </a:p>
        </p:txBody>
      </p:sp>
      <p:sp>
        <p:nvSpPr>
          <p:cNvPr id="268" name="Shape 2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22</a:t>
            </a:fld>
            <a:endParaRPr sz="1200"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MRI3e-Fig-01-04-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73" y="1043187"/>
            <a:ext cx="4928150" cy="4771626"/>
          </a:xfrm>
          <a:prstGeom prst="rect">
            <a:avLst/>
          </a:prstGeom>
        </p:spPr>
      </p:pic>
      <p:sp>
        <p:nvSpPr>
          <p:cNvPr id="270" name="Shape 270"/>
          <p:cNvSpPr>
            <a:spLocks noGrp="1"/>
          </p:cNvSpPr>
          <p:nvPr>
            <p:ph type="title"/>
          </p:nvPr>
        </p:nvSpPr>
        <p:spPr>
          <a:xfrm>
            <a:off x="457200" y="16933"/>
            <a:ext cx="8229600" cy="808039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Contrast: Conceptual Overview</a:t>
            </a:r>
          </a:p>
        </p:txBody>
      </p:sp>
      <p:sp>
        <p:nvSpPr>
          <p:cNvPr id="272" name="Shape 272"/>
          <p:cNvSpPr/>
          <p:nvPr/>
        </p:nvSpPr>
        <p:spPr>
          <a:xfrm>
            <a:off x="2017365" y="5588000"/>
            <a:ext cx="2542283" cy="4065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 lvl="0"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pPr>
            <a:endParaRPr/>
          </a:p>
        </p:txBody>
      </p:sp>
      <p:sp>
        <p:nvSpPr>
          <p:cNvPr id="273" name="Shape 273"/>
          <p:cNvSpPr/>
          <p:nvPr/>
        </p:nvSpPr>
        <p:spPr>
          <a:xfrm>
            <a:off x="963162" y="5612229"/>
            <a:ext cx="7217679" cy="774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rPr lang="en-US" dirty="0"/>
              <a:t>In vision</a:t>
            </a:r>
            <a:r>
              <a:rPr dirty="0"/>
              <a:t>: </a:t>
            </a:r>
            <a:r>
              <a:rPr lang="en-US" dirty="0"/>
              <a:t>c</a:t>
            </a:r>
            <a:r>
              <a:rPr dirty="0"/>
              <a:t>ontrast </a:t>
            </a:r>
            <a:r>
              <a:rPr lang="en-US" dirty="0"/>
              <a:t>is </a:t>
            </a:r>
            <a:r>
              <a:rPr dirty="0"/>
              <a:t>based on the opacity of an object to visible light</a:t>
            </a:r>
            <a:r>
              <a:rPr lang="en-US" dirty="0"/>
              <a:t> rays</a:t>
            </a:r>
            <a:endParaRPr dirty="0"/>
          </a:p>
          <a:p>
            <a:pPr lvl="0"/>
            <a:r>
              <a:rPr lang="en-US" dirty="0">
                <a:sym typeface="Wingdings"/>
              </a:rPr>
              <a:t> </a:t>
            </a:r>
            <a:r>
              <a:rPr dirty="0"/>
              <a:t>darkness of shadow indicates the opacity of the object</a:t>
            </a:r>
          </a:p>
        </p:txBody>
      </p:sp>
      <p:sp>
        <p:nvSpPr>
          <p:cNvPr id="277" name="Shape 27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23</a:t>
            </a:fld>
            <a:endParaRPr sz="1200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000" dirty="0">
                <a:solidFill>
                  <a:srgbClr val="000090"/>
                </a:solidFill>
              </a:rPr>
              <a:t>Contrast: </a:t>
            </a:r>
            <a:r>
              <a:rPr sz="4000" dirty="0">
                <a:solidFill>
                  <a:srgbClr val="000090"/>
                </a:solidFill>
              </a:rPr>
              <a:t>Anatomical Contrast</a:t>
            </a:r>
          </a:p>
        </p:txBody>
      </p:sp>
      <p:pic>
        <p:nvPicPr>
          <p:cNvPr id="280" name="pasted-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304800" y="901700"/>
            <a:ext cx="8534400" cy="2971800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Shape 281"/>
          <p:cNvSpPr/>
          <p:nvPr/>
        </p:nvSpPr>
        <p:spPr>
          <a:xfrm>
            <a:off x="328265" y="3568700"/>
            <a:ext cx="2542283" cy="4065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 lvl="0"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pPr>
            <a:endParaRPr/>
          </a:p>
        </p:txBody>
      </p:sp>
      <p:sp>
        <p:nvSpPr>
          <p:cNvPr id="282" name="Shape 282"/>
          <p:cNvSpPr/>
          <p:nvPr/>
        </p:nvSpPr>
        <p:spPr>
          <a:xfrm>
            <a:off x="215900" y="4119562"/>
            <a:ext cx="8830321" cy="215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342900" lvl="0" indent="-342900" algn="l">
              <a:spcBef>
                <a:spcPts val="900"/>
              </a:spcBef>
              <a:buSzPct val="100000"/>
              <a:buFont typeface="+mj-lt"/>
              <a:buAutoNum type="arabicParenR"/>
            </a:pPr>
            <a:r>
              <a:rPr lang="en-US" sz="1600" dirty="0"/>
              <a:t>A&amp;B </a:t>
            </a:r>
            <a:r>
              <a:rPr lang="en-US" sz="1600" dirty="0">
                <a:sym typeface="Wingdings" pitchFamily="2" charset="2"/>
              </a:rPr>
              <a:t></a:t>
            </a:r>
            <a:r>
              <a:rPr lang="en-US" sz="1600" dirty="0"/>
              <a:t> </a:t>
            </a:r>
            <a:r>
              <a:rPr sz="1600" dirty="0"/>
              <a:t>The </a:t>
            </a:r>
            <a:r>
              <a:rPr sz="1600" u="sng" dirty="0"/>
              <a:t>quantity</a:t>
            </a:r>
            <a:r>
              <a:rPr sz="1600" dirty="0"/>
              <a:t> being measured: “What?</a:t>
            </a:r>
            <a:r>
              <a:rPr lang="en-US" sz="1600" dirty="0"/>
              <a:t>”</a:t>
            </a:r>
            <a:endParaRPr sz="1600" dirty="0"/>
          </a:p>
          <a:p>
            <a:pPr marL="541421" lvl="1" indent="-160421" algn="l">
              <a:spcBef>
                <a:spcPts val="900"/>
              </a:spcBef>
              <a:buSzPct val="100000"/>
              <a:buChar char="•"/>
            </a:pPr>
            <a:r>
              <a:rPr sz="1600" dirty="0"/>
              <a:t>intrinsic tissue properties (e.g.</a:t>
            </a:r>
            <a:r>
              <a:rPr lang="en-US" sz="1600" dirty="0"/>
              <a:t>,</a:t>
            </a:r>
            <a:r>
              <a:rPr sz="1600" dirty="0"/>
              <a:t> longitudinal relaxation time: </a:t>
            </a:r>
            <a:r>
              <a:rPr lang="en-US" sz="1600" dirty="0"/>
              <a:t>'</a:t>
            </a:r>
            <a:r>
              <a:rPr sz="1600" dirty="0"/>
              <a:t>T1 contrast</a:t>
            </a:r>
            <a:r>
              <a:rPr lang="en-US" sz="1600" dirty="0"/>
              <a:t>'</a:t>
            </a:r>
            <a:r>
              <a:rPr sz="1600" dirty="0"/>
              <a:t>; Chapters 3&amp;4)</a:t>
            </a:r>
            <a:endParaRPr lang="en-US" sz="1600" dirty="0"/>
          </a:p>
          <a:p>
            <a:pPr marL="342900" lvl="0" indent="-342900" algn="l">
              <a:spcBef>
                <a:spcPts val="900"/>
              </a:spcBef>
              <a:buSzPct val="100000"/>
              <a:buFont typeface="+mj-lt"/>
              <a:buAutoNum type="arabicParenR"/>
            </a:pPr>
            <a:r>
              <a:rPr lang="en-US" sz="1600" dirty="0"/>
              <a:t>C&amp;D  </a:t>
            </a:r>
            <a:r>
              <a:rPr lang="en-US" sz="1600" dirty="0">
                <a:sym typeface="Wingdings" pitchFamily="2" charset="2"/>
              </a:rPr>
              <a:t> </a:t>
            </a:r>
            <a:r>
              <a:rPr lang="en-US" sz="1600" dirty="0"/>
              <a:t>An </a:t>
            </a:r>
            <a:r>
              <a:rPr lang="en-US" sz="1600" u="sng" dirty="0"/>
              <a:t>intensity difference</a:t>
            </a:r>
            <a:r>
              <a:rPr lang="en-US" sz="1600" dirty="0"/>
              <a:t> between quantities: “How much?”</a:t>
            </a:r>
          </a:p>
          <a:p>
            <a:pPr marL="541421" lvl="1" indent="-160421" algn="l">
              <a:spcBef>
                <a:spcPts val="900"/>
              </a:spcBef>
              <a:buSzPct val="100000"/>
              <a:buChar char="•"/>
            </a:pPr>
            <a:r>
              <a:rPr lang="en-US" sz="1600" dirty="0"/>
              <a:t>“high contrast” if sensitive to small differences (resulting in an overall large intensity range)</a:t>
            </a:r>
          </a:p>
          <a:p>
            <a:pPr marL="338138" lvl="0" indent="-338138" algn="l">
              <a:lnSpc>
                <a:spcPct val="50000"/>
              </a:lnSpc>
              <a:spcBef>
                <a:spcPts val="0"/>
              </a:spcBef>
            </a:pPr>
            <a:endParaRPr sz="1600" dirty="0"/>
          </a:p>
          <a:p>
            <a:pPr marL="338138" lvl="0" indent="-338138" algn="l">
              <a:spcBef>
                <a:spcPts val="900"/>
              </a:spcBef>
            </a:pPr>
            <a:r>
              <a:rPr sz="1600" dirty="0"/>
              <a:t>Contrast-to-noise ratio (CNR): The magnitude of the intensity difference between quantities </a:t>
            </a:r>
            <a:r>
              <a:rPr sz="1600" u="sng" dirty="0"/>
              <a:t>divided by</a:t>
            </a:r>
            <a:r>
              <a:rPr sz="1600" dirty="0"/>
              <a:t> (relative to) the overall variability in their measurements</a:t>
            </a:r>
          </a:p>
        </p:txBody>
      </p:sp>
      <p:sp>
        <p:nvSpPr>
          <p:cNvPr id="284" name="Shape 284"/>
          <p:cNvSpPr/>
          <p:nvPr/>
        </p:nvSpPr>
        <p:spPr>
          <a:xfrm>
            <a:off x="1137686" y="3515359"/>
            <a:ext cx="366228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t>T1</a:t>
            </a:r>
          </a:p>
        </p:txBody>
      </p:sp>
      <p:sp>
        <p:nvSpPr>
          <p:cNvPr id="285" name="Shape 285"/>
          <p:cNvSpPr/>
          <p:nvPr/>
        </p:nvSpPr>
        <p:spPr>
          <a:xfrm>
            <a:off x="3119923" y="3515359"/>
            <a:ext cx="366228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/>
          </a:lstStyle>
          <a:p>
            <a:pPr lvl="0"/>
            <a:r>
              <a:t>T2</a:t>
            </a:r>
          </a:p>
        </p:txBody>
      </p:sp>
      <p:sp>
        <p:nvSpPr>
          <p:cNvPr id="286" name="Shape 286"/>
          <p:cNvSpPr/>
          <p:nvPr/>
        </p:nvSpPr>
        <p:spPr>
          <a:xfrm>
            <a:off x="5285273" y="3488590"/>
            <a:ext cx="366228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/>
          </a:lstStyle>
          <a:p>
            <a:pPr lvl="0"/>
            <a:r>
              <a:t>T1</a:t>
            </a:r>
          </a:p>
        </p:txBody>
      </p:sp>
      <p:sp>
        <p:nvSpPr>
          <p:cNvPr id="287" name="Shape 287"/>
          <p:cNvSpPr/>
          <p:nvPr/>
        </p:nvSpPr>
        <p:spPr>
          <a:xfrm>
            <a:off x="7482373" y="3515359"/>
            <a:ext cx="366228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/>
          </a:lstStyle>
          <a:p>
            <a:pPr lvl="0"/>
            <a:r>
              <a:t>T1</a:t>
            </a:r>
          </a:p>
        </p:txBody>
      </p:sp>
      <p:sp>
        <p:nvSpPr>
          <p:cNvPr id="291" name="Shape 29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24</a:t>
            </a:fld>
            <a:endParaRPr sz="1200"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000" dirty="0">
                <a:solidFill>
                  <a:srgbClr val="000090"/>
                </a:solidFill>
              </a:rPr>
              <a:t>Contrast: </a:t>
            </a:r>
            <a:r>
              <a:rPr sz="4000" dirty="0">
                <a:solidFill>
                  <a:srgbClr val="000090"/>
                </a:solidFill>
              </a:rPr>
              <a:t>Functional Contrast</a:t>
            </a:r>
          </a:p>
        </p:txBody>
      </p:sp>
      <p:sp>
        <p:nvSpPr>
          <p:cNvPr id="294" name="Shape 294"/>
          <p:cNvSpPr/>
          <p:nvPr/>
        </p:nvSpPr>
        <p:spPr>
          <a:xfrm>
            <a:off x="986465" y="5693833"/>
            <a:ext cx="7103403" cy="103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lvl="0">
              <a:spcBef>
                <a:spcPts val="1200"/>
              </a:spcBef>
            </a:pPr>
            <a:r>
              <a:rPr sz="2000" dirty="0"/>
              <a:t>CNR is critical for fMRI: How </a:t>
            </a:r>
            <a:r>
              <a:rPr lang="en-US" sz="2000" dirty="0"/>
              <a:t>confidently</a:t>
            </a:r>
            <a:r>
              <a:rPr sz="2000" dirty="0"/>
              <a:t> can we decide whether a given brain region is (significantly)</a:t>
            </a:r>
            <a:r>
              <a:rPr lang="en-US" sz="2000" dirty="0"/>
              <a:t> ‘</a:t>
            </a:r>
            <a:r>
              <a:rPr sz="2000" dirty="0"/>
              <a:t>active</a:t>
            </a:r>
            <a:r>
              <a:rPr lang="en-US" sz="2000" dirty="0"/>
              <a:t>'</a:t>
            </a:r>
            <a:r>
              <a:rPr sz="2000" dirty="0"/>
              <a:t> or not?</a:t>
            </a:r>
          </a:p>
          <a:p>
            <a:pPr lvl="0">
              <a:spcBef>
                <a:spcPts val="600"/>
              </a:spcBef>
            </a:pPr>
            <a:r>
              <a:rPr sz="1600" dirty="0"/>
              <a:t>(unfortunately, CNR in fMRI is rather low…)</a:t>
            </a:r>
          </a:p>
        </p:txBody>
      </p:sp>
      <p:pic>
        <p:nvPicPr>
          <p:cNvPr id="295" name="image45.png" descr="Technote_Base"/>
          <p:cNvPicPr/>
          <p:nvPr/>
        </p:nvPicPr>
        <p:blipFill>
          <a:blip r:embed="rId3"/>
          <a:stretch>
            <a:fillRect/>
          </a:stretch>
        </p:blipFill>
        <p:spPr>
          <a:xfrm>
            <a:off x="3472878" y="1882267"/>
            <a:ext cx="2598738" cy="322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8" name="image46.png" descr="Technote_100"/>
          <p:cNvPicPr/>
          <p:nvPr/>
        </p:nvPicPr>
        <p:blipFill>
          <a:blip r:embed="rId4"/>
          <a:srcRect l="4857" t="3458" r="2428" b="3458"/>
          <a:stretch>
            <a:fillRect/>
          </a:stretch>
        </p:blipFill>
        <p:spPr>
          <a:xfrm>
            <a:off x="3864990" y="3692017"/>
            <a:ext cx="1744665" cy="1230313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Shape 301"/>
          <p:cNvSpPr/>
          <p:nvPr/>
        </p:nvSpPr>
        <p:spPr>
          <a:xfrm>
            <a:off x="361234" y="949960"/>
            <a:ext cx="8421534" cy="774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rPr lang="en-US" dirty="0"/>
              <a:t>3)  In fMRI, a</a:t>
            </a:r>
            <a:r>
              <a:rPr dirty="0"/>
              <a:t> </a:t>
            </a:r>
            <a:r>
              <a:rPr u="sng" dirty="0"/>
              <a:t>statistical comparison</a:t>
            </a:r>
            <a:r>
              <a:rPr dirty="0"/>
              <a:t> between two (or more) experimental conditions.</a:t>
            </a:r>
          </a:p>
          <a:p>
            <a:pPr lvl="0"/>
            <a:r>
              <a:rPr lang="en-US" dirty="0">
                <a:sym typeface="Wingdings"/>
              </a:rPr>
              <a:t> </a:t>
            </a:r>
            <a:r>
              <a:rPr dirty="0"/>
              <a:t>Is there a statistically significant difference?</a:t>
            </a:r>
          </a:p>
        </p:txBody>
      </p:sp>
      <p:sp>
        <p:nvSpPr>
          <p:cNvPr id="303" name="Shape 3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25</a:t>
            </a:fld>
            <a:endParaRPr sz="12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2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Contrast &amp; Resolution</a:t>
            </a:r>
          </a:p>
        </p:txBody>
      </p:sp>
      <p:sp>
        <p:nvSpPr>
          <p:cNvPr id="267" name="Shape 26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 dirty="0"/>
              <a:t>Contrast</a:t>
            </a:r>
          </a:p>
          <a:p>
            <a:pPr lvl="1">
              <a:defRPr sz="1800"/>
            </a:pPr>
            <a:r>
              <a:rPr sz="2600" dirty="0"/>
              <a:t>anatomical contrast</a:t>
            </a:r>
          </a:p>
          <a:p>
            <a:pPr lvl="1">
              <a:defRPr sz="1800"/>
            </a:pPr>
            <a:r>
              <a:rPr sz="2600" dirty="0"/>
              <a:t>functional contrast</a:t>
            </a:r>
          </a:p>
          <a:p>
            <a:pPr lvl="1">
              <a:defRPr sz="1800"/>
            </a:pPr>
            <a:endParaRPr sz="2600" dirty="0"/>
          </a:p>
          <a:p>
            <a:pPr lvl="0">
              <a:defRPr sz="1800"/>
            </a:pPr>
            <a:r>
              <a:rPr sz="3200" b="1" dirty="0"/>
              <a:t>Resolution</a:t>
            </a:r>
          </a:p>
          <a:p>
            <a:pPr lvl="1">
              <a:defRPr sz="1800"/>
            </a:pPr>
            <a:r>
              <a:rPr sz="2600" dirty="0"/>
              <a:t>spatial resolution</a:t>
            </a:r>
          </a:p>
          <a:p>
            <a:pPr lvl="1">
              <a:defRPr sz="1800"/>
            </a:pPr>
            <a:r>
              <a:rPr sz="2600" dirty="0"/>
              <a:t>temporal resolution</a:t>
            </a:r>
          </a:p>
          <a:p>
            <a:pPr lvl="1">
              <a:defRPr sz="1800"/>
            </a:pPr>
            <a:r>
              <a:rPr sz="2600" dirty="0"/>
              <a:t>functional resolution</a:t>
            </a:r>
          </a:p>
        </p:txBody>
      </p:sp>
      <p:sp>
        <p:nvSpPr>
          <p:cNvPr id="268" name="Shape 2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26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8502294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000" dirty="0">
                <a:solidFill>
                  <a:srgbClr val="000090"/>
                </a:solidFill>
              </a:rPr>
              <a:t>Resolution: </a:t>
            </a:r>
            <a:r>
              <a:rPr sz="4000" dirty="0">
                <a:solidFill>
                  <a:srgbClr val="000090"/>
                </a:solidFill>
              </a:rPr>
              <a:t>Spatial Resolution</a:t>
            </a:r>
          </a:p>
        </p:txBody>
      </p:sp>
      <p:sp>
        <p:nvSpPr>
          <p:cNvPr id="311" name="Shape 311"/>
          <p:cNvSpPr/>
          <p:nvPr/>
        </p:nvSpPr>
        <p:spPr>
          <a:xfrm>
            <a:off x="79409" y="5384201"/>
            <a:ext cx="8986507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lvl="0" algn="l">
              <a:spcBef>
                <a:spcPts val="900"/>
              </a:spcBef>
            </a:pPr>
            <a:r>
              <a:rPr sz="1600" b="1" u="sng" dirty="0"/>
              <a:t>Voxel</a:t>
            </a:r>
            <a:r>
              <a:rPr sz="1600" u="sng" dirty="0"/>
              <a:t> (3-D volume element)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: A small rectangular prism that is the basic sampling unit of 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f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MRI.</a:t>
            </a:r>
            <a:endParaRPr lang="en-US"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l">
              <a:spcBef>
                <a:spcPts val="900"/>
              </a:spcBef>
            </a:pP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Typical anatomical 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(MRI) 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voxel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 edge size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0.5-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1 mm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 (e.g., 1 mm X 1 mm X 1mm voxel).</a:t>
            </a:r>
          </a:p>
          <a:p>
            <a:pPr lvl="0" algn="l">
              <a:spcBef>
                <a:spcPts val="900"/>
              </a:spcBef>
            </a:pP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Typical functional 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(fMRI) 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voxel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 edge size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2-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4 mm. </a:t>
            </a:r>
          </a:p>
        </p:txBody>
      </p:sp>
      <p:sp>
        <p:nvSpPr>
          <p:cNvPr id="312" name="Shape 3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27</a:t>
            </a:fld>
            <a:endParaRPr sz="1200"/>
          </a:p>
        </p:txBody>
      </p:sp>
      <p:sp>
        <p:nvSpPr>
          <p:cNvPr id="2" name="TextBox 1"/>
          <p:cNvSpPr txBox="1"/>
          <p:nvPr/>
        </p:nvSpPr>
        <p:spPr>
          <a:xfrm>
            <a:off x="3949956" y="891894"/>
            <a:ext cx="1244089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rtl="0" latinLnBrk="1" hangingPunct="0"/>
            <a:r>
              <a:rPr lang="en-US" sz="3200" dirty="0">
                <a:solidFill>
                  <a:srgbClr val="000090"/>
                </a:solidFill>
              </a:rPr>
              <a:t>Voxels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mbr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816100"/>
            <a:ext cx="2794000" cy="322580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9265480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000" dirty="0">
                <a:solidFill>
                  <a:srgbClr val="000090"/>
                </a:solidFill>
              </a:rPr>
              <a:t>Resolution: </a:t>
            </a:r>
            <a:r>
              <a:rPr sz="4000" dirty="0">
                <a:solidFill>
                  <a:srgbClr val="000090"/>
                </a:solidFill>
              </a:rPr>
              <a:t>Spatial Resolution</a:t>
            </a:r>
          </a:p>
        </p:txBody>
      </p:sp>
      <p:pic>
        <p:nvPicPr>
          <p:cNvPr id="306" name="image48.png" descr="act6"/>
          <p:cNvPicPr>
            <a:picLocks noChangeAspect="1"/>
          </p:cNvPicPr>
          <p:nvPr/>
        </p:nvPicPr>
        <p:blipFill>
          <a:blip r:embed="rId2"/>
          <a:srcRect l="16649" t="6750" r="4163"/>
          <a:stretch>
            <a:fillRect/>
          </a:stretch>
        </p:blipFill>
        <p:spPr>
          <a:xfrm>
            <a:off x="1150171" y="1774116"/>
            <a:ext cx="3155774" cy="3441151"/>
          </a:xfrm>
          <a:prstGeom prst="rect">
            <a:avLst/>
          </a:prstGeom>
          <a:ln w="12700">
            <a:miter lim="400000"/>
          </a:ln>
        </p:spPr>
      </p:pic>
      <p:sp>
        <p:nvSpPr>
          <p:cNvPr id="307" name="Shape 307"/>
          <p:cNvSpPr/>
          <p:nvPr/>
        </p:nvSpPr>
        <p:spPr>
          <a:xfrm>
            <a:off x="1721224" y="2517289"/>
            <a:ext cx="602432" cy="656217"/>
          </a:xfrm>
          <a:prstGeom prst="rect">
            <a:avLst/>
          </a:prstGeom>
          <a:ln w="38100">
            <a:solidFill>
              <a:srgbClr val="FF00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pPr>
            <a:endParaRPr/>
          </a:p>
        </p:txBody>
      </p:sp>
      <p:grpSp>
        <p:nvGrpSpPr>
          <p:cNvPr id="310" name="Group 310"/>
          <p:cNvGrpSpPr>
            <a:grpSpLocks noChangeAspect="1"/>
          </p:cNvGrpSpPr>
          <p:nvPr/>
        </p:nvGrpSpPr>
        <p:grpSpPr>
          <a:xfrm>
            <a:off x="4835525" y="1789112"/>
            <a:ext cx="3398065" cy="3448099"/>
            <a:chOff x="0" y="0"/>
            <a:chExt cx="3881437" cy="3938587"/>
          </a:xfrm>
        </p:grpSpPr>
        <p:pic>
          <p:nvPicPr>
            <p:cNvPr id="308" name="image49.png"/>
            <p:cNvPicPr/>
            <p:nvPr/>
          </p:nvPicPr>
          <p:blipFill>
            <a:blip r:embed="rId3"/>
            <a:srcRect b="46032"/>
            <a:stretch>
              <a:fillRect/>
            </a:stretch>
          </p:blipFill>
          <p:spPr>
            <a:xfrm>
              <a:off x="0" y="22225"/>
              <a:ext cx="3881438" cy="39163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9" name="Shape 309"/>
            <p:cNvSpPr/>
            <p:nvPr/>
          </p:nvSpPr>
          <p:spPr>
            <a:xfrm>
              <a:off x="7937" y="-1"/>
              <a:ext cx="3862389" cy="3930651"/>
            </a:xfrm>
            <a:prstGeom prst="rect">
              <a:avLst/>
            </a:prstGeom>
            <a:noFill/>
            <a:ln w="38100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Trebuchet MS Bold"/>
                  <a:ea typeface="Trebuchet MS Bold"/>
                  <a:cs typeface="Trebuchet MS Bold"/>
                  <a:sym typeface="Trebuchet MS Bold"/>
                </a:defRPr>
              </a:pPr>
              <a:endParaRPr/>
            </a:p>
          </p:txBody>
        </p:sp>
      </p:grpSp>
      <p:sp>
        <p:nvSpPr>
          <p:cNvPr id="312" name="Shape 3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28</a:t>
            </a:fld>
            <a:endParaRPr sz="1200"/>
          </a:p>
        </p:txBody>
      </p:sp>
      <p:sp>
        <p:nvSpPr>
          <p:cNvPr id="2" name="TextBox 1"/>
          <p:cNvSpPr txBox="1"/>
          <p:nvPr/>
        </p:nvSpPr>
        <p:spPr>
          <a:xfrm>
            <a:off x="3949956" y="891894"/>
            <a:ext cx="1244089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rtl="0" latinLnBrk="1" hangingPunct="0"/>
            <a:r>
              <a:rPr lang="en-US" sz="3200" dirty="0">
                <a:solidFill>
                  <a:srgbClr val="000090"/>
                </a:solidFill>
              </a:rPr>
              <a:t>Voxels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mbria"/>
            </a:endParaRPr>
          </a:p>
        </p:txBody>
      </p:sp>
      <p:sp>
        <p:nvSpPr>
          <p:cNvPr id="4" name="Shape 311">
            <a:extLst>
              <a:ext uri="{FF2B5EF4-FFF2-40B4-BE49-F238E27FC236}">
                <a16:creationId xmlns:a16="http://schemas.microsoft.com/office/drawing/2014/main" id="{49664922-DD3C-AD7F-4C60-B06991F7A1FC}"/>
              </a:ext>
            </a:extLst>
          </p:cNvPr>
          <p:cNvSpPr/>
          <p:nvPr/>
        </p:nvSpPr>
        <p:spPr>
          <a:xfrm>
            <a:off x="79409" y="5384201"/>
            <a:ext cx="8986507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lvl="0" algn="l">
              <a:spcBef>
                <a:spcPts val="900"/>
              </a:spcBef>
            </a:pPr>
            <a:r>
              <a:rPr sz="1600" b="1" u="sng" dirty="0"/>
              <a:t>Voxel</a:t>
            </a:r>
            <a:r>
              <a:rPr sz="1600" u="sng" dirty="0"/>
              <a:t> (3-D volume element)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: A small rectangular prism that is the basic sampling unit of 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f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MRI.</a:t>
            </a:r>
            <a:endParaRPr lang="en-US"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l">
              <a:spcBef>
                <a:spcPts val="900"/>
              </a:spcBef>
            </a:pP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Typical anatomical 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(MRI) 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voxel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 edge size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0.5-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1 mm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 (e.g., 1 mm X 1 mm X 1mm voxel)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lang="en-US"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lvl="0" algn="l">
              <a:spcBef>
                <a:spcPts val="900"/>
              </a:spcBef>
            </a:pP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Typical functional 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(fMRI) 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voxel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 edge size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-US" sz="1600" dirty="0">
                <a:latin typeface="Trebuchet MS"/>
                <a:ea typeface="Trebuchet MS"/>
                <a:cs typeface="Trebuchet MS"/>
                <a:sym typeface="Trebuchet MS"/>
              </a:rPr>
              <a:t>2-</a:t>
            </a:r>
            <a:r>
              <a:rPr sz="1600" dirty="0">
                <a:latin typeface="Trebuchet MS"/>
                <a:ea typeface="Trebuchet MS"/>
                <a:cs typeface="Trebuchet MS"/>
                <a:sym typeface="Trebuchet MS"/>
              </a:rPr>
              <a:t>4 mm.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609C9A-EDEF-6D2E-F98D-E0475A910F6D}"/>
              </a:ext>
            </a:extLst>
          </p:cNvPr>
          <p:cNvSpPr txBox="1"/>
          <p:nvPr/>
        </p:nvSpPr>
        <p:spPr>
          <a:xfrm>
            <a:off x="3689066" y="1281812"/>
            <a:ext cx="1765867" cy="49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mbria"/>
                <a:ea typeface="Cambria"/>
                <a:cs typeface="Cambria"/>
                <a:sym typeface="Cambria"/>
              </a:rPr>
              <a:t>(in 2D rendition)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" grpId="1" animBg="1" advAuto="0"/>
      <p:bldP spid="310" grpId="2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 dirty="0">
                <a:solidFill>
                  <a:srgbClr val="000090"/>
                </a:solidFill>
              </a:rPr>
              <a:t>Spatial Resolution: </a:t>
            </a:r>
            <a:r>
              <a:rPr lang="en-US" sz="4000" dirty="0">
                <a:solidFill>
                  <a:srgbClr val="000090"/>
                </a:solidFill>
              </a:rPr>
              <a:t>2D </a:t>
            </a:r>
            <a:r>
              <a:rPr sz="4000" dirty="0">
                <a:solidFill>
                  <a:srgbClr val="000090"/>
                </a:solidFill>
              </a:rPr>
              <a:t>Examples</a:t>
            </a:r>
          </a:p>
        </p:txBody>
      </p:sp>
      <p:grpSp>
        <p:nvGrpSpPr>
          <p:cNvPr id="317" name="Group 317"/>
          <p:cNvGrpSpPr/>
          <p:nvPr/>
        </p:nvGrpSpPr>
        <p:grpSpPr>
          <a:xfrm>
            <a:off x="440350" y="990600"/>
            <a:ext cx="2279040" cy="2746176"/>
            <a:chOff x="59350" y="0"/>
            <a:chExt cx="2279039" cy="2746175"/>
          </a:xfrm>
        </p:grpSpPr>
        <p:pic>
          <p:nvPicPr>
            <p:cNvPr id="315" name="image50.png" descr="desampled_32by32"/>
            <p:cNvPicPr/>
            <p:nvPr/>
          </p:nvPicPr>
          <p:blipFill>
            <a:blip r:embed="rId2"/>
            <a:srcRect l="14064" t="8438" r="16877" b="8438"/>
            <a:stretch>
              <a:fillRect/>
            </a:stretch>
          </p:blipFill>
          <p:spPr>
            <a:xfrm>
              <a:off x="95250" y="0"/>
              <a:ext cx="2243139" cy="27003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6" name="Shape 316"/>
            <p:cNvSpPr/>
            <p:nvPr/>
          </p:nvSpPr>
          <p:spPr>
            <a:xfrm>
              <a:off x="59350" y="2438400"/>
              <a:ext cx="1066800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0" algn="l">
                <a:spcBef>
                  <a:spcPts val="800"/>
                </a:spcBef>
              </a:pPr>
              <a:r>
                <a:rPr sz="1400" dirty="0">
                  <a:solidFill>
                    <a:srgbClr val="FFFFFF"/>
                  </a:solidFill>
                  <a:effectLst>
                    <a:outerShdw blurRad="38100" dist="38100" dir="2700000" rotWithShape="0">
                      <a:srgbClr val="000000"/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rPr>
                <a:t>8mm</a:t>
              </a:r>
              <a:endParaRPr sz="1400" baseline="30000" dirty="0">
                <a:solidFill>
                  <a:srgbClr val="FFFFFF"/>
                </a:solidFill>
                <a:effectLst>
                  <a:outerShdw blurRad="38100" dist="38100" dir="2700000" rotWithShape="0">
                    <a:srgbClr val="000000"/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20" name="Group 320"/>
          <p:cNvGrpSpPr/>
          <p:nvPr/>
        </p:nvGrpSpPr>
        <p:grpSpPr>
          <a:xfrm>
            <a:off x="3412150" y="990600"/>
            <a:ext cx="2279040" cy="2746176"/>
            <a:chOff x="59350" y="0"/>
            <a:chExt cx="2279039" cy="2746175"/>
          </a:xfrm>
        </p:grpSpPr>
        <p:pic>
          <p:nvPicPr>
            <p:cNvPr id="318" name="image51.png" descr="desampled_64by64"/>
            <p:cNvPicPr/>
            <p:nvPr/>
          </p:nvPicPr>
          <p:blipFill>
            <a:blip r:embed="rId3"/>
            <a:srcRect l="14064" t="8438" r="16877" b="8438"/>
            <a:stretch>
              <a:fillRect/>
            </a:stretch>
          </p:blipFill>
          <p:spPr>
            <a:xfrm>
              <a:off x="95250" y="0"/>
              <a:ext cx="2243139" cy="27003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9" name="Shape 319"/>
            <p:cNvSpPr/>
            <p:nvPr/>
          </p:nvSpPr>
          <p:spPr>
            <a:xfrm>
              <a:off x="59350" y="2438400"/>
              <a:ext cx="1066800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0" algn="l">
                <a:spcBef>
                  <a:spcPts val="800"/>
                </a:spcBef>
              </a:pPr>
              <a:r>
                <a:rPr sz="1400" dirty="0">
                  <a:solidFill>
                    <a:srgbClr val="FFFFFF"/>
                  </a:solidFill>
                  <a:effectLst>
                    <a:outerShdw blurRad="38100" dist="38100" dir="2700000" rotWithShape="0">
                      <a:srgbClr val="000000"/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rPr>
                <a:t>4mm</a:t>
              </a:r>
              <a:endParaRPr sz="1400" baseline="30000" dirty="0">
                <a:solidFill>
                  <a:srgbClr val="FFFFFF"/>
                </a:solidFill>
                <a:effectLst>
                  <a:outerShdw blurRad="38100" dist="38100" dir="2700000" rotWithShape="0">
                    <a:srgbClr val="000000"/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23" name="Group 323"/>
          <p:cNvGrpSpPr/>
          <p:nvPr/>
        </p:nvGrpSpPr>
        <p:grpSpPr>
          <a:xfrm>
            <a:off x="6400800" y="990600"/>
            <a:ext cx="2262190" cy="2746176"/>
            <a:chOff x="0" y="0"/>
            <a:chExt cx="2262189" cy="2746175"/>
          </a:xfrm>
        </p:grpSpPr>
        <p:pic>
          <p:nvPicPr>
            <p:cNvPr id="321" name="image52.png" descr="desampled_128by128"/>
            <p:cNvPicPr/>
            <p:nvPr/>
          </p:nvPicPr>
          <p:blipFill>
            <a:blip r:embed="rId4"/>
            <a:srcRect l="14064" t="8438" r="16877" b="8438"/>
            <a:stretch>
              <a:fillRect/>
            </a:stretch>
          </p:blipFill>
          <p:spPr>
            <a:xfrm>
              <a:off x="19050" y="0"/>
              <a:ext cx="2243139" cy="27003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2" name="Shape 322"/>
            <p:cNvSpPr/>
            <p:nvPr/>
          </p:nvSpPr>
          <p:spPr>
            <a:xfrm>
              <a:off x="0" y="2438400"/>
              <a:ext cx="1066800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0" algn="l">
                <a:spcBef>
                  <a:spcPts val="800"/>
                </a:spcBef>
              </a:pPr>
              <a:r>
                <a:rPr sz="1400" dirty="0">
                  <a:solidFill>
                    <a:srgbClr val="FFFFFF"/>
                  </a:solidFill>
                  <a:effectLst>
                    <a:outerShdw blurRad="38100" dist="38100" dir="2700000" rotWithShape="0">
                      <a:srgbClr val="000000"/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rPr>
                <a:t>2mm</a:t>
              </a:r>
              <a:endParaRPr sz="1400" baseline="30000" dirty="0">
                <a:solidFill>
                  <a:srgbClr val="FFFFFF"/>
                </a:solidFill>
                <a:effectLst>
                  <a:outerShdw blurRad="38100" dist="38100" dir="2700000" rotWithShape="0">
                    <a:srgbClr val="000000"/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26" name="Group 326"/>
          <p:cNvGrpSpPr/>
          <p:nvPr/>
        </p:nvGrpSpPr>
        <p:grpSpPr>
          <a:xfrm>
            <a:off x="1905000" y="3694111"/>
            <a:ext cx="2292351" cy="2709664"/>
            <a:chOff x="0" y="-1"/>
            <a:chExt cx="2292350" cy="2709662"/>
          </a:xfrm>
        </p:grpSpPr>
        <p:pic>
          <p:nvPicPr>
            <p:cNvPr id="324" name="image53.png" descr="desampled_171by171"/>
            <p:cNvPicPr/>
            <p:nvPr/>
          </p:nvPicPr>
          <p:blipFill>
            <a:blip r:embed="rId5"/>
            <a:srcRect l="14037" t="8423" r="16844" b="8423"/>
            <a:stretch>
              <a:fillRect/>
            </a:stretch>
          </p:blipFill>
          <p:spPr>
            <a:xfrm>
              <a:off x="42862" y="-1"/>
              <a:ext cx="2249488" cy="27066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5" name="Shape 325"/>
            <p:cNvSpPr/>
            <p:nvPr/>
          </p:nvSpPr>
          <p:spPr>
            <a:xfrm>
              <a:off x="0" y="2401886"/>
              <a:ext cx="1066800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0" algn="l">
                <a:spcBef>
                  <a:spcPts val="800"/>
                </a:spcBef>
              </a:pPr>
              <a:r>
                <a:rPr lang="en-US" sz="1400" dirty="0">
                  <a:solidFill>
                    <a:srgbClr val="FFFFFF"/>
                  </a:solidFill>
                  <a:effectLst>
                    <a:outerShdw blurRad="38100" dist="38100" dir="2700000" rotWithShape="0">
                      <a:srgbClr val="000000"/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  <a:r>
                <a:rPr sz="1400" dirty="0">
                  <a:solidFill>
                    <a:srgbClr val="FFFFFF"/>
                  </a:solidFill>
                  <a:effectLst>
                    <a:outerShdw blurRad="38100" dist="38100" dir="2700000" rotWithShape="0">
                      <a:srgbClr val="000000"/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rPr>
                <a:t>.5mm</a:t>
              </a:r>
              <a:endParaRPr sz="1400" baseline="30000" dirty="0">
                <a:solidFill>
                  <a:srgbClr val="FFFFFF"/>
                </a:solidFill>
                <a:effectLst>
                  <a:outerShdw blurRad="38100" dist="38100" dir="2700000" rotWithShape="0">
                    <a:srgbClr val="000000"/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29" name="Group 329"/>
          <p:cNvGrpSpPr/>
          <p:nvPr/>
        </p:nvGrpSpPr>
        <p:grpSpPr>
          <a:xfrm>
            <a:off x="4876800" y="3697287"/>
            <a:ext cx="2286001" cy="2706488"/>
            <a:chOff x="0" y="0"/>
            <a:chExt cx="2286000" cy="2706486"/>
          </a:xfrm>
        </p:grpSpPr>
        <p:pic>
          <p:nvPicPr>
            <p:cNvPr id="327" name="image54.png" descr="desampled_256by256"/>
            <p:cNvPicPr/>
            <p:nvPr/>
          </p:nvPicPr>
          <p:blipFill>
            <a:blip r:embed="rId6"/>
            <a:srcRect l="14064" t="8438" r="16878" b="8438"/>
            <a:stretch>
              <a:fillRect/>
            </a:stretch>
          </p:blipFill>
          <p:spPr>
            <a:xfrm>
              <a:off x="42862" y="0"/>
              <a:ext cx="2243138" cy="27003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8" name="Shape 328"/>
            <p:cNvSpPr/>
            <p:nvPr/>
          </p:nvSpPr>
          <p:spPr>
            <a:xfrm>
              <a:off x="0" y="2398711"/>
              <a:ext cx="1066800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0" algn="l">
                <a:spcBef>
                  <a:spcPts val="800"/>
                </a:spcBef>
              </a:pPr>
              <a:r>
                <a:rPr sz="1400" dirty="0">
                  <a:solidFill>
                    <a:srgbClr val="FFFFFF"/>
                  </a:solidFill>
                  <a:effectLst>
                    <a:outerShdw blurRad="38100" dist="38100" dir="2700000" rotWithShape="0">
                      <a:srgbClr val="000000"/>
                    </a:outerShdw>
                  </a:effectLst>
                  <a:latin typeface="Trebuchet MS"/>
                  <a:ea typeface="Trebuchet MS"/>
                  <a:cs typeface="Trebuchet MS"/>
                  <a:sym typeface="Trebuchet MS"/>
                </a:rPr>
                <a:t>1mm</a:t>
              </a:r>
              <a:endParaRPr sz="1400" baseline="30000" dirty="0">
                <a:solidFill>
                  <a:srgbClr val="FFFFFF"/>
                </a:solidFill>
                <a:effectLst>
                  <a:outerShdw blurRad="38100" dist="38100" dir="2700000" rotWithShape="0">
                    <a:srgbClr val="000000"/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330" name="Shape 33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29</a:t>
            </a:fld>
            <a:endParaRPr sz="1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23274E-4763-3361-A20E-A980A2697E22}"/>
              </a:ext>
            </a:extLst>
          </p:cNvPr>
          <p:cNvSpPr txBox="1"/>
          <p:nvPr/>
        </p:nvSpPr>
        <p:spPr>
          <a:xfrm>
            <a:off x="1348607" y="6294594"/>
            <a:ext cx="6260687" cy="497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mbria"/>
                <a:ea typeface="Cambria"/>
                <a:cs typeface="Cambria"/>
                <a:sym typeface="Wingdings" pitchFamily="2" charset="2"/>
              </a:rPr>
              <a:t>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mbria"/>
                <a:ea typeface="Cambria"/>
                <a:cs typeface="Cambria"/>
                <a:sym typeface="Cambria"/>
              </a:rPr>
              <a:t>The smaller the voxels, the higher the anatomical resolution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2" animBg="1" advAuto="0"/>
      <p:bldP spid="323" grpId="3" animBg="1" advAuto="0"/>
      <p:bldP spid="326" grpId="4" animBg="1" advAuto="0"/>
      <p:bldP spid="329" grpId="5" animBg="1" advAuto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000" dirty="0">
                <a:solidFill>
                  <a:srgbClr val="000090"/>
                </a:solidFill>
              </a:rPr>
              <a:t>Resolution: </a:t>
            </a:r>
            <a:r>
              <a:rPr sz="4000" dirty="0">
                <a:solidFill>
                  <a:srgbClr val="000090"/>
                </a:solidFill>
              </a:rPr>
              <a:t>Temporal Resolution</a:t>
            </a:r>
          </a:p>
        </p:txBody>
      </p:sp>
      <p:sp>
        <p:nvSpPr>
          <p:cNvPr id="333" name="Shape 33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60684" lvl="0" indent="-260684">
              <a:lnSpc>
                <a:spcPct val="90000"/>
              </a:lnSpc>
              <a:defRPr sz="1800"/>
            </a:pPr>
            <a:r>
              <a:rPr sz="2600" dirty="0"/>
              <a:t>Determining factors</a:t>
            </a:r>
            <a:r>
              <a:rPr lang="en-US" sz="2600" dirty="0"/>
              <a:t>:</a:t>
            </a:r>
            <a:endParaRPr sz="2600" dirty="0"/>
          </a:p>
          <a:p>
            <a:pPr marL="621631" lvl="1" indent="-240631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 dirty="0"/>
              <a:t>Sampling rate</a:t>
            </a:r>
            <a:r>
              <a:rPr lang="en-US" sz="2400" dirty="0"/>
              <a:t> –</a:t>
            </a:r>
            <a:r>
              <a:rPr sz="2400" dirty="0"/>
              <a:t> usually repetition time (TR)</a:t>
            </a:r>
          </a:p>
          <a:p>
            <a:pPr marL="621631" lvl="1" indent="-240631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 dirty="0"/>
              <a:t>Dependent variable</a:t>
            </a:r>
            <a:r>
              <a:rPr lang="en-US" sz="2400" dirty="0"/>
              <a:t> –</a:t>
            </a:r>
            <a:r>
              <a:rPr sz="2400" dirty="0"/>
              <a:t> usually BOLD response</a:t>
            </a:r>
          </a:p>
          <a:p>
            <a:pPr marL="962526" lvl="2" indent="-200526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000" dirty="0"/>
              <a:t>BOLD response is sluggish, taking </a:t>
            </a:r>
            <a:r>
              <a:rPr lang="en-US" sz="2000" dirty="0"/>
              <a:t>1</a:t>
            </a:r>
            <a:r>
              <a:rPr sz="2000" dirty="0"/>
              <a:t>-3 seconds to rise above baseline and 4-6 seconds to peak</a:t>
            </a:r>
            <a:endParaRPr sz="2100" dirty="0"/>
          </a:p>
          <a:p>
            <a:pPr marL="621631" lvl="1" indent="-240631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 dirty="0"/>
              <a:t>Experimental design</a:t>
            </a:r>
          </a:p>
          <a:p>
            <a:pPr marL="621631" lvl="1" indent="-240631">
              <a:lnSpc>
                <a:spcPct val="90000"/>
              </a:lnSpc>
              <a:spcBef>
                <a:spcPts val="500"/>
              </a:spcBef>
              <a:defRPr sz="1800"/>
            </a:pPr>
            <a:endParaRPr sz="2600" dirty="0"/>
          </a:p>
          <a:p>
            <a:pPr marL="260684" lvl="0" indent="-260684">
              <a:lnSpc>
                <a:spcPct val="90000"/>
              </a:lnSpc>
              <a:defRPr sz="1800"/>
            </a:pPr>
            <a:r>
              <a:rPr sz="2600" dirty="0"/>
              <a:t>M</a:t>
            </a:r>
            <a:r>
              <a:rPr lang="en-US" sz="2600" dirty="0"/>
              <a:t>any</a:t>
            </a:r>
            <a:r>
              <a:rPr sz="2600" dirty="0"/>
              <a:t> fMRI studies have</a:t>
            </a:r>
            <a:r>
              <a:rPr lang="en-US" sz="2600" dirty="0"/>
              <a:t> an effective</a:t>
            </a:r>
            <a:r>
              <a:rPr sz="2600" dirty="0"/>
              <a:t> temporal resolution on the order of </a:t>
            </a:r>
            <a:r>
              <a:rPr lang="en-US" sz="2600" dirty="0"/>
              <a:t>~1-3</a:t>
            </a:r>
            <a:r>
              <a:rPr sz="2600" dirty="0"/>
              <a:t> seconds (</a:t>
            </a:r>
            <a:r>
              <a:rPr lang="en-US" sz="2600" i="1" dirty="0"/>
              <a:t>sic</a:t>
            </a:r>
            <a:r>
              <a:rPr sz="2600" dirty="0"/>
              <a:t>!)</a:t>
            </a:r>
          </a:p>
          <a:p>
            <a:pPr marL="641684" lvl="1" indent="-260684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600" dirty="0"/>
              <a:t>w</a:t>
            </a:r>
            <a:r>
              <a:rPr sz="2400" dirty="0"/>
              <a:t>ith specialized designs and data acquisition, this can </a:t>
            </a:r>
            <a:r>
              <a:rPr lang="en-US" sz="2400" dirty="0"/>
              <a:t>in some cases </a:t>
            </a:r>
            <a:r>
              <a:rPr sz="2400" dirty="0"/>
              <a:t>be improved to </a:t>
            </a:r>
            <a:r>
              <a:rPr lang="en-US" sz="2400" dirty="0"/>
              <a:t>a few </a:t>
            </a:r>
            <a:r>
              <a:rPr sz="2400" dirty="0"/>
              <a:t>100ms</a:t>
            </a:r>
            <a:r>
              <a:rPr lang="en-US" sz="2400" dirty="0"/>
              <a:t> (very rare…)</a:t>
            </a:r>
            <a:endParaRPr sz="2400" dirty="0"/>
          </a:p>
        </p:txBody>
      </p:sp>
      <p:sp>
        <p:nvSpPr>
          <p:cNvPr id="334" name="Shape 33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30</a:t>
            </a:fld>
            <a:endParaRPr sz="1200"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MRI3e-Fig-01-08-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72156"/>
            <a:ext cx="8534400" cy="4687824"/>
          </a:xfrm>
          <a:prstGeom prst="rect">
            <a:avLst/>
          </a:prstGeom>
        </p:spPr>
      </p:pic>
      <p:sp>
        <p:nvSpPr>
          <p:cNvPr id="336" name="Shape 3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Resolution: Comparison</a:t>
            </a:r>
          </a:p>
        </p:txBody>
      </p:sp>
      <p:sp>
        <p:nvSpPr>
          <p:cNvPr id="338" name="Shape 338"/>
          <p:cNvSpPr/>
          <p:nvPr/>
        </p:nvSpPr>
        <p:spPr>
          <a:xfrm>
            <a:off x="280005" y="5956300"/>
            <a:ext cx="2542283" cy="4065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 lvl="0"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pPr>
            <a:endParaRPr/>
          </a:p>
        </p:txBody>
      </p:sp>
      <p:sp>
        <p:nvSpPr>
          <p:cNvPr id="341" name="Shape 3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31</a:t>
            </a:fld>
            <a:endParaRPr sz="1200"/>
          </a:p>
        </p:txBody>
      </p:sp>
      <p:sp>
        <p:nvSpPr>
          <p:cNvPr id="339" name="Shape 339"/>
          <p:cNvSpPr/>
          <p:nvPr/>
        </p:nvSpPr>
        <p:spPr>
          <a:xfrm>
            <a:off x="3549663" y="5980529"/>
            <a:ext cx="2044674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rPr dirty="0"/>
              <a:t>temporal resolution</a:t>
            </a:r>
          </a:p>
        </p:txBody>
      </p:sp>
      <p:sp>
        <p:nvSpPr>
          <p:cNvPr id="340" name="Shape 340"/>
          <p:cNvSpPr/>
          <p:nvPr/>
        </p:nvSpPr>
        <p:spPr>
          <a:xfrm rot="16200000">
            <a:off x="-651173" y="3752781"/>
            <a:ext cx="172222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/>
          </a:lstStyle>
          <a:p>
            <a:pPr lvl="0" algn="ctr"/>
            <a:r>
              <a:rPr dirty="0"/>
              <a:t>spatial resolution</a:t>
            </a:r>
          </a:p>
        </p:txBody>
      </p:sp>
      <p:sp>
        <p:nvSpPr>
          <p:cNvPr id="8" name="Shape 340"/>
          <p:cNvSpPr/>
          <p:nvPr/>
        </p:nvSpPr>
        <p:spPr>
          <a:xfrm rot="5400000">
            <a:off x="7882621" y="3752781"/>
            <a:ext cx="215443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/>
          </a:lstStyle>
          <a:p>
            <a:pPr lvl="0" algn="ctr"/>
            <a:r>
              <a:rPr lang="en-US" dirty="0"/>
              <a:t>anatomical </a:t>
            </a:r>
            <a:r>
              <a:rPr dirty="0"/>
              <a:t>resolution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6237136-8714-5E39-1B94-8EF7484E721E}"/>
              </a:ext>
            </a:extLst>
          </p:cNvPr>
          <p:cNvSpPr/>
          <p:nvPr/>
        </p:nvSpPr>
        <p:spPr>
          <a:xfrm>
            <a:off x="2688763" y="2975737"/>
            <a:ext cx="545206" cy="551233"/>
          </a:xfrm>
          <a:prstGeom prst="ellipse">
            <a:avLst/>
          </a:prstGeom>
          <a:noFill/>
          <a:ln w="25400" cap="flat">
            <a:solidFill>
              <a:srgbClr val="FF000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rebuchet MS Bold"/>
              <a:ea typeface="Trebuchet MS Bold"/>
              <a:cs typeface="Trebuchet MS Bold"/>
              <a:sym typeface="Trebuchet MS Bold"/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4000" dirty="0">
                <a:solidFill>
                  <a:srgbClr val="000090"/>
                </a:solidFill>
              </a:rPr>
              <a:t>Resolution: </a:t>
            </a:r>
            <a:r>
              <a:rPr sz="4000" dirty="0">
                <a:solidFill>
                  <a:srgbClr val="000090"/>
                </a:solidFill>
              </a:rPr>
              <a:t>Functional Resolution</a:t>
            </a:r>
          </a:p>
        </p:txBody>
      </p:sp>
      <p:sp>
        <p:nvSpPr>
          <p:cNvPr id="344" name="Shape 34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>
              <a:buSzTx/>
              <a:buNone/>
              <a:defRPr sz="1800"/>
            </a:pPr>
            <a:r>
              <a:rPr sz="2400" dirty="0"/>
              <a:t>The ability of a measurement technique to identify the relation between underlying neuronal activity and a cognitive or behavioral phenomenon.</a:t>
            </a:r>
          </a:p>
          <a:p>
            <a:pPr marL="621631" lvl="1" indent="-240631">
              <a:defRPr sz="1800"/>
            </a:pPr>
            <a:r>
              <a:rPr sz="2400" dirty="0"/>
              <a:t>basically: the ability to measure what we want to measure…</a:t>
            </a:r>
          </a:p>
          <a:p>
            <a:pPr marL="0" lvl="0" indent="0">
              <a:buSzTx/>
              <a:buNone/>
              <a:defRPr sz="1800"/>
            </a:pPr>
            <a:endParaRPr sz="2400" dirty="0"/>
          </a:p>
          <a:p>
            <a:pPr marL="0" lvl="0" indent="0">
              <a:buSzTx/>
              <a:buNone/>
              <a:defRPr sz="1800"/>
            </a:pPr>
            <a:r>
              <a:rPr sz="2400" dirty="0"/>
              <a:t>Functional resolution is limited </a:t>
            </a:r>
            <a:r>
              <a:rPr lang="en-US" sz="2400" dirty="0"/>
              <a:t>by </a:t>
            </a:r>
            <a:r>
              <a:rPr sz="2400" dirty="0"/>
              <a:t>both</a:t>
            </a:r>
            <a:r>
              <a:rPr lang="en-US" sz="2400" dirty="0"/>
              <a:t>:</a:t>
            </a:r>
            <a:endParaRPr sz="2400" dirty="0"/>
          </a:p>
          <a:p>
            <a:pPr marL="621631" lvl="1" indent="-240631">
              <a:defRPr sz="1800"/>
            </a:pPr>
            <a:r>
              <a:rPr sz="2400" dirty="0"/>
              <a:t>the intrinsic </a:t>
            </a:r>
            <a:r>
              <a:rPr sz="2400" u="sng" dirty="0"/>
              <a:t>properties of our brain measure</a:t>
            </a:r>
            <a:r>
              <a:rPr sz="2400" dirty="0"/>
              <a:t> (here: hemodynamics in response to neural activity), and </a:t>
            </a:r>
          </a:p>
          <a:p>
            <a:pPr marL="621631" lvl="1" indent="-240631">
              <a:defRPr sz="1800"/>
            </a:pPr>
            <a:r>
              <a:rPr sz="2400" dirty="0"/>
              <a:t>our ability to </a:t>
            </a:r>
            <a:r>
              <a:rPr sz="2400" u="sng" dirty="0"/>
              <a:t>manipulate the experimental design</a:t>
            </a:r>
            <a:r>
              <a:rPr sz="2400" dirty="0"/>
              <a:t> to allow variation in the phenomenon of interest.</a:t>
            </a:r>
          </a:p>
        </p:txBody>
      </p:sp>
      <p:sp>
        <p:nvSpPr>
          <p:cNvPr id="345" name="Shape 3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32</a:t>
            </a:fld>
            <a:endParaRPr sz="1200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Contrast &amp; Resolution</a:t>
            </a:r>
          </a:p>
        </p:txBody>
      </p:sp>
      <p:sp>
        <p:nvSpPr>
          <p:cNvPr id="267" name="Shape 26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Contrast</a:t>
            </a:r>
          </a:p>
          <a:p>
            <a:pPr lvl="1">
              <a:defRPr sz="1800"/>
            </a:pPr>
            <a:r>
              <a:rPr sz="2600"/>
              <a:t>anatomical contrast</a:t>
            </a:r>
          </a:p>
          <a:p>
            <a:pPr lvl="1">
              <a:defRPr sz="1800"/>
            </a:pPr>
            <a:r>
              <a:rPr sz="2600"/>
              <a:t>functional contrast</a:t>
            </a:r>
          </a:p>
          <a:p>
            <a:pPr lvl="1">
              <a:defRPr sz="1800"/>
            </a:pPr>
            <a:endParaRPr sz="2600"/>
          </a:p>
          <a:p>
            <a:pPr lvl="0">
              <a:defRPr sz="1800"/>
            </a:pPr>
            <a:r>
              <a:rPr sz="3200"/>
              <a:t>Resolution</a:t>
            </a:r>
          </a:p>
          <a:p>
            <a:pPr lvl="1">
              <a:defRPr sz="1800"/>
            </a:pPr>
            <a:r>
              <a:rPr sz="2600"/>
              <a:t>spatial resolution</a:t>
            </a:r>
          </a:p>
          <a:p>
            <a:pPr lvl="1">
              <a:defRPr sz="1800"/>
            </a:pPr>
            <a:r>
              <a:rPr sz="2600"/>
              <a:t>temporal resolution</a:t>
            </a:r>
          </a:p>
          <a:p>
            <a:pPr lvl="1">
              <a:defRPr sz="1800"/>
            </a:pPr>
            <a:r>
              <a:rPr sz="2600"/>
              <a:t>functional resolution</a:t>
            </a:r>
          </a:p>
        </p:txBody>
      </p:sp>
      <p:sp>
        <p:nvSpPr>
          <p:cNvPr id="268" name="Shape 2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33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85022944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/>
          </p:cNvSpPr>
          <p:nvPr>
            <p:ph type="title"/>
          </p:nvPr>
        </p:nvSpPr>
        <p:spPr>
          <a:xfrm>
            <a:off x="5093" y="-12700"/>
            <a:ext cx="9133814" cy="918107"/>
          </a:xfrm>
          <a:prstGeom prst="rect">
            <a:avLst/>
          </a:prstGeom>
        </p:spPr>
        <p:txBody>
          <a:bodyPr lIns="0" tIns="0" rIns="0" bIns="0"/>
          <a:lstStyle>
            <a:lvl1pPr>
              <a:defRPr sz="5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000090"/>
                </a:solidFill>
              </a:rPr>
              <a:t>3. History of fMRI</a:t>
            </a:r>
          </a:p>
        </p:txBody>
      </p:sp>
      <p:sp>
        <p:nvSpPr>
          <p:cNvPr id="348" name="Shape 34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34</a:t>
            </a:fld>
            <a:endParaRPr sz="1200"/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00090"/>
                </a:solidFill>
              </a:rPr>
              <a:t>Timeline of MR Imaging</a:t>
            </a:r>
          </a:p>
        </p:txBody>
      </p:sp>
      <p:grpSp>
        <p:nvGrpSpPr>
          <p:cNvPr id="370" name="Group 370"/>
          <p:cNvGrpSpPr/>
          <p:nvPr/>
        </p:nvGrpSpPr>
        <p:grpSpPr>
          <a:xfrm>
            <a:off x="571499" y="3733800"/>
            <a:ext cx="8113715" cy="482858"/>
            <a:chOff x="0" y="0"/>
            <a:chExt cx="8113713" cy="482857"/>
          </a:xfrm>
        </p:grpSpPr>
        <p:grpSp>
          <p:nvGrpSpPr>
            <p:cNvPr id="360" name="Group 360"/>
            <p:cNvGrpSpPr/>
            <p:nvPr/>
          </p:nvGrpSpPr>
          <p:grpSpPr>
            <a:xfrm>
              <a:off x="114299" y="0"/>
              <a:ext cx="7999415" cy="4763"/>
              <a:chOff x="0" y="0"/>
              <a:chExt cx="7999413" cy="4762"/>
            </a:xfrm>
          </p:grpSpPr>
          <p:sp>
            <p:nvSpPr>
              <p:cNvPr id="351" name="Shape 351"/>
              <p:cNvSpPr/>
              <p:nvPr/>
            </p:nvSpPr>
            <p:spPr>
              <a:xfrm>
                <a:off x="0" y="4762"/>
                <a:ext cx="7999414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2" name="Shape 352"/>
              <p:cNvSpPr/>
              <p:nvPr/>
            </p:nvSpPr>
            <p:spPr>
              <a:xfrm>
                <a:off x="208292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3" name="Shape 353"/>
              <p:cNvSpPr/>
              <p:nvPr/>
            </p:nvSpPr>
            <p:spPr>
              <a:xfrm>
                <a:off x="1124280" y="0"/>
                <a:ext cx="91374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4" name="Shape 354"/>
              <p:cNvSpPr/>
              <p:nvPr/>
            </p:nvSpPr>
            <p:spPr>
              <a:xfrm>
                <a:off x="2041855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5" name="Shape 355"/>
              <p:cNvSpPr/>
              <p:nvPr/>
            </p:nvSpPr>
            <p:spPr>
              <a:xfrm>
                <a:off x="2959430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6" name="Shape 356"/>
              <p:cNvSpPr/>
              <p:nvPr/>
            </p:nvSpPr>
            <p:spPr>
              <a:xfrm>
                <a:off x="3875418" y="0"/>
                <a:ext cx="91374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7" name="Shape 357"/>
              <p:cNvSpPr/>
              <p:nvPr/>
            </p:nvSpPr>
            <p:spPr>
              <a:xfrm>
                <a:off x="4792993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8" name="Shape 358"/>
              <p:cNvSpPr/>
              <p:nvPr/>
            </p:nvSpPr>
            <p:spPr>
              <a:xfrm>
                <a:off x="5710568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9" name="Shape 359"/>
              <p:cNvSpPr/>
              <p:nvPr/>
            </p:nvSpPr>
            <p:spPr>
              <a:xfrm>
                <a:off x="6628143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361" name="Shape 361"/>
            <p:cNvSpPr/>
            <p:nvPr/>
          </p:nvSpPr>
          <p:spPr>
            <a:xfrm>
              <a:off x="0" y="171450"/>
              <a:ext cx="685800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1920</a:t>
              </a:r>
            </a:p>
          </p:txBody>
        </p:sp>
        <p:sp>
          <p:nvSpPr>
            <p:cNvPr id="362" name="Shape 362"/>
            <p:cNvSpPr/>
            <p:nvPr/>
          </p:nvSpPr>
          <p:spPr>
            <a:xfrm>
              <a:off x="914400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1930</a:t>
              </a:r>
            </a:p>
          </p:txBody>
        </p:sp>
        <p:sp>
          <p:nvSpPr>
            <p:cNvPr id="363" name="Shape 363"/>
            <p:cNvSpPr/>
            <p:nvPr/>
          </p:nvSpPr>
          <p:spPr>
            <a:xfrm>
              <a:off x="1830387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1940</a:t>
              </a:r>
            </a:p>
          </p:txBody>
        </p:sp>
        <p:sp>
          <p:nvSpPr>
            <p:cNvPr id="364" name="Shape 364"/>
            <p:cNvSpPr/>
            <p:nvPr/>
          </p:nvSpPr>
          <p:spPr>
            <a:xfrm>
              <a:off x="2746375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1950</a:t>
              </a:r>
            </a:p>
          </p:txBody>
        </p:sp>
        <p:sp>
          <p:nvSpPr>
            <p:cNvPr id="365" name="Shape 365"/>
            <p:cNvSpPr/>
            <p:nvPr/>
          </p:nvSpPr>
          <p:spPr>
            <a:xfrm>
              <a:off x="3662362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1960</a:t>
              </a:r>
            </a:p>
          </p:txBody>
        </p:sp>
        <p:sp>
          <p:nvSpPr>
            <p:cNvPr id="366" name="Shape 366"/>
            <p:cNvSpPr/>
            <p:nvPr/>
          </p:nvSpPr>
          <p:spPr>
            <a:xfrm>
              <a:off x="4576762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1970</a:t>
              </a:r>
            </a:p>
          </p:txBody>
        </p:sp>
        <p:sp>
          <p:nvSpPr>
            <p:cNvPr id="367" name="Shape 367"/>
            <p:cNvSpPr/>
            <p:nvPr/>
          </p:nvSpPr>
          <p:spPr>
            <a:xfrm>
              <a:off x="5492750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1980</a:t>
              </a:r>
            </a:p>
          </p:txBody>
        </p:sp>
        <p:sp>
          <p:nvSpPr>
            <p:cNvPr id="368" name="Shape 368"/>
            <p:cNvSpPr/>
            <p:nvPr/>
          </p:nvSpPr>
          <p:spPr>
            <a:xfrm>
              <a:off x="6408738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1990</a:t>
              </a:r>
            </a:p>
          </p:txBody>
        </p:sp>
        <p:sp>
          <p:nvSpPr>
            <p:cNvPr id="369" name="Shape 369"/>
            <p:cNvSpPr/>
            <p:nvPr/>
          </p:nvSpPr>
          <p:spPr>
            <a:xfrm>
              <a:off x="7324725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2000</a:t>
              </a:r>
            </a:p>
          </p:txBody>
        </p:sp>
      </p:grpSp>
      <p:sp>
        <p:nvSpPr>
          <p:cNvPr id="371" name="Shape 371"/>
          <p:cNvSpPr/>
          <p:nvPr/>
        </p:nvSpPr>
        <p:spPr>
          <a:xfrm>
            <a:off x="304800" y="1524000"/>
            <a:ext cx="1295400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/>
              <a:t>1924 - Pauli suggests that nuclear particles have angular momentum (spin)</a:t>
            </a:r>
            <a:r>
              <a:rPr lang="en-US" sz="1000" dirty="0"/>
              <a:t> and magnetic moment</a:t>
            </a:r>
            <a:r>
              <a:rPr sz="1000" dirty="0"/>
              <a:t>.</a:t>
            </a:r>
          </a:p>
        </p:txBody>
      </p:sp>
      <p:sp>
        <p:nvSpPr>
          <p:cNvPr id="377" name="Shape 377"/>
          <p:cNvSpPr/>
          <p:nvPr/>
        </p:nvSpPr>
        <p:spPr>
          <a:xfrm>
            <a:off x="4876800" y="1371600"/>
            <a:ext cx="1295400" cy="853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1972 – Damadian patents idea for large NMR scanner to detect malignant tissue.</a:t>
            </a:r>
          </a:p>
        </p:txBody>
      </p:sp>
      <p:sp>
        <p:nvSpPr>
          <p:cNvPr id="379" name="Shape 379"/>
          <p:cNvSpPr/>
          <p:nvPr/>
        </p:nvSpPr>
        <p:spPr>
          <a:xfrm>
            <a:off x="5172075" y="2387600"/>
            <a:ext cx="1381125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 algn="r">
              <a:spcBef>
                <a:spcPts val="600"/>
              </a:spcBef>
            </a:pPr>
            <a:r>
              <a:rPr sz="1000">
                <a:solidFill>
                  <a:srgbClr val="C0C0C0"/>
                </a:solidFill>
              </a:rPr>
              <a:t>1973 – Lauterbur publishes</a:t>
            </a:r>
            <a:r>
              <a:rPr sz="1000" i="1">
                <a:solidFill>
                  <a:srgbClr val="C0C0C0"/>
                </a:solidFill>
              </a:rPr>
              <a:t> </a:t>
            </a:r>
            <a:r>
              <a:rPr sz="1000">
                <a:solidFill>
                  <a:srgbClr val="C0C0C0"/>
                </a:solidFill>
              </a:rPr>
              <a:t>method for generating images using NMR gradients.</a:t>
            </a:r>
          </a:p>
        </p:txBody>
      </p:sp>
      <p:sp>
        <p:nvSpPr>
          <p:cNvPr id="380" name="Shape 380"/>
          <p:cNvSpPr/>
          <p:nvPr/>
        </p:nvSpPr>
        <p:spPr>
          <a:xfrm>
            <a:off x="5248275" y="4391025"/>
            <a:ext cx="129540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1973 – Mansfield independently publishes gradient approach to MR.</a:t>
            </a:r>
          </a:p>
        </p:txBody>
      </p:sp>
      <p:sp>
        <p:nvSpPr>
          <p:cNvPr id="381" name="Shape 381"/>
          <p:cNvSpPr/>
          <p:nvPr/>
        </p:nvSpPr>
        <p:spPr>
          <a:xfrm>
            <a:off x="5334000" y="5410200"/>
            <a:ext cx="129540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1975 – Ernst develops 2D-Fourier transform for MR.</a:t>
            </a:r>
          </a:p>
        </p:txBody>
      </p:sp>
      <p:sp>
        <p:nvSpPr>
          <p:cNvPr id="382" name="Shape 382"/>
          <p:cNvSpPr/>
          <p:nvPr/>
        </p:nvSpPr>
        <p:spPr>
          <a:xfrm>
            <a:off x="5791200" y="3306762"/>
            <a:ext cx="129540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NMR becomes MRI</a:t>
            </a:r>
          </a:p>
        </p:txBody>
      </p:sp>
      <p:sp>
        <p:nvSpPr>
          <p:cNvPr id="384" name="Shape 384"/>
          <p:cNvSpPr/>
          <p:nvPr/>
        </p:nvSpPr>
        <p:spPr>
          <a:xfrm>
            <a:off x="6896100" y="4410075"/>
            <a:ext cx="1381125" cy="853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1990 – Ogawa and colleagues create functional images using endogenous, blood-oxygenation contrast.</a:t>
            </a:r>
          </a:p>
        </p:txBody>
      </p:sp>
      <p:sp>
        <p:nvSpPr>
          <p:cNvPr id="385" name="Shape 385"/>
          <p:cNvSpPr/>
          <p:nvPr/>
        </p:nvSpPr>
        <p:spPr>
          <a:xfrm>
            <a:off x="6305550" y="1819275"/>
            <a:ext cx="129540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1985 – Insurance reimbursements for MRI exams begin.</a:t>
            </a:r>
          </a:p>
        </p:txBody>
      </p:sp>
      <p:sp>
        <p:nvSpPr>
          <p:cNvPr id="386" name="Shape 386"/>
          <p:cNvSpPr/>
          <p:nvPr/>
        </p:nvSpPr>
        <p:spPr>
          <a:xfrm>
            <a:off x="412750" y="3276600"/>
            <a:ext cx="990600" cy="89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3200"/>
              </a:spcBef>
              <a:defRPr sz="5400">
                <a:solidFill>
                  <a:srgbClr val="FF000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387" name="Shape 387"/>
          <p:cNvSpPr/>
          <p:nvPr/>
        </p:nvSpPr>
        <p:spPr>
          <a:xfrm>
            <a:off x="2667000" y="3276600"/>
            <a:ext cx="990600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3200"/>
              </a:spcBef>
              <a:defRPr sz="5400">
                <a:solidFill>
                  <a:srgbClr val="FF000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endParaRPr sz="5400" dirty="0">
              <a:solidFill>
                <a:srgbClr val="FF0000"/>
              </a:solidFill>
            </a:endParaRPr>
          </a:p>
        </p:txBody>
      </p:sp>
      <p:sp>
        <p:nvSpPr>
          <p:cNvPr id="392" name="Shape 39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35</a:t>
            </a:fld>
            <a:endParaRPr sz="1200"/>
          </a:p>
        </p:txBody>
      </p:sp>
      <p:sp>
        <p:nvSpPr>
          <p:cNvPr id="44" name="Shape 372"/>
          <p:cNvSpPr/>
          <p:nvPr/>
        </p:nvSpPr>
        <p:spPr>
          <a:xfrm>
            <a:off x="1731130" y="1825162"/>
            <a:ext cx="1447800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rgbClr val="A7A7A7"/>
                </a:solidFill>
              </a:rPr>
              <a:t>1937 – Rabi measures magnetic moment of nucleus. Coins “magnetic resonance”.</a:t>
            </a:r>
          </a:p>
        </p:txBody>
      </p:sp>
      <p:sp>
        <p:nvSpPr>
          <p:cNvPr id="45" name="Shape 373"/>
          <p:cNvSpPr/>
          <p:nvPr/>
        </p:nvSpPr>
        <p:spPr>
          <a:xfrm>
            <a:off x="2438400" y="2815762"/>
            <a:ext cx="12954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rgbClr val="A7A7A7"/>
                </a:solidFill>
              </a:rPr>
              <a:t>1944 – Rabi wins Nobel prize in Physics.</a:t>
            </a:r>
          </a:p>
        </p:txBody>
      </p:sp>
      <p:sp>
        <p:nvSpPr>
          <p:cNvPr id="46" name="Shape 374"/>
          <p:cNvSpPr/>
          <p:nvPr/>
        </p:nvSpPr>
        <p:spPr>
          <a:xfrm>
            <a:off x="2362200" y="5093396"/>
            <a:ext cx="14478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rgbClr val="A7A7A7"/>
                </a:solidFill>
              </a:rPr>
              <a:t>1946 – Purcell shows that matter absorbs energy at a resonant frequency.</a:t>
            </a:r>
          </a:p>
        </p:txBody>
      </p:sp>
      <p:sp>
        <p:nvSpPr>
          <p:cNvPr id="47" name="Shape 375"/>
          <p:cNvSpPr/>
          <p:nvPr/>
        </p:nvSpPr>
        <p:spPr>
          <a:xfrm>
            <a:off x="2286000" y="6083996"/>
            <a:ext cx="17526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>
                <a:solidFill>
                  <a:srgbClr val="A7A7A7"/>
                </a:solidFill>
              </a:rPr>
              <a:t>1946 – Bloch demonstrates that nuclear precession can be measured in detector coils.</a:t>
            </a:r>
          </a:p>
        </p:txBody>
      </p:sp>
      <p:sp>
        <p:nvSpPr>
          <p:cNvPr id="48" name="Shape 376"/>
          <p:cNvSpPr/>
          <p:nvPr/>
        </p:nvSpPr>
        <p:spPr>
          <a:xfrm>
            <a:off x="3276663" y="4208363"/>
            <a:ext cx="12954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rgbClr val="A7A7A7"/>
                </a:solidFill>
              </a:rPr>
              <a:t>1952 – Purcell and Bloch share Nobel prize in Physics.</a:t>
            </a:r>
          </a:p>
        </p:txBody>
      </p:sp>
      <p:sp>
        <p:nvSpPr>
          <p:cNvPr id="49" name="Shape 388"/>
          <p:cNvSpPr/>
          <p:nvPr/>
        </p:nvSpPr>
        <p:spPr>
          <a:xfrm>
            <a:off x="501125" y="2815762"/>
            <a:ext cx="1477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 lvl="0">
              <a:defRPr sz="1800"/>
            </a:pPr>
            <a:r>
              <a:rPr lang="en-US" sz="1400" b="1" dirty="0">
                <a:solidFill>
                  <a:srgbClr val="A7A7A7"/>
                </a:solidFill>
                <a:sym typeface="Wingdings"/>
              </a:rPr>
              <a:t> </a:t>
            </a:r>
            <a:r>
              <a:rPr sz="1400" b="1" dirty="0">
                <a:solidFill>
                  <a:srgbClr val="A7A7A7"/>
                </a:solidFill>
              </a:rPr>
              <a:t>purified gases</a:t>
            </a:r>
          </a:p>
        </p:txBody>
      </p:sp>
      <p:sp>
        <p:nvSpPr>
          <p:cNvPr id="50" name="Shape 389"/>
          <p:cNvSpPr/>
          <p:nvPr/>
        </p:nvSpPr>
        <p:spPr>
          <a:xfrm>
            <a:off x="2357002" y="4755705"/>
            <a:ext cx="1205458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/>
            </a:lvl1pPr>
          </a:lstStyle>
          <a:p>
            <a:pPr lvl="0" algn="ctr">
              <a:defRPr sz="1800"/>
            </a:pPr>
            <a:r>
              <a:rPr lang="en-US" sz="1400" b="1" dirty="0">
                <a:solidFill>
                  <a:srgbClr val="A7A7A7"/>
                </a:solidFill>
                <a:sym typeface="Wingdings"/>
              </a:rPr>
              <a:t> </a:t>
            </a:r>
            <a:r>
              <a:rPr sz="1400" b="1" dirty="0">
                <a:solidFill>
                  <a:srgbClr val="A7A7A7"/>
                </a:solidFill>
              </a:rPr>
              <a:t>bulk matter</a:t>
            </a:r>
          </a:p>
        </p:txBody>
      </p:sp>
      <p:sp>
        <p:nvSpPr>
          <p:cNvPr id="42" name="Shape 520"/>
          <p:cNvSpPr/>
          <p:nvPr/>
        </p:nvSpPr>
        <p:spPr>
          <a:xfrm>
            <a:off x="6595700" y="2438400"/>
            <a:ext cx="12954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rgbClr val="A7A7A7"/>
                </a:solidFill>
              </a:rPr>
              <a:t>MRI scanners become clinically prevalent</a:t>
            </a:r>
            <a:r>
              <a:rPr lang="en-US" sz="1000" dirty="0">
                <a:solidFill>
                  <a:srgbClr val="A7A7A7"/>
                </a:solidFill>
              </a:rPr>
              <a:t> and mainstay at hospitals</a:t>
            </a:r>
            <a:r>
              <a:rPr sz="1000" dirty="0">
                <a:solidFill>
                  <a:srgbClr val="A7A7A7"/>
                </a:solidFill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00090"/>
                </a:solidFill>
              </a:rPr>
              <a:t>Timeline of MR Imaging</a:t>
            </a:r>
          </a:p>
        </p:txBody>
      </p:sp>
      <p:grpSp>
        <p:nvGrpSpPr>
          <p:cNvPr id="370" name="Group 370"/>
          <p:cNvGrpSpPr/>
          <p:nvPr/>
        </p:nvGrpSpPr>
        <p:grpSpPr>
          <a:xfrm>
            <a:off x="571499" y="3733800"/>
            <a:ext cx="8113715" cy="482858"/>
            <a:chOff x="0" y="0"/>
            <a:chExt cx="8113713" cy="482857"/>
          </a:xfrm>
        </p:grpSpPr>
        <p:grpSp>
          <p:nvGrpSpPr>
            <p:cNvPr id="360" name="Group 360"/>
            <p:cNvGrpSpPr/>
            <p:nvPr/>
          </p:nvGrpSpPr>
          <p:grpSpPr>
            <a:xfrm>
              <a:off x="114299" y="0"/>
              <a:ext cx="7999415" cy="4763"/>
              <a:chOff x="0" y="0"/>
              <a:chExt cx="7999413" cy="4762"/>
            </a:xfrm>
          </p:grpSpPr>
          <p:sp>
            <p:nvSpPr>
              <p:cNvPr id="351" name="Shape 351"/>
              <p:cNvSpPr/>
              <p:nvPr/>
            </p:nvSpPr>
            <p:spPr>
              <a:xfrm>
                <a:off x="0" y="4762"/>
                <a:ext cx="7999414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2" name="Shape 352"/>
              <p:cNvSpPr/>
              <p:nvPr/>
            </p:nvSpPr>
            <p:spPr>
              <a:xfrm>
                <a:off x="208292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3" name="Shape 353"/>
              <p:cNvSpPr/>
              <p:nvPr/>
            </p:nvSpPr>
            <p:spPr>
              <a:xfrm>
                <a:off x="1124280" y="0"/>
                <a:ext cx="91374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4" name="Shape 354"/>
              <p:cNvSpPr/>
              <p:nvPr/>
            </p:nvSpPr>
            <p:spPr>
              <a:xfrm>
                <a:off x="2041855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5" name="Shape 355"/>
              <p:cNvSpPr/>
              <p:nvPr/>
            </p:nvSpPr>
            <p:spPr>
              <a:xfrm>
                <a:off x="2959430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6" name="Shape 356"/>
              <p:cNvSpPr/>
              <p:nvPr/>
            </p:nvSpPr>
            <p:spPr>
              <a:xfrm>
                <a:off x="3875418" y="0"/>
                <a:ext cx="91374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7" name="Shape 357"/>
              <p:cNvSpPr/>
              <p:nvPr/>
            </p:nvSpPr>
            <p:spPr>
              <a:xfrm>
                <a:off x="4792993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8" name="Shape 358"/>
              <p:cNvSpPr/>
              <p:nvPr/>
            </p:nvSpPr>
            <p:spPr>
              <a:xfrm>
                <a:off x="5710568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9" name="Shape 359"/>
              <p:cNvSpPr/>
              <p:nvPr/>
            </p:nvSpPr>
            <p:spPr>
              <a:xfrm>
                <a:off x="6628143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361" name="Shape 361"/>
            <p:cNvSpPr/>
            <p:nvPr/>
          </p:nvSpPr>
          <p:spPr>
            <a:xfrm>
              <a:off x="0" y="171450"/>
              <a:ext cx="685800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1920</a:t>
              </a:r>
            </a:p>
          </p:txBody>
        </p:sp>
        <p:sp>
          <p:nvSpPr>
            <p:cNvPr id="362" name="Shape 362"/>
            <p:cNvSpPr/>
            <p:nvPr/>
          </p:nvSpPr>
          <p:spPr>
            <a:xfrm>
              <a:off x="914400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1930</a:t>
              </a:r>
            </a:p>
          </p:txBody>
        </p:sp>
        <p:sp>
          <p:nvSpPr>
            <p:cNvPr id="363" name="Shape 363"/>
            <p:cNvSpPr/>
            <p:nvPr/>
          </p:nvSpPr>
          <p:spPr>
            <a:xfrm>
              <a:off x="1830387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1940</a:t>
              </a:r>
            </a:p>
          </p:txBody>
        </p:sp>
        <p:sp>
          <p:nvSpPr>
            <p:cNvPr id="364" name="Shape 364"/>
            <p:cNvSpPr/>
            <p:nvPr/>
          </p:nvSpPr>
          <p:spPr>
            <a:xfrm>
              <a:off x="2746375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1950</a:t>
              </a:r>
            </a:p>
          </p:txBody>
        </p:sp>
        <p:sp>
          <p:nvSpPr>
            <p:cNvPr id="365" name="Shape 365"/>
            <p:cNvSpPr/>
            <p:nvPr/>
          </p:nvSpPr>
          <p:spPr>
            <a:xfrm>
              <a:off x="3662362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1960</a:t>
              </a:r>
            </a:p>
          </p:txBody>
        </p:sp>
        <p:sp>
          <p:nvSpPr>
            <p:cNvPr id="366" name="Shape 366"/>
            <p:cNvSpPr/>
            <p:nvPr/>
          </p:nvSpPr>
          <p:spPr>
            <a:xfrm>
              <a:off x="4576762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1970</a:t>
              </a:r>
            </a:p>
          </p:txBody>
        </p:sp>
        <p:sp>
          <p:nvSpPr>
            <p:cNvPr id="367" name="Shape 367"/>
            <p:cNvSpPr/>
            <p:nvPr/>
          </p:nvSpPr>
          <p:spPr>
            <a:xfrm>
              <a:off x="5492750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1980</a:t>
              </a:r>
            </a:p>
          </p:txBody>
        </p:sp>
        <p:sp>
          <p:nvSpPr>
            <p:cNvPr id="368" name="Shape 368"/>
            <p:cNvSpPr/>
            <p:nvPr/>
          </p:nvSpPr>
          <p:spPr>
            <a:xfrm>
              <a:off x="6408738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1990</a:t>
              </a:r>
            </a:p>
          </p:txBody>
        </p:sp>
        <p:sp>
          <p:nvSpPr>
            <p:cNvPr id="369" name="Shape 369"/>
            <p:cNvSpPr/>
            <p:nvPr/>
          </p:nvSpPr>
          <p:spPr>
            <a:xfrm>
              <a:off x="7324725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2000</a:t>
              </a:r>
            </a:p>
          </p:txBody>
        </p:sp>
      </p:grpSp>
      <p:sp>
        <p:nvSpPr>
          <p:cNvPr id="371" name="Shape 371"/>
          <p:cNvSpPr/>
          <p:nvPr/>
        </p:nvSpPr>
        <p:spPr>
          <a:xfrm>
            <a:off x="304800" y="1524000"/>
            <a:ext cx="1295400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/>
              <a:t>1924 - Pauli suggests that nuclear particles have angular momentum (spin)</a:t>
            </a:r>
            <a:r>
              <a:rPr lang="en-US" sz="1000" dirty="0"/>
              <a:t> and magnetic moment</a:t>
            </a:r>
            <a:r>
              <a:rPr sz="1000" dirty="0"/>
              <a:t>.</a:t>
            </a:r>
          </a:p>
        </p:txBody>
      </p:sp>
      <p:sp>
        <p:nvSpPr>
          <p:cNvPr id="372" name="Shape 372"/>
          <p:cNvSpPr/>
          <p:nvPr/>
        </p:nvSpPr>
        <p:spPr>
          <a:xfrm>
            <a:off x="1731130" y="1825162"/>
            <a:ext cx="144780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/>
              <a:t>1937 – Rabi measures magnetic moment of nucleus. Coins “magnetic resonance”.</a:t>
            </a:r>
          </a:p>
        </p:txBody>
      </p:sp>
      <p:sp>
        <p:nvSpPr>
          <p:cNvPr id="373" name="Shape 373"/>
          <p:cNvSpPr/>
          <p:nvPr/>
        </p:nvSpPr>
        <p:spPr>
          <a:xfrm>
            <a:off x="2438400" y="2815762"/>
            <a:ext cx="129540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/>
              <a:t>1944 – Rabi wins Nobel prize in Physics.</a:t>
            </a:r>
          </a:p>
        </p:txBody>
      </p:sp>
      <p:sp>
        <p:nvSpPr>
          <p:cNvPr id="374" name="Shape 374"/>
          <p:cNvSpPr/>
          <p:nvPr/>
        </p:nvSpPr>
        <p:spPr>
          <a:xfrm>
            <a:off x="2362200" y="5093396"/>
            <a:ext cx="144780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/>
              <a:t>1946 – Purcell shows that matter absorbs energy at a resonant frequency.</a:t>
            </a:r>
          </a:p>
        </p:txBody>
      </p:sp>
      <p:sp>
        <p:nvSpPr>
          <p:cNvPr id="375" name="Shape 375"/>
          <p:cNvSpPr/>
          <p:nvPr/>
        </p:nvSpPr>
        <p:spPr>
          <a:xfrm>
            <a:off x="2286000" y="6083996"/>
            <a:ext cx="175260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/>
              <a:t>1946 – Bloch demonstrates that nuclear precession can be measured in detector coils.</a:t>
            </a:r>
          </a:p>
        </p:txBody>
      </p:sp>
      <p:sp>
        <p:nvSpPr>
          <p:cNvPr id="376" name="Shape 376"/>
          <p:cNvSpPr/>
          <p:nvPr/>
        </p:nvSpPr>
        <p:spPr>
          <a:xfrm>
            <a:off x="3276663" y="4208363"/>
            <a:ext cx="129540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/>
              <a:t>1952 – Purcell and Bloch share Nobel prize in Physics.</a:t>
            </a:r>
          </a:p>
        </p:txBody>
      </p:sp>
      <p:sp>
        <p:nvSpPr>
          <p:cNvPr id="377" name="Shape 377"/>
          <p:cNvSpPr/>
          <p:nvPr/>
        </p:nvSpPr>
        <p:spPr>
          <a:xfrm>
            <a:off x="4876800" y="1371600"/>
            <a:ext cx="1295400" cy="853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1972 – Damadian patents idea for large NMR scanner to detect malignant tissue.</a:t>
            </a:r>
          </a:p>
        </p:txBody>
      </p:sp>
      <p:sp>
        <p:nvSpPr>
          <p:cNvPr id="379" name="Shape 379"/>
          <p:cNvSpPr/>
          <p:nvPr/>
        </p:nvSpPr>
        <p:spPr>
          <a:xfrm>
            <a:off x="5172075" y="2387600"/>
            <a:ext cx="1381125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 algn="r">
              <a:spcBef>
                <a:spcPts val="600"/>
              </a:spcBef>
            </a:pPr>
            <a:r>
              <a:rPr sz="1000">
                <a:solidFill>
                  <a:srgbClr val="C0C0C0"/>
                </a:solidFill>
              </a:rPr>
              <a:t>1973 – Lauterbur publishes</a:t>
            </a:r>
            <a:r>
              <a:rPr sz="1000" i="1">
                <a:solidFill>
                  <a:srgbClr val="C0C0C0"/>
                </a:solidFill>
              </a:rPr>
              <a:t> </a:t>
            </a:r>
            <a:r>
              <a:rPr sz="1000">
                <a:solidFill>
                  <a:srgbClr val="C0C0C0"/>
                </a:solidFill>
              </a:rPr>
              <a:t>method for generating images using NMR gradients.</a:t>
            </a:r>
          </a:p>
        </p:txBody>
      </p:sp>
      <p:sp>
        <p:nvSpPr>
          <p:cNvPr id="380" name="Shape 380"/>
          <p:cNvSpPr/>
          <p:nvPr/>
        </p:nvSpPr>
        <p:spPr>
          <a:xfrm>
            <a:off x="5248275" y="4391025"/>
            <a:ext cx="129540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1973 – Mansfield independently publishes gradient approach to MR.</a:t>
            </a:r>
          </a:p>
        </p:txBody>
      </p:sp>
      <p:sp>
        <p:nvSpPr>
          <p:cNvPr id="381" name="Shape 381"/>
          <p:cNvSpPr/>
          <p:nvPr/>
        </p:nvSpPr>
        <p:spPr>
          <a:xfrm>
            <a:off x="5334000" y="5410200"/>
            <a:ext cx="129540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1975 – Ernst develops 2D-Fourier transform for MR.</a:t>
            </a:r>
          </a:p>
        </p:txBody>
      </p:sp>
      <p:sp>
        <p:nvSpPr>
          <p:cNvPr id="382" name="Shape 382"/>
          <p:cNvSpPr/>
          <p:nvPr/>
        </p:nvSpPr>
        <p:spPr>
          <a:xfrm>
            <a:off x="5791200" y="3306762"/>
            <a:ext cx="129540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NMR becomes MRI</a:t>
            </a:r>
          </a:p>
        </p:txBody>
      </p:sp>
      <p:sp>
        <p:nvSpPr>
          <p:cNvPr id="384" name="Shape 384"/>
          <p:cNvSpPr/>
          <p:nvPr/>
        </p:nvSpPr>
        <p:spPr>
          <a:xfrm>
            <a:off x="6896100" y="4410075"/>
            <a:ext cx="1381125" cy="853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1990 – Ogawa and colleagues create functional images using endogenous, blood-oxygenation contrast.</a:t>
            </a:r>
          </a:p>
        </p:txBody>
      </p:sp>
      <p:sp>
        <p:nvSpPr>
          <p:cNvPr id="385" name="Shape 385"/>
          <p:cNvSpPr/>
          <p:nvPr/>
        </p:nvSpPr>
        <p:spPr>
          <a:xfrm>
            <a:off x="6305550" y="1819275"/>
            <a:ext cx="129540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1985 – Insurance reimbursements for MRI exams begin.</a:t>
            </a:r>
          </a:p>
        </p:txBody>
      </p:sp>
      <p:sp>
        <p:nvSpPr>
          <p:cNvPr id="386" name="Shape 386"/>
          <p:cNvSpPr/>
          <p:nvPr/>
        </p:nvSpPr>
        <p:spPr>
          <a:xfrm>
            <a:off x="412750" y="3276600"/>
            <a:ext cx="990600" cy="89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3200"/>
              </a:spcBef>
              <a:defRPr sz="5400">
                <a:solidFill>
                  <a:srgbClr val="FF000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387" name="Shape 387"/>
          <p:cNvSpPr/>
          <p:nvPr/>
        </p:nvSpPr>
        <p:spPr>
          <a:xfrm>
            <a:off x="2667000" y="3276600"/>
            <a:ext cx="990600" cy="89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3200"/>
              </a:spcBef>
              <a:defRPr sz="5400">
                <a:solidFill>
                  <a:srgbClr val="FF000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388" name="Shape 388"/>
          <p:cNvSpPr/>
          <p:nvPr/>
        </p:nvSpPr>
        <p:spPr>
          <a:xfrm>
            <a:off x="501125" y="2815762"/>
            <a:ext cx="1477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pPr lvl="0">
              <a:defRPr sz="1800"/>
            </a:pPr>
            <a:r>
              <a:rPr lang="en-US" sz="1400" b="1" dirty="0">
                <a:sym typeface="Wingdings"/>
              </a:rPr>
              <a:t> </a:t>
            </a:r>
            <a:r>
              <a:rPr sz="1400" b="1" dirty="0"/>
              <a:t>purified gases</a:t>
            </a:r>
          </a:p>
        </p:txBody>
      </p:sp>
      <p:sp>
        <p:nvSpPr>
          <p:cNvPr id="389" name="Shape 389"/>
          <p:cNvSpPr/>
          <p:nvPr/>
        </p:nvSpPr>
        <p:spPr>
          <a:xfrm>
            <a:off x="2357002" y="4755705"/>
            <a:ext cx="1205458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/>
            </a:lvl1pPr>
          </a:lstStyle>
          <a:p>
            <a:pPr lvl="0" algn="ctr">
              <a:defRPr sz="1800"/>
            </a:pPr>
            <a:r>
              <a:rPr lang="en-US" sz="1400" b="1" dirty="0">
                <a:sym typeface="Wingdings"/>
              </a:rPr>
              <a:t> </a:t>
            </a:r>
            <a:r>
              <a:rPr sz="1400" b="1" dirty="0"/>
              <a:t>bulk matter</a:t>
            </a:r>
          </a:p>
        </p:txBody>
      </p:sp>
      <p:sp>
        <p:nvSpPr>
          <p:cNvPr id="392" name="Shape 39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36</a:t>
            </a:fld>
            <a:endParaRPr sz="1200"/>
          </a:p>
        </p:txBody>
      </p:sp>
      <p:sp>
        <p:nvSpPr>
          <p:cNvPr id="42" name="Shape 520"/>
          <p:cNvSpPr/>
          <p:nvPr/>
        </p:nvSpPr>
        <p:spPr>
          <a:xfrm>
            <a:off x="6595700" y="2438400"/>
            <a:ext cx="12954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rgbClr val="A7A7A7"/>
                </a:solidFill>
              </a:rPr>
              <a:t>MRI scanners become clinically prevalent</a:t>
            </a:r>
            <a:r>
              <a:rPr lang="en-US" sz="1000" dirty="0">
                <a:solidFill>
                  <a:srgbClr val="A7A7A7"/>
                </a:solidFill>
              </a:rPr>
              <a:t> and mainstay at hospitals</a:t>
            </a:r>
            <a:r>
              <a:rPr sz="1000" dirty="0">
                <a:solidFill>
                  <a:srgbClr val="A7A7A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677215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00090"/>
                </a:solidFill>
              </a:rPr>
              <a:t>Early Uses of NMR</a:t>
            </a:r>
          </a:p>
        </p:txBody>
      </p:sp>
      <p:sp>
        <p:nvSpPr>
          <p:cNvPr id="395" name="Shape 395"/>
          <p:cNvSpPr>
            <a:spLocks noGrp="1"/>
          </p:cNvSpPr>
          <p:nvPr>
            <p:ph type="body" idx="1"/>
          </p:nvPr>
        </p:nvSpPr>
        <p:spPr>
          <a:xfrm>
            <a:off x="457200" y="1035110"/>
            <a:ext cx="8229600" cy="5822890"/>
          </a:xfrm>
          <a:prstGeom prst="rect">
            <a:avLst/>
          </a:prstGeom>
        </p:spPr>
        <p:txBody>
          <a:bodyPr lIns="0" tIns="0" rIns="0" bIns="0"/>
          <a:lstStyle/>
          <a:p>
            <a:pPr marL="240631" lvl="0" indent="-240631">
              <a:lnSpc>
                <a:spcPct val="90000"/>
              </a:lnSpc>
              <a:defRPr sz="1800"/>
            </a:pPr>
            <a:r>
              <a:rPr sz="2400" dirty="0"/>
              <a:t>Most early NMR was used for chemical analysis of </a:t>
            </a:r>
            <a:r>
              <a:rPr sz="2400" u="sng" dirty="0"/>
              <a:t>entire</a:t>
            </a:r>
            <a:r>
              <a:rPr lang="en-US" sz="2400" dirty="0"/>
              <a:t>,</a:t>
            </a:r>
            <a:r>
              <a:rPr sz="2400" dirty="0"/>
              <a:t> </a:t>
            </a:r>
            <a:r>
              <a:rPr lang="en-US" sz="2400" dirty="0"/>
              <a:t>homogeneous </a:t>
            </a:r>
            <a:r>
              <a:rPr sz="2400" dirty="0"/>
              <a:t>(tissue) samples</a:t>
            </a:r>
          </a:p>
          <a:p>
            <a:pPr marL="581526" lvl="1" indent="-200526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000" dirty="0"/>
              <a:t>no </a:t>
            </a:r>
            <a:r>
              <a:rPr sz="2000" u="sng" dirty="0"/>
              <a:t>spatial</a:t>
            </a:r>
            <a:r>
              <a:rPr sz="2000" dirty="0"/>
              <a:t> </a:t>
            </a:r>
            <a:r>
              <a:rPr lang="en-US" sz="2000" dirty="0"/>
              <a:t>information / no </a:t>
            </a:r>
            <a:r>
              <a:rPr sz="2000" dirty="0"/>
              <a:t>‘images’</a:t>
            </a:r>
            <a:endParaRPr lang="en-US" sz="2000" dirty="0"/>
          </a:p>
          <a:p>
            <a:pPr marL="581526" lvl="1" indent="-200526">
              <a:lnSpc>
                <a:spcPct val="90000"/>
              </a:lnSpc>
              <a:spcBef>
                <a:spcPts val="500"/>
              </a:spcBef>
              <a:defRPr sz="1800"/>
            </a:pPr>
            <a:r>
              <a:rPr lang="en-US" sz="2000" dirty="0"/>
              <a:t>no medical applications</a:t>
            </a:r>
            <a:endParaRPr sz="2000" dirty="0"/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94B6D2"/>
              </a:buClr>
              <a:buFont typeface="Wingdings 2"/>
              <a:defRPr sz="1800"/>
            </a:pPr>
            <a:endParaRPr sz="2000" dirty="0"/>
          </a:p>
          <a:p>
            <a:pPr marL="240631" lvl="0" indent="-240631">
              <a:lnSpc>
                <a:spcPct val="90000"/>
              </a:lnSpc>
              <a:defRPr sz="1800"/>
            </a:pPr>
            <a:r>
              <a:rPr sz="2400" dirty="0"/>
              <a:t>1971 – Damadian publishes and patents idea for using NMR to distinguish healthy and malignant tissues</a:t>
            </a:r>
          </a:p>
          <a:p>
            <a:pPr marL="581526" lvl="1" indent="-200526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000" dirty="0"/>
              <a:t>“Tumor detection by nuclear magnetic resonance”, </a:t>
            </a:r>
            <a:r>
              <a:rPr sz="2000" i="1" dirty="0"/>
              <a:t>Science</a:t>
            </a:r>
            <a:endParaRPr sz="2600" dirty="0"/>
          </a:p>
          <a:p>
            <a:pPr marL="581526" lvl="1" indent="-200526">
              <a:lnSpc>
                <a:spcPct val="90000"/>
              </a:lnSpc>
              <a:spcBef>
                <a:spcPts val="500"/>
              </a:spcBef>
              <a:defRPr sz="1800"/>
            </a:pPr>
            <a:r>
              <a:rPr lang="en-US" sz="2000" dirty="0"/>
              <a:t>shows </a:t>
            </a:r>
            <a:r>
              <a:rPr sz="2000" dirty="0"/>
              <a:t>relaxation time</a:t>
            </a:r>
            <a:r>
              <a:rPr lang="en-US" sz="2000" dirty="0"/>
              <a:t> differences</a:t>
            </a:r>
            <a:r>
              <a:rPr sz="2000" dirty="0"/>
              <a:t> in the two tissues</a:t>
            </a:r>
            <a:endParaRPr sz="2600" dirty="0"/>
          </a:p>
          <a:p>
            <a:pPr marL="581526" lvl="1" indent="-200526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000" dirty="0"/>
              <a:t>no image formation method proposed (other than</a:t>
            </a:r>
            <a:r>
              <a:rPr lang="en-US" sz="2000" dirty="0"/>
              <a:t>, a few years later,</a:t>
            </a:r>
            <a:r>
              <a:rPr sz="2000" dirty="0"/>
              <a:t> moving person voxel by voxel! See “Indomitable”)</a:t>
            </a:r>
          </a:p>
          <a:p>
            <a:pPr marL="581526" lvl="1" indent="-200526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000" dirty="0"/>
              <a:t>BUT: first medical application</a:t>
            </a:r>
            <a:endParaRPr sz="2600" dirty="0"/>
          </a:p>
        </p:txBody>
      </p:sp>
      <p:sp>
        <p:nvSpPr>
          <p:cNvPr id="396" name="Shape 39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37</a:t>
            </a:fld>
            <a:endParaRPr sz="1200"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B326F-60D8-8E8C-C1E8-79BA04F71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>
            <a:extLst>
              <a:ext uri="{FF2B5EF4-FFF2-40B4-BE49-F238E27FC236}">
                <a16:creationId xmlns:a16="http://schemas.microsoft.com/office/drawing/2014/main" id="{341E8D15-E6C5-C61F-BB21-2742373FCEF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00090"/>
                </a:solidFill>
              </a:rPr>
              <a:t>Early Uses of NMR</a:t>
            </a:r>
          </a:p>
        </p:txBody>
      </p:sp>
      <p:sp>
        <p:nvSpPr>
          <p:cNvPr id="395" name="Shape 395">
            <a:extLst>
              <a:ext uri="{FF2B5EF4-FFF2-40B4-BE49-F238E27FC236}">
                <a16:creationId xmlns:a16="http://schemas.microsoft.com/office/drawing/2014/main" id="{783726EC-C4C9-CCAD-7C2A-B0FF7BE15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35110"/>
            <a:ext cx="8229600" cy="5822890"/>
          </a:xfrm>
          <a:prstGeom prst="rect">
            <a:avLst/>
          </a:prstGeom>
        </p:spPr>
        <p:txBody>
          <a:bodyPr lIns="0" tIns="0" rIns="0" bIns="0"/>
          <a:lstStyle/>
          <a:p>
            <a:pPr marL="240631" lvl="0" indent="-240631">
              <a:lnSpc>
                <a:spcPct val="90000"/>
              </a:lnSpc>
              <a:defRPr sz="1800"/>
            </a:pPr>
            <a:r>
              <a:rPr lang="en-US" sz="2400" dirty="0"/>
              <a:t>Formation of Images (1973):</a:t>
            </a:r>
          </a:p>
          <a:p>
            <a:pPr marL="240631" lvl="0" indent="-240631">
              <a:lnSpc>
                <a:spcPct val="90000"/>
              </a:lnSpc>
              <a:defRPr sz="1800"/>
            </a:pPr>
            <a:r>
              <a:rPr sz="2400" dirty="0"/>
              <a:t>Lauterbur describes projection method for creating NMR </a:t>
            </a:r>
            <a:r>
              <a:rPr sz="2400" u="sng" dirty="0"/>
              <a:t>images</a:t>
            </a:r>
            <a:r>
              <a:rPr sz="2400" dirty="0"/>
              <a:t> using </a:t>
            </a:r>
            <a:r>
              <a:rPr sz="2400" u="sng" dirty="0"/>
              <a:t>magnetic gradients</a:t>
            </a:r>
            <a:endParaRPr lang="en-US" sz="2400" u="sng" dirty="0"/>
          </a:p>
          <a:p>
            <a:pPr marL="240631" lvl="0" indent="-240631">
              <a:lnSpc>
                <a:spcPct val="90000"/>
              </a:lnSpc>
              <a:defRPr sz="1800"/>
            </a:pPr>
            <a:r>
              <a:rPr lang="en-US" sz="2400" dirty="0"/>
              <a:t>Mansfield independently describes similar approach, and subsequently develops echo-planar imaging (EPI; much(!!) faster)</a:t>
            </a:r>
            <a:endParaRPr sz="2400" dirty="0"/>
          </a:p>
        </p:txBody>
      </p:sp>
      <p:sp>
        <p:nvSpPr>
          <p:cNvPr id="396" name="Shape 396">
            <a:extLst>
              <a:ext uri="{FF2B5EF4-FFF2-40B4-BE49-F238E27FC236}">
                <a16:creationId xmlns:a16="http://schemas.microsoft.com/office/drawing/2014/main" id="{CFC8DAF9-9885-DAED-EBC9-CBADF092201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38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79547344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39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 dirty="0">
                <a:solidFill>
                  <a:srgbClr val="000090"/>
                </a:solidFill>
              </a:rPr>
              <a:t>The First NMR </a:t>
            </a:r>
            <a:r>
              <a:rPr sz="3600" i="1" dirty="0">
                <a:solidFill>
                  <a:srgbClr val="000090"/>
                </a:solidFill>
              </a:rPr>
              <a:t>Image</a:t>
            </a:r>
          </a:p>
        </p:txBody>
      </p:sp>
      <p:pic>
        <p:nvPicPr>
          <p:cNvPr id="399" name="image23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90500" y="1848383"/>
            <a:ext cx="4229100" cy="4324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0" name="image24.png"/>
          <p:cNvPicPr/>
          <p:nvPr/>
        </p:nvPicPr>
        <p:blipFill>
          <a:blip r:embed="rId4"/>
          <a:stretch>
            <a:fillRect/>
          </a:stretch>
        </p:blipFill>
        <p:spPr>
          <a:xfrm rot="21600000">
            <a:off x="4619625" y="1848383"/>
            <a:ext cx="4343400" cy="4295775"/>
          </a:xfrm>
          <a:prstGeom prst="rect">
            <a:avLst/>
          </a:prstGeom>
          <a:ln w="12700">
            <a:miter lim="400000"/>
          </a:ln>
        </p:spPr>
      </p:pic>
      <p:sp>
        <p:nvSpPr>
          <p:cNvPr id="401" name="Shape 401"/>
          <p:cNvSpPr/>
          <p:nvPr/>
        </p:nvSpPr>
        <p:spPr>
          <a:xfrm>
            <a:off x="117510" y="6267450"/>
            <a:ext cx="8458200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 algn="l">
              <a:spcBef>
                <a:spcPts val="600"/>
              </a:spcBef>
            </a:pPr>
            <a:r>
              <a:rPr sz="1200" dirty="0"/>
              <a:t>Lauterbur, P.C. (1973). Image formation by induced local interaction: Examples employing nuclear magnetic resonance. </a:t>
            </a:r>
            <a:r>
              <a:rPr sz="1200" i="1" dirty="0"/>
              <a:t>Nature</a:t>
            </a:r>
            <a:r>
              <a:rPr sz="1200" dirty="0"/>
              <a:t>, 242, 190-191.</a:t>
            </a:r>
          </a:p>
        </p:txBody>
      </p:sp>
      <p:sp>
        <p:nvSpPr>
          <p:cNvPr id="402" name="Shape 402"/>
          <p:cNvSpPr/>
          <p:nvPr/>
        </p:nvSpPr>
        <p:spPr>
          <a:xfrm>
            <a:off x="5384373" y="1661115"/>
            <a:ext cx="281390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/>
            <a:r>
              <a:rPr dirty="0"/>
              <a:t>The very first MR image!</a:t>
            </a:r>
          </a:p>
        </p:txBody>
      </p:sp>
      <p:sp>
        <p:nvSpPr>
          <p:cNvPr id="404" name="Shape 40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39</a:t>
            </a:fld>
            <a:endParaRPr sz="1200"/>
          </a:p>
        </p:txBody>
      </p:sp>
      <p:sp>
        <p:nvSpPr>
          <p:cNvPr id="405" name="Shape 405"/>
          <p:cNvSpPr/>
          <p:nvPr/>
        </p:nvSpPr>
        <p:spPr>
          <a:xfrm>
            <a:off x="1573447" y="1114305"/>
            <a:ext cx="609237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rPr dirty="0"/>
              <a:t>2-D projection method</a:t>
            </a:r>
            <a:r>
              <a:rPr lang="en-US" dirty="0"/>
              <a:t>:  4 magnetic gradients at 45˚ intervals</a:t>
            </a:r>
            <a:endParaRPr dirty="0"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>
              <a:defRPr sz="3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0090"/>
                </a:solidFill>
              </a:rPr>
              <a:t>Early Human MR Images (Damadian)</a:t>
            </a:r>
          </a:p>
        </p:txBody>
      </p:sp>
      <p:pic>
        <p:nvPicPr>
          <p:cNvPr id="408" name="pasted-image.pdf"/>
          <p:cNvPicPr/>
          <p:nvPr/>
        </p:nvPicPr>
        <p:blipFill>
          <a:blip r:embed="rId2"/>
          <a:srcRect l="6832" b="5393"/>
          <a:stretch>
            <a:fillRect/>
          </a:stretch>
        </p:blipFill>
        <p:spPr>
          <a:xfrm>
            <a:off x="288665" y="1083917"/>
            <a:ext cx="3868315" cy="5029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image25.jpg" descr="Damadian_Notebook_1_Mattson"/>
          <p:cNvPicPr/>
          <p:nvPr/>
        </p:nvPicPr>
        <p:blipFill>
          <a:blip r:embed="rId3"/>
          <a:stretch>
            <a:fillRect/>
          </a:stretch>
        </p:blipFill>
        <p:spPr>
          <a:xfrm>
            <a:off x="5410200" y="660400"/>
            <a:ext cx="3454400" cy="4572000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pic>
        <p:nvPicPr>
          <p:cNvPr id="410" name="image26.jpg" descr="Damadian_Notebook_2_Mattson"/>
          <p:cNvPicPr/>
          <p:nvPr/>
        </p:nvPicPr>
        <p:blipFill>
          <a:blip r:embed="rId4"/>
          <a:stretch>
            <a:fillRect/>
          </a:stretch>
        </p:blipFill>
        <p:spPr>
          <a:xfrm>
            <a:off x="4495800" y="4241800"/>
            <a:ext cx="3276600" cy="2574925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411" name="Shape 4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40</a:t>
            </a:fld>
            <a:endParaRPr sz="12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" grpId="1" animBg="1" advAuto="0"/>
      <p:bldP spid="410" grpId="2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First human NMR image</a:t>
            </a:r>
            <a:endParaRPr dirty="0"/>
          </a:p>
        </p:txBody>
      </p:sp>
      <p:sp>
        <p:nvSpPr>
          <p:cNvPr id="414" name="Shape 41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 lvl="0"/>
            <a:endParaRPr/>
          </a:p>
        </p:txBody>
      </p:sp>
      <p:pic>
        <p:nvPicPr>
          <p:cNvPr id="415" name="pasted-image.pdf"/>
          <p:cNvPicPr/>
          <p:nvPr/>
        </p:nvPicPr>
        <p:blipFill>
          <a:blip r:embed="rId2"/>
          <a:srcRect t="9664" b="6358"/>
          <a:stretch>
            <a:fillRect/>
          </a:stretch>
        </p:blipFill>
        <p:spPr>
          <a:xfrm>
            <a:off x="444500" y="848061"/>
            <a:ext cx="8255000" cy="5161878"/>
          </a:xfrm>
          <a:prstGeom prst="rect">
            <a:avLst/>
          </a:prstGeom>
          <a:ln w="12700">
            <a:miter lim="400000"/>
          </a:ln>
        </p:spPr>
      </p:pic>
      <p:sp>
        <p:nvSpPr>
          <p:cNvPr id="416" name="Shape 416"/>
          <p:cNvSpPr/>
          <p:nvPr/>
        </p:nvSpPr>
        <p:spPr>
          <a:xfrm>
            <a:off x="3225800" y="6172200"/>
            <a:ext cx="5181600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1400"/>
              </a:spcBef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 lvl="0">
              <a:defRPr sz="1800"/>
            </a:pPr>
            <a:r>
              <a:rPr sz="2400"/>
              <a:t>Mink5 Image – Damadian (1977)</a:t>
            </a:r>
          </a:p>
        </p:txBody>
      </p:sp>
      <p:sp>
        <p:nvSpPr>
          <p:cNvPr id="417" name="Shape 41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41</a:t>
            </a:fld>
            <a:endParaRPr sz="1200"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44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Timeline of MR Imaging</a:t>
            </a:r>
          </a:p>
        </p:txBody>
      </p:sp>
      <p:grpSp>
        <p:nvGrpSpPr>
          <p:cNvPr id="466" name="Group 466"/>
          <p:cNvGrpSpPr/>
          <p:nvPr/>
        </p:nvGrpSpPr>
        <p:grpSpPr>
          <a:xfrm>
            <a:off x="571499" y="3733800"/>
            <a:ext cx="8113715" cy="482858"/>
            <a:chOff x="0" y="0"/>
            <a:chExt cx="8113713" cy="482857"/>
          </a:xfrm>
        </p:grpSpPr>
        <p:grpSp>
          <p:nvGrpSpPr>
            <p:cNvPr id="456" name="Group 456"/>
            <p:cNvGrpSpPr/>
            <p:nvPr/>
          </p:nvGrpSpPr>
          <p:grpSpPr>
            <a:xfrm>
              <a:off x="114299" y="0"/>
              <a:ext cx="7999415" cy="4763"/>
              <a:chOff x="0" y="0"/>
              <a:chExt cx="7999413" cy="4762"/>
            </a:xfrm>
          </p:grpSpPr>
          <p:sp>
            <p:nvSpPr>
              <p:cNvPr id="447" name="Shape 447"/>
              <p:cNvSpPr/>
              <p:nvPr/>
            </p:nvSpPr>
            <p:spPr>
              <a:xfrm>
                <a:off x="0" y="4762"/>
                <a:ext cx="7999414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48" name="Shape 448"/>
              <p:cNvSpPr/>
              <p:nvPr/>
            </p:nvSpPr>
            <p:spPr>
              <a:xfrm>
                <a:off x="208292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49" name="Shape 449"/>
              <p:cNvSpPr/>
              <p:nvPr/>
            </p:nvSpPr>
            <p:spPr>
              <a:xfrm>
                <a:off x="1124280" y="0"/>
                <a:ext cx="91374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50" name="Shape 450"/>
              <p:cNvSpPr/>
              <p:nvPr/>
            </p:nvSpPr>
            <p:spPr>
              <a:xfrm>
                <a:off x="2041855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51" name="Shape 451"/>
              <p:cNvSpPr/>
              <p:nvPr/>
            </p:nvSpPr>
            <p:spPr>
              <a:xfrm>
                <a:off x="2959430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52" name="Shape 452"/>
              <p:cNvSpPr/>
              <p:nvPr/>
            </p:nvSpPr>
            <p:spPr>
              <a:xfrm>
                <a:off x="3875418" y="0"/>
                <a:ext cx="91374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53" name="Shape 453"/>
              <p:cNvSpPr/>
              <p:nvPr/>
            </p:nvSpPr>
            <p:spPr>
              <a:xfrm>
                <a:off x="4792993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54" name="Shape 454"/>
              <p:cNvSpPr/>
              <p:nvPr/>
            </p:nvSpPr>
            <p:spPr>
              <a:xfrm>
                <a:off x="5710568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55" name="Shape 455"/>
              <p:cNvSpPr/>
              <p:nvPr/>
            </p:nvSpPr>
            <p:spPr>
              <a:xfrm>
                <a:off x="6628143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457" name="Shape 457"/>
            <p:cNvSpPr/>
            <p:nvPr/>
          </p:nvSpPr>
          <p:spPr>
            <a:xfrm>
              <a:off x="0" y="171450"/>
              <a:ext cx="685800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1920</a:t>
              </a:r>
            </a:p>
          </p:txBody>
        </p:sp>
        <p:sp>
          <p:nvSpPr>
            <p:cNvPr id="458" name="Shape 458"/>
            <p:cNvSpPr/>
            <p:nvPr/>
          </p:nvSpPr>
          <p:spPr>
            <a:xfrm>
              <a:off x="914400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1930</a:t>
              </a:r>
            </a:p>
          </p:txBody>
        </p:sp>
        <p:sp>
          <p:nvSpPr>
            <p:cNvPr id="459" name="Shape 459"/>
            <p:cNvSpPr/>
            <p:nvPr/>
          </p:nvSpPr>
          <p:spPr>
            <a:xfrm>
              <a:off x="1830387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1940</a:t>
              </a:r>
            </a:p>
          </p:txBody>
        </p:sp>
        <p:sp>
          <p:nvSpPr>
            <p:cNvPr id="460" name="Shape 460"/>
            <p:cNvSpPr/>
            <p:nvPr/>
          </p:nvSpPr>
          <p:spPr>
            <a:xfrm>
              <a:off x="2746375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1950</a:t>
              </a:r>
            </a:p>
          </p:txBody>
        </p:sp>
        <p:sp>
          <p:nvSpPr>
            <p:cNvPr id="461" name="Shape 461"/>
            <p:cNvSpPr/>
            <p:nvPr/>
          </p:nvSpPr>
          <p:spPr>
            <a:xfrm>
              <a:off x="3662362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1960</a:t>
              </a:r>
            </a:p>
          </p:txBody>
        </p:sp>
        <p:sp>
          <p:nvSpPr>
            <p:cNvPr id="462" name="Shape 462"/>
            <p:cNvSpPr/>
            <p:nvPr/>
          </p:nvSpPr>
          <p:spPr>
            <a:xfrm>
              <a:off x="4576762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1970</a:t>
              </a:r>
            </a:p>
          </p:txBody>
        </p:sp>
        <p:sp>
          <p:nvSpPr>
            <p:cNvPr id="463" name="Shape 463"/>
            <p:cNvSpPr/>
            <p:nvPr/>
          </p:nvSpPr>
          <p:spPr>
            <a:xfrm>
              <a:off x="5492750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1980</a:t>
              </a:r>
            </a:p>
          </p:txBody>
        </p:sp>
        <p:sp>
          <p:nvSpPr>
            <p:cNvPr id="464" name="Shape 464"/>
            <p:cNvSpPr/>
            <p:nvPr/>
          </p:nvSpPr>
          <p:spPr>
            <a:xfrm>
              <a:off x="6408738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1990</a:t>
              </a:r>
            </a:p>
          </p:txBody>
        </p:sp>
        <p:sp>
          <p:nvSpPr>
            <p:cNvPr id="465" name="Shape 465"/>
            <p:cNvSpPr/>
            <p:nvPr/>
          </p:nvSpPr>
          <p:spPr>
            <a:xfrm>
              <a:off x="7324725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2000</a:t>
              </a:r>
            </a:p>
          </p:txBody>
        </p:sp>
      </p:grpSp>
      <p:sp>
        <p:nvSpPr>
          <p:cNvPr id="467" name="Shape 467"/>
          <p:cNvSpPr/>
          <p:nvPr/>
        </p:nvSpPr>
        <p:spPr>
          <a:xfrm>
            <a:off x="304800" y="1524000"/>
            <a:ext cx="1295400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 dirty="0">
                <a:solidFill>
                  <a:srgbClr val="C0C0C0"/>
                </a:solidFill>
              </a:rPr>
              <a:t>1924 - Pauli suggests that nuclear particles have angular momentum (spin)</a:t>
            </a:r>
            <a:r>
              <a:rPr lang="en-US" sz="1000" dirty="0">
                <a:solidFill>
                  <a:srgbClr val="C0C0C0"/>
                </a:solidFill>
              </a:rPr>
              <a:t> and magnetic moment</a:t>
            </a:r>
            <a:r>
              <a:rPr sz="1000" dirty="0">
                <a:solidFill>
                  <a:srgbClr val="C0C0C0"/>
                </a:solidFill>
              </a:rPr>
              <a:t>.</a:t>
            </a:r>
          </a:p>
        </p:txBody>
      </p:sp>
      <p:sp>
        <p:nvSpPr>
          <p:cNvPr id="473" name="Shape 473"/>
          <p:cNvSpPr/>
          <p:nvPr/>
        </p:nvSpPr>
        <p:spPr>
          <a:xfrm>
            <a:off x="4876800" y="1371600"/>
            <a:ext cx="1295400" cy="853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/>
              <a:t>1972 – Damadian patents idea for large NMR scanner to detect malignant tissue.</a:t>
            </a:r>
          </a:p>
        </p:txBody>
      </p:sp>
      <p:sp>
        <p:nvSpPr>
          <p:cNvPr id="475" name="Shape 475"/>
          <p:cNvSpPr/>
          <p:nvPr/>
        </p:nvSpPr>
        <p:spPr>
          <a:xfrm>
            <a:off x="5172075" y="2387600"/>
            <a:ext cx="1381125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 algn="r">
              <a:spcBef>
                <a:spcPts val="600"/>
              </a:spcBef>
            </a:pPr>
            <a:r>
              <a:rPr sz="1000"/>
              <a:t>1973 – Lauterbur publishes</a:t>
            </a:r>
            <a:r>
              <a:rPr sz="1000" i="1"/>
              <a:t> </a:t>
            </a:r>
            <a:r>
              <a:rPr sz="1000"/>
              <a:t>method for generating images using NMR gradients.</a:t>
            </a:r>
          </a:p>
        </p:txBody>
      </p:sp>
      <p:sp>
        <p:nvSpPr>
          <p:cNvPr id="476" name="Shape 476"/>
          <p:cNvSpPr/>
          <p:nvPr/>
        </p:nvSpPr>
        <p:spPr>
          <a:xfrm>
            <a:off x="5248275" y="4391025"/>
            <a:ext cx="129540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/>
              <a:t>1973 – Mansfield independently publishes gradient approach to MR.</a:t>
            </a:r>
          </a:p>
        </p:txBody>
      </p:sp>
      <p:sp>
        <p:nvSpPr>
          <p:cNvPr id="477" name="Shape 477"/>
          <p:cNvSpPr/>
          <p:nvPr/>
        </p:nvSpPr>
        <p:spPr>
          <a:xfrm>
            <a:off x="5334000" y="5410200"/>
            <a:ext cx="129540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/>
              <a:t>1975 – Ernst develops 2D-Fourier transform for MR.</a:t>
            </a:r>
          </a:p>
        </p:txBody>
      </p:sp>
      <p:sp>
        <p:nvSpPr>
          <p:cNvPr id="478" name="Shape 478"/>
          <p:cNvSpPr/>
          <p:nvPr/>
        </p:nvSpPr>
        <p:spPr>
          <a:xfrm>
            <a:off x="5791200" y="3306762"/>
            <a:ext cx="129540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/>
              <a:t>NMR becomes MRI</a:t>
            </a:r>
          </a:p>
        </p:txBody>
      </p:sp>
      <p:sp>
        <p:nvSpPr>
          <p:cNvPr id="480" name="Shape 480"/>
          <p:cNvSpPr/>
          <p:nvPr/>
        </p:nvSpPr>
        <p:spPr>
          <a:xfrm>
            <a:off x="6896100" y="4410075"/>
            <a:ext cx="1381125" cy="853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9C9C9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9C9C9"/>
                </a:solidFill>
              </a:rPr>
              <a:t>1990 – Ogawa and colleagues create functional images using endogenous, blood-oxygenation contrast.</a:t>
            </a:r>
          </a:p>
        </p:txBody>
      </p:sp>
      <p:sp>
        <p:nvSpPr>
          <p:cNvPr id="481" name="Shape 481"/>
          <p:cNvSpPr/>
          <p:nvPr/>
        </p:nvSpPr>
        <p:spPr>
          <a:xfrm>
            <a:off x="6305550" y="1819275"/>
            <a:ext cx="129540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9C9C9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 dirty="0">
                <a:solidFill>
                  <a:srgbClr val="C9C9C9"/>
                </a:solidFill>
              </a:rPr>
              <a:t>1985 – Insurance reimbursements for MRI exams begin.</a:t>
            </a:r>
          </a:p>
        </p:txBody>
      </p:sp>
      <p:sp>
        <p:nvSpPr>
          <p:cNvPr id="482" name="Shape 482"/>
          <p:cNvSpPr/>
          <p:nvPr/>
        </p:nvSpPr>
        <p:spPr>
          <a:xfrm>
            <a:off x="412750" y="3276600"/>
            <a:ext cx="990600" cy="89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3200"/>
              </a:spcBef>
              <a:defRPr sz="5400">
                <a:solidFill>
                  <a:srgbClr val="FF000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483" name="Shape 483"/>
          <p:cNvSpPr/>
          <p:nvPr/>
        </p:nvSpPr>
        <p:spPr>
          <a:xfrm>
            <a:off x="2667000" y="3276600"/>
            <a:ext cx="990600" cy="89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3200"/>
              </a:spcBef>
              <a:defRPr sz="5400">
                <a:solidFill>
                  <a:srgbClr val="FF000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484" name="Shape 484"/>
          <p:cNvSpPr/>
          <p:nvPr/>
        </p:nvSpPr>
        <p:spPr>
          <a:xfrm>
            <a:off x="5257800" y="3276600"/>
            <a:ext cx="990600" cy="89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3200"/>
              </a:spcBef>
              <a:defRPr sz="5400">
                <a:solidFill>
                  <a:srgbClr val="FF000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85" name="Shape 48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42</a:t>
            </a:fld>
            <a:endParaRPr sz="1200"/>
          </a:p>
        </p:txBody>
      </p:sp>
      <p:sp>
        <p:nvSpPr>
          <p:cNvPr id="42" name="Shape 372"/>
          <p:cNvSpPr/>
          <p:nvPr/>
        </p:nvSpPr>
        <p:spPr>
          <a:xfrm>
            <a:off x="1731130" y="1825162"/>
            <a:ext cx="1447800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rgbClr val="A7A7A7"/>
                </a:solidFill>
              </a:rPr>
              <a:t>1937 – Rabi measures magnetic moment of nucleus. Coins “magnetic resonance”.</a:t>
            </a:r>
          </a:p>
        </p:txBody>
      </p:sp>
      <p:sp>
        <p:nvSpPr>
          <p:cNvPr id="43" name="Shape 373"/>
          <p:cNvSpPr/>
          <p:nvPr/>
        </p:nvSpPr>
        <p:spPr>
          <a:xfrm>
            <a:off x="2438400" y="2815762"/>
            <a:ext cx="12954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rgbClr val="A7A7A7"/>
                </a:solidFill>
              </a:rPr>
              <a:t>1944 – Rabi wins Nobel prize in Physics.</a:t>
            </a:r>
          </a:p>
        </p:txBody>
      </p:sp>
      <p:sp>
        <p:nvSpPr>
          <p:cNvPr id="44" name="Shape 374"/>
          <p:cNvSpPr/>
          <p:nvPr/>
        </p:nvSpPr>
        <p:spPr>
          <a:xfrm>
            <a:off x="2362200" y="5093396"/>
            <a:ext cx="14478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rgbClr val="A7A7A7"/>
                </a:solidFill>
              </a:rPr>
              <a:t>1946 – Purcell shows that matter absorbs energy at a resonant frequency.</a:t>
            </a:r>
          </a:p>
        </p:txBody>
      </p:sp>
      <p:sp>
        <p:nvSpPr>
          <p:cNvPr id="45" name="Shape 375"/>
          <p:cNvSpPr/>
          <p:nvPr/>
        </p:nvSpPr>
        <p:spPr>
          <a:xfrm>
            <a:off x="2286000" y="6083996"/>
            <a:ext cx="17526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>
                <a:solidFill>
                  <a:srgbClr val="A7A7A7"/>
                </a:solidFill>
              </a:rPr>
              <a:t>1946 – Bloch demonstrates that nuclear precession can be measured in detector coils.</a:t>
            </a:r>
          </a:p>
        </p:txBody>
      </p:sp>
      <p:sp>
        <p:nvSpPr>
          <p:cNvPr id="46" name="Shape 376"/>
          <p:cNvSpPr/>
          <p:nvPr/>
        </p:nvSpPr>
        <p:spPr>
          <a:xfrm>
            <a:off x="3276663" y="4208363"/>
            <a:ext cx="12954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rgbClr val="A7A7A7"/>
                </a:solidFill>
              </a:rPr>
              <a:t>1952 – Purcell and Bloch share Nobel prize in Physics.</a:t>
            </a:r>
          </a:p>
        </p:txBody>
      </p:sp>
      <p:sp>
        <p:nvSpPr>
          <p:cNvPr id="41" name="Shape 520"/>
          <p:cNvSpPr/>
          <p:nvPr/>
        </p:nvSpPr>
        <p:spPr>
          <a:xfrm>
            <a:off x="6595700" y="2438400"/>
            <a:ext cx="12954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chemeClr val="tx2"/>
                </a:solidFill>
              </a:rPr>
              <a:t>MRI scanners become clinically prevalent</a:t>
            </a:r>
            <a:r>
              <a:rPr lang="en-US" sz="1000" dirty="0">
                <a:solidFill>
                  <a:schemeClr val="tx2"/>
                </a:solidFill>
              </a:rPr>
              <a:t> and mainstay at hospitals</a:t>
            </a:r>
            <a:r>
              <a:rPr sz="1000" dirty="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00090"/>
                </a:solidFill>
              </a:rPr>
              <a:t>Advantages of MRI</a:t>
            </a:r>
          </a:p>
        </p:txBody>
      </p:sp>
      <p:sp>
        <p:nvSpPr>
          <p:cNvPr id="443" name="Shape 44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2899" lvl="0" indent="-342899">
              <a:defRPr sz="1800"/>
            </a:pPr>
            <a:r>
              <a:rPr sz="2600" u="sng" dirty="0"/>
              <a:t>high-resolution images</a:t>
            </a:r>
            <a:r>
              <a:rPr sz="2600" dirty="0"/>
              <a:t> that can visualize a </a:t>
            </a:r>
            <a:r>
              <a:rPr sz="2600" u="sng" dirty="0"/>
              <a:t>variety of tissues</a:t>
            </a:r>
            <a:r>
              <a:rPr sz="2600" dirty="0"/>
              <a:t> (bones, soft tissue, etc.) in the </a:t>
            </a:r>
            <a:r>
              <a:rPr sz="2600" u="sng" dirty="0"/>
              <a:t>same image</a:t>
            </a:r>
          </a:p>
          <a:p>
            <a:pPr lvl="2">
              <a:defRPr sz="1800"/>
            </a:pPr>
            <a:endParaRPr sz="1000" dirty="0"/>
          </a:p>
          <a:p>
            <a:pPr marL="342899" lvl="0" indent="-342899">
              <a:defRPr sz="1800"/>
            </a:pPr>
            <a:r>
              <a:rPr sz="2600" dirty="0"/>
              <a:t>does </a:t>
            </a:r>
            <a:r>
              <a:rPr sz="2600" u="sng" dirty="0"/>
              <a:t>not require ionizing radiation</a:t>
            </a:r>
            <a:r>
              <a:rPr sz="2600" dirty="0"/>
              <a:t> (</a:t>
            </a:r>
            <a:r>
              <a:rPr lang="en-US" sz="2600" dirty="0"/>
              <a:t>different from </a:t>
            </a:r>
            <a:r>
              <a:rPr sz="2600" dirty="0"/>
              <a:t>x-rays, CT scans)</a:t>
            </a:r>
          </a:p>
          <a:p>
            <a:pPr lvl="2">
              <a:defRPr sz="1800"/>
            </a:pPr>
            <a:endParaRPr sz="1000" dirty="0"/>
          </a:p>
          <a:p>
            <a:pPr marL="342899" lvl="0" indent="-342899">
              <a:defRPr sz="1800"/>
            </a:pPr>
            <a:r>
              <a:rPr sz="2600" dirty="0"/>
              <a:t>can obtain images in </a:t>
            </a:r>
            <a:r>
              <a:rPr sz="2600" u="sng" dirty="0"/>
              <a:t>any plane</a:t>
            </a:r>
            <a:r>
              <a:rPr sz="2600" dirty="0"/>
              <a:t> through the body</a:t>
            </a:r>
          </a:p>
        </p:txBody>
      </p:sp>
      <p:sp>
        <p:nvSpPr>
          <p:cNvPr id="444" name="Shape 4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43</a:t>
            </a:fld>
            <a:endParaRPr sz="1200"/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48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Timeline of MR Imaging</a:t>
            </a:r>
          </a:p>
        </p:txBody>
      </p:sp>
      <p:grpSp>
        <p:nvGrpSpPr>
          <p:cNvPr id="507" name="Group 507"/>
          <p:cNvGrpSpPr/>
          <p:nvPr/>
        </p:nvGrpSpPr>
        <p:grpSpPr>
          <a:xfrm>
            <a:off x="571499" y="3733800"/>
            <a:ext cx="8113715" cy="482858"/>
            <a:chOff x="0" y="0"/>
            <a:chExt cx="8113713" cy="482857"/>
          </a:xfrm>
        </p:grpSpPr>
        <p:grpSp>
          <p:nvGrpSpPr>
            <p:cNvPr id="497" name="Group 497"/>
            <p:cNvGrpSpPr/>
            <p:nvPr/>
          </p:nvGrpSpPr>
          <p:grpSpPr>
            <a:xfrm>
              <a:off x="114299" y="0"/>
              <a:ext cx="7999415" cy="4763"/>
              <a:chOff x="0" y="0"/>
              <a:chExt cx="7999413" cy="4762"/>
            </a:xfrm>
          </p:grpSpPr>
          <p:sp>
            <p:nvSpPr>
              <p:cNvPr id="488" name="Shape 488"/>
              <p:cNvSpPr/>
              <p:nvPr/>
            </p:nvSpPr>
            <p:spPr>
              <a:xfrm>
                <a:off x="0" y="4762"/>
                <a:ext cx="7999414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89" name="Shape 489"/>
              <p:cNvSpPr/>
              <p:nvPr/>
            </p:nvSpPr>
            <p:spPr>
              <a:xfrm>
                <a:off x="208292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90" name="Shape 490"/>
              <p:cNvSpPr/>
              <p:nvPr/>
            </p:nvSpPr>
            <p:spPr>
              <a:xfrm>
                <a:off x="1124280" y="0"/>
                <a:ext cx="91374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91" name="Shape 491"/>
              <p:cNvSpPr/>
              <p:nvPr/>
            </p:nvSpPr>
            <p:spPr>
              <a:xfrm>
                <a:off x="2041855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92" name="Shape 492"/>
              <p:cNvSpPr/>
              <p:nvPr/>
            </p:nvSpPr>
            <p:spPr>
              <a:xfrm>
                <a:off x="2959430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93" name="Shape 493"/>
              <p:cNvSpPr/>
              <p:nvPr/>
            </p:nvSpPr>
            <p:spPr>
              <a:xfrm>
                <a:off x="3875418" y="0"/>
                <a:ext cx="913740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94" name="Shape 494"/>
              <p:cNvSpPr/>
              <p:nvPr/>
            </p:nvSpPr>
            <p:spPr>
              <a:xfrm>
                <a:off x="4792993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95" name="Shape 495"/>
              <p:cNvSpPr/>
              <p:nvPr/>
            </p:nvSpPr>
            <p:spPr>
              <a:xfrm>
                <a:off x="5710568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496" name="Shape 496"/>
              <p:cNvSpPr/>
              <p:nvPr/>
            </p:nvSpPr>
            <p:spPr>
              <a:xfrm>
                <a:off x="6628143" y="0"/>
                <a:ext cx="91374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 defTabSz="457200">
                  <a:spcBef>
                    <a:spcPts val="0"/>
                  </a:spcBef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498" name="Shape 498"/>
            <p:cNvSpPr/>
            <p:nvPr/>
          </p:nvSpPr>
          <p:spPr>
            <a:xfrm>
              <a:off x="0" y="171450"/>
              <a:ext cx="685800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1920</a:t>
              </a:r>
            </a:p>
          </p:txBody>
        </p:sp>
        <p:sp>
          <p:nvSpPr>
            <p:cNvPr id="499" name="Shape 499"/>
            <p:cNvSpPr/>
            <p:nvPr/>
          </p:nvSpPr>
          <p:spPr>
            <a:xfrm>
              <a:off x="914400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1930</a:t>
              </a:r>
            </a:p>
          </p:txBody>
        </p:sp>
        <p:sp>
          <p:nvSpPr>
            <p:cNvPr id="500" name="Shape 500"/>
            <p:cNvSpPr/>
            <p:nvPr/>
          </p:nvSpPr>
          <p:spPr>
            <a:xfrm>
              <a:off x="1830387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1940</a:t>
              </a:r>
            </a:p>
          </p:txBody>
        </p:sp>
        <p:sp>
          <p:nvSpPr>
            <p:cNvPr id="501" name="Shape 501"/>
            <p:cNvSpPr/>
            <p:nvPr/>
          </p:nvSpPr>
          <p:spPr>
            <a:xfrm>
              <a:off x="2746375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1950</a:t>
              </a:r>
            </a:p>
          </p:txBody>
        </p:sp>
        <p:sp>
          <p:nvSpPr>
            <p:cNvPr id="502" name="Shape 502"/>
            <p:cNvSpPr/>
            <p:nvPr/>
          </p:nvSpPr>
          <p:spPr>
            <a:xfrm>
              <a:off x="3662362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1960</a:t>
              </a:r>
            </a:p>
          </p:txBody>
        </p:sp>
        <p:sp>
          <p:nvSpPr>
            <p:cNvPr id="503" name="Shape 503"/>
            <p:cNvSpPr/>
            <p:nvPr/>
          </p:nvSpPr>
          <p:spPr>
            <a:xfrm>
              <a:off x="4576762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1970</a:t>
              </a:r>
            </a:p>
          </p:txBody>
        </p:sp>
        <p:sp>
          <p:nvSpPr>
            <p:cNvPr id="504" name="Shape 504"/>
            <p:cNvSpPr/>
            <p:nvPr/>
          </p:nvSpPr>
          <p:spPr>
            <a:xfrm>
              <a:off x="5492750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1980</a:t>
              </a:r>
            </a:p>
          </p:txBody>
        </p:sp>
        <p:sp>
          <p:nvSpPr>
            <p:cNvPr id="505" name="Shape 505"/>
            <p:cNvSpPr/>
            <p:nvPr/>
          </p:nvSpPr>
          <p:spPr>
            <a:xfrm>
              <a:off x="6408738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1990</a:t>
              </a:r>
            </a:p>
          </p:txBody>
        </p:sp>
        <p:sp>
          <p:nvSpPr>
            <p:cNvPr id="506" name="Shape 506"/>
            <p:cNvSpPr/>
            <p:nvPr/>
          </p:nvSpPr>
          <p:spPr>
            <a:xfrm>
              <a:off x="7324725" y="171450"/>
              <a:ext cx="685801" cy="3114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spcBef>
                  <a:spcPts val="900"/>
                </a:spcBef>
                <a:defRPr sz="16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600"/>
                <a:t>2000</a:t>
              </a:r>
            </a:p>
          </p:txBody>
        </p:sp>
      </p:grpSp>
      <p:sp>
        <p:nvSpPr>
          <p:cNvPr id="508" name="Shape 508"/>
          <p:cNvSpPr/>
          <p:nvPr/>
        </p:nvSpPr>
        <p:spPr>
          <a:xfrm>
            <a:off x="304800" y="1524000"/>
            <a:ext cx="1295400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 dirty="0">
                <a:solidFill>
                  <a:srgbClr val="C0C0C0"/>
                </a:solidFill>
              </a:rPr>
              <a:t>1924 - Pauli suggests that nuclear particles have angular momentum (spin)</a:t>
            </a:r>
            <a:r>
              <a:rPr lang="en-US" sz="1000" dirty="0">
                <a:solidFill>
                  <a:srgbClr val="C0C0C0"/>
                </a:solidFill>
              </a:rPr>
              <a:t> and magnetic moment</a:t>
            </a:r>
            <a:r>
              <a:rPr sz="1000" dirty="0">
                <a:solidFill>
                  <a:srgbClr val="C0C0C0"/>
                </a:solidFill>
              </a:rPr>
              <a:t>.</a:t>
            </a:r>
          </a:p>
        </p:txBody>
      </p:sp>
      <p:sp>
        <p:nvSpPr>
          <p:cNvPr id="514" name="Shape 514"/>
          <p:cNvSpPr/>
          <p:nvPr/>
        </p:nvSpPr>
        <p:spPr>
          <a:xfrm>
            <a:off x="4876800" y="1371600"/>
            <a:ext cx="1295400" cy="853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1972 – Damadian patents idea for large NMR scanner to detect malignant tissue.</a:t>
            </a:r>
          </a:p>
        </p:txBody>
      </p:sp>
      <p:sp>
        <p:nvSpPr>
          <p:cNvPr id="516" name="Shape 516"/>
          <p:cNvSpPr/>
          <p:nvPr/>
        </p:nvSpPr>
        <p:spPr>
          <a:xfrm>
            <a:off x="5172075" y="2387600"/>
            <a:ext cx="1381125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 algn="r">
              <a:spcBef>
                <a:spcPts val="600"/>
              </a:spcBef>
            </a:pPr>
            <a:r>
              <a:rPr sz="1000">
                <a:solidFill>
                  <a:srgbClr val="C0C0C0"/>
                </a:solidFill>
              </a:rPr>
              <a:t>1973 – Lauterbur publishes</a:t>
            </a:r>
            <a:r>
              <a:rPr sz="1000" i="1">
                <a:solidFill>
                  <a:srgbClr val="C0C0C0"/>
                </a:solidFill>
              </a:rPr>
              <a:t> </a:t>
            </a:r>
            <a:r>
              <a:rPr sz="1000">
                <a:solidFill>
                  <a:srgbClr val="C0C0C0"/>
                </a:solidFill>
              </a:rPr>
              <a:t>method for generating images using NMR gradients.</a:t>
            </a:r>
          </a:p>
        </p:txBody>
      </p:sp>
      <p:sp>
        <p:nvSpPr>
          <p:cNvPr id="517" name="Shape 517"/>
          <p:cNvSpPr/>
          <p:nvPr/>
        </p:nvSpPr>
        <p:spPr>
          <a:xfrm>
            <a:off x="5248275" y="4391025"/>
            <a:ext cx="129540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1973 – Mansfield independently publishes gradient approach to MR.</a:t>
            </a:r>
          </a:p>
        </p:txBody>
      </p:sp>
      <p:sp>
        <p:nvSpPr>
          <p:cNvPr id="518" name="Shape 518"/>
          <p:cNvSpPr/>
          <p:nvPr/>
        </p:nvSpPr>
        <p:spPr>
          <a:xfrm>
            <a:off x="5334000" y="5410200"/>
            <a:ext cx="129540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1975 – Ernst develops 2D-Fourier transform for MR.</a:t>
            </a:r>
          </a:p>
        </p:txBody>
      </p:sp>
      <p:sp>
        <p:nvSpPr>
          <p:cNvPr id="519" name="Shape 519"/>
          <p:cNvSpPr/>
          <p:nvPr/>
        </p:nvSpPr>
        <p:spPr>
          <a:xfrm>
            <a:off x="5791200" y="3306762"/>
            <a:ext cx="129540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>
                <a:solidFill>
                  <a:srgbClr val="C0C0C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>
                <a:solidFill>
                  <a:srgbClr val="C0C0C0"/>
                </a:solidFill>
              </a:rPr>
              <a:t>NMR becomes MRI</a:t>
            </a:r>
          </a:p>
        </p:txBody>
      </p:sp>
      <p:sp>
        <p:nvSpPr>
          <p:cNvPr id="520" name="Shape 520"/>
          <p:cNvSpPr/>
          <p:nvPr/>
        </p:nvSpPr>
        <p:spPr>
          <a:xfrm>
            <a:off x="6595700" y="2438400"/>
            <a:ext cx="12954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/>
              <a:t>MRI scanners become clinically prevalent</a:t>
            </a:r>
            <a:r>
              <a:rPr lang="en-US" sz="1000" dirty="0"/>
              <a:t> and mainstay at hospitals</a:t>
            </a:r>
            <a:r>
              <a:rPr sz="1000" dirty="0"/>
              <a:t>.</a:t>
            </a:r>
          </a:p>
        </p:txBody>
      </p:sp>
      <p:sp>
        <p:nvSpPr>
          <p:cNvPr id="521" name="Shape 521"/>
          <p:cNvSpPr/>
          <p:nvPr/>
        </p:nvSpPr>
        <p:spPr>
          <a:xfrm>
            <a:off x="6765530" y="4410075"/>
            <a:ext cx="1381125" cy="853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/>
              <a:t>1990 – Ogawa and colleagues create functional images using endogenous, blood-oxygenation contrast.</a:t>
            </a:r>
          </a:p>
        </p:txBody>
      </p:sp>
      <p:sp>
        <p:nvSpPr>
          <p:cNvPr id="522" name="Shape 522"/>
          <p:cNvSpPr/>
          <p:nvPr/>
        </p:nvSpPr>
        <p:spPr>
          <a:xfrm>
            <a:off x="6305550" y="1819275"/>
            <a:ext cx="129540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/>
              <a:t>1985 – Insurance reimbursements for MRI exams begin.</a:t>
            </a:r>
          </a:p>
        </p:txBody>
      </p:sp>
      <p:sp>
        <p:nvSpPr>
          <p:cNvPr id="523" name="Shape 523"/>
          <p:cNvSpPr/>
          <p:nvPr/>
        </p:nvSpPr>
        <p:spPr>
          <a:xfrm>
            <a:off x="412750" y="3276600"/>
            <a:ext cx="990600" cy="89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3200"/>
              </a:spcBef>
              <a:defRPr sz="5400">
                <a:solidFill>
                  <a:srgbClr val="FF000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524" name="Shape 524"/>
          <p:cNvSpPr/>
          <p:nvPr/>
        </p:nvSpPr>
        <p:spPr>
          <a:xfrm>
            <a:off x="2667000" y="3276600"/>
            <a:ext cx="990600" cy="89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3200"/>
              </a:spcBef>
              <a:defRPr sz="5400">
                <a:solidFill>
                  <a:srgbClr val="FF000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525" name="Shape 525"/>
          <p:cNvSpPr/>
          <p:nvPr/>
        </p:nvSpPr>
        <p:spPr>
          <a:xfrm>
            <a:off x="5257800" y="3276600"/>
            <a:ext cx="990600" cy="89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3200"/>
              </a:spcBef>
              <a:defRPr sz="5400">
                <a:solidFill>
                  <a:srgbClr val="FF000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526" name="Shape 526"/>
          <p:cNvSpPr/>
          <p:nvPr/>
        </p:nvSpPr>
        <p:spPr>
          <a:xfrm>
            <a:off x="6699870" y="3276600"/>
            <a:ext cx="990600" cy="89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3200"/>
              </a:spcBef>
              <a:defRPr sz="5400">
                <a:solidFill>
                  <a:srgbClr val="FF0000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527" name="Shape 52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44</a:t>
            </a:fld>
            <a:endParaRPr sz="1200"/>
          </a:p>
        </p:txBody>
      </p:sp>
      <p:sp>
        <p:nvSpPr>
          <p:cNvPr id="43" name="Shape 372"/>
          <p:cNvSpPr/>
          <p:nvPr/>
        </p:nvSpPr>
        <p:spPr>
          <a:xfrm>
            <a:off x="1731130" y="1825162"/>
            <a:ext cx="1447800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chemeClr val="tx2"/>
                </a:solidFill>
              </a:rPr>
              <a:t>1937 – Rabi measures magnetic moment of nucleus. Coins “magnetic resonance”.</a:t>
            </a:r>
          </a:p>
        </p:txBody>
      </p:sp>
      <p:sp>
        <p:nvSpPr>
          <p:cNvPr id="44" name="Shape 373"/>
          <p:cNvSpPr/>
          <p:nvPr/>
        </p:nvSpPr>
        <p:spPr>
          <a:xfrm>
            <a:off x="2438400" y="2815762"/>
            <a:ext cx="12954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chemeClr val="tx2"/>
                </a:solidFill>
              </a:rPr>
              <a:t>1944 – Rabi wins Nobel prize in Physics.</a:t>
            </a:r>
          </a:p>
        </p:txBody>
      </p:sp>
      <p:sp>
        <p:nvSpPr>
          <p:cNvPr id="45" name="Shape 374"/>
          <p:cNvSpPr/>
          <p:nvPr/>
        </p:nvSpPr>
        <p:spPr>
          <a:xfrm>
            <a:off x="2362200" y="5093396"/>
            <a:ext cx="14478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chemeClr val="tx2"/>
                </a:solidFill>
              </a:rPr>
              <a:t>1946 – Purcell shows that matter absorbs energy at a resonant frequency.</a:t>
            </a:r>
          </a:p>
        </p:txBody>
      </p:sp>
      <p:sp>
        <p:nvSpPr>
          <p:cNvPr id="46" name="Shape 375"/>
          <p:cNvSpPr/>
          <p:nvPr/>
        </p:nvSpPr>
        <p:spPr>
          <a:xfrm>
            <a:off x="2286000" y="6083996"/>
            <a:ext cx="17526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>
                <a:solidFill>
                  <a:schemeClr val="tx2"/>
                </a:solidFill>
              </a:rPr>
              <a:t>1946 – Bloch demonstrates that nuclear precession can be measured in detector coils.</a:t>
            </a:r>
          </a:p>
        </p:txBody>
      </p:sp>
      <p:sp>
        <p:nvSpPr>
          <p:cNvPr id="47" name="Shape 376"/>
          <p:cNvSpPr/>
          <p:nvPr/>
        </p:nvSpPr>
        <p:spPr>
          <a:xfrm>
            <a:off x="3276663" y="4208363"/>
            <a:ext cx="129540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600"/>
              </a:spcBef>
              <a:defRPr sz="1000"/>
            </a:lvl1pPr>
          </a:lstStyle>
          <a:p>
            <a:pPr lvl="0">
              <a:defRPr sz="1800"/>
            </a:pPr>
            <a:r>
              <a:rPr sz="1000" dirty="0">
                <a:solidFill>
                  <a:schemeClr val="tx2"/>
                </a:solidFill>
              </a:rPr>
              <a:t>1952 – Purcell and Bloch share Nobel prize in Physics.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" grpId="1" animBg="1" advAuto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52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000090"/>
                </a:solidFill>
              </a:rPr>
              <a:t>Physiology (BOLD Contrast)</a:t>
            </a:r>
          </a:p>
        </p:txBody>
      </p:sp>
      <p:pic>
        <p:nvPicPr>
          <p:cNvPr id="530" name="image34.png" descr="neuron_whyfiles_org_trans2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" y="1075728"/>
            <a:ext cx="1757364" cy="148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" name="image34.png" descr="neuron_whyfiles_org_trans2"/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1855191"/>
            <a:ext cx="1757364" cy="148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32" name="image34.png" descr="neuron_whyfiles_org_trans2"/>
          <p:cNvPicPr/>
          <p:nvPr/>
        </p:nvPicPr>
        <p:blipFill>
          <a:blip r:embed="rId3"/>
          <a:stretch>
            <a:fillRect/>
          </a:stretch>
        </p:blipFill>
        <p:spPr>
          <a:xfrm>
            <a:off x="909637" y="1532929"/>
            <a:ext cx="1757363" cy="148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33" name="image34.png" descr="neuron_whyfiles_org_trans2"/>
          <p:cNvPicPr/>
          <p:nvPr/>
        </p:nvPicPr>
        <p:blipFill>
          <a:blip r:embed="rId3"/>
          <a:stretch>
            <a:fillRect/>
          </a:stretch>
        </p:blipFill>
        <p:spPr>
          <a:xfrm>
            <a:off x="304800" y="1304328"/>
            <a:ext cx="1757364" cy="148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" name="image34.png" descr="neuron_whyfiles_org_trans2"/>
          <p:cNvPicPr/>
          <p:nvPr/>
        </p:nvPicPr>
        <p:blipFill>
          <a:blip r:embed="rId3"/>
          <a:stretch>
            <a:fillRect/>
          </a:stretch>
        </p:blipFill>
        <p:spPr>
          <a:xfrm>
            <a:off x="1371600" y="2218729"/>
            <a:ext cx="1757364" cy="148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" name="image34.png" descr="neuron_whyfiles_org_trans2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" y="2294929"/>
            <a:ext cx="1757364" cy="1487488"/>
          </a:xfrm>
          <a:prstGeom prst="rect">
            <a:avLst/>
          </a:prstGeom>
          <a:ln w="12700">
            <a:miter lim="400000"/>
          </a:ln>
        </p:spPr>
      </p:pic>
      <p:sp>
        <p:nvSpPr>
          <p:cNvPr id="536" name="Shape 536"/>
          <p:cNvSpPr/>
          <p:nvPr/>
        </p:nvSpPr>
        <p:spPr>
          <a:xfrm>
            <a:off x="2057400" y="1228128"/>
            <a:ext cx="304800" cy="304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472" y="0"/>
                </a:moveTo>
                <a:lnTo>
                  <a:pt x="12860" y="6080"/>
                </a:lnTo>
                <a:lnTo>
                  <a:pt x="11050" y="6797"/>
                </a:lnTo>
                <a:lnTo>
                  <a:pt x="16577" y="12007"/>
                </a:lnTo>
                <a:lnTo>
                  <a:pt x="14767" y="12877"/>
                </a:lnTo>
                <a:lnTo>
                  <a:pt x="21600" y="21600"/>
                </a:lnTo>
                <a:lnTo>
                  <a:pt x="10012" y="14915"/>
                </a:lnTo>
                <a:lnTo>
                  <a:pt x="12222" y="13987"/>
                </a:lnTo>
                <a:lnTo>
                  <a:pt x="5022" y="9705"/>
                </a:lnTo>
                <a:lnTo>
                  <a:pt x="7602" y="8382"/>
                </a:lnTo>
                <a:lnTo>
                  <a:pt x="0" y="3890"/>
                </a:lnTo>
                <a:close/>
              </a:path>
            </a:pathLst>
          </a:custGeom>
          <a:solidFill>
            <a:srgbClr val="775F55"/>
          </a:solidFill>
          <a:ln>
            <a:solidFill>
              <a:srgbClr val="FF00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pPr>
            <a:endParaRPr/>
          </a:p>
        </p:txBody>
      </p:sp>
      <p:sp>
        <p:nvSpPr>
          <p:cNvPr id="537" name="Shape 537"/>
          <p:cNvSpPr/>
          <p:nvPr/>
        </p:nvSpPr>
        <p:spPr>
          <a:xfrm>
            <a:off x="2541588" y="2377479"/>
            <a:ext cx="304801" cy="304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472" y="0"/>
                </a:moveTo>
                <a:lnTo>
                  <a:pt x="12860" y="6080"/>
                </a:lnTo>
                <a:lnTo>
                  <a:pt x="11050" y="6797"/>
                </a:lnTo>
                <a:lnTo>
                  <a:pt x="16577" y="12007"/>
                </a:lnTo>
                <a:lnTo>
                  <a:pt x="14767" y="12877"/>
                </a:lnTo>
                <a:lnTo>
                  <a:pt x="21600" y="21600"/>
                </a:lnTo>
                <a:lnTo>
                  <a:pt x="10012" y="14915"/>
                </a:lnTo>
                <a:lnTo>
                  <a:pt x="12222" y="13987"/>
                </a:lnTo>
                <a:lnTo>
                  <a:pt x="5022" y="9705"/>
                </a:lnTo>
                <a:lnTo>
                  <a:pt x="7602" y="8382"/>
                </a:lnTo>
                <a:lnTo>
                  <a:pt x="0" y="3890"/>
                </a:lnTo>
                <a:close/>
              </a:path>
            </a:pathLst>
          </a:custGeom>
          <a:solidFill>
            <a:srgbClr val="775F55"/>
          </a:solidFill>
          <a:ln>
            <a:solidFill>
              <a:srgbClr val="FF0000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pPr>
            <a:endParaRPr/>
          </a:p>
        </p:txBody>
      </p:sp>
      <p:sp>
        <p:nvSpPr>
          <p:cNvPr id="538" name="Shape 538"/>
          <p:cNvSpPr/>
          <p:nvPr/>
        </p:nvSpPr>
        <p:spPr>
          <a:xfrm>
            <a:off x="3324225" y="1918691"/>
            <a:ext cx="928688" cy="796925"/>
          </a:xfrm>
          <a:prstGeom prst="rightArrow">
            <a:avLst>
              <a:gd name="adj1" fmla="val 50000"/>
              <a:gd name="adj2" fmla="val 29133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pPr>
            <a:endParaRPr/>
          </a:p>
        </p:txBody>
      </p:sp>
      <p:pic>
        <p:nvPicPr>
          <p:cNvPr id="539" name="image35.jpg" descr="fmri-fig-07-14-1"/>
          <p:cNvPicPr/>
          <p:nvPr/>
        </p:nvPicPr>
        <p:blipFill>
          <a:blip r:embed="rId4"/>
          <a:srcRect t="17857" b="13715"/>
          <a:stretch>
            <a:fillRect/>
          </a:stretch>
        </p:blipFill>
        <p:spPr>
          <a:xfrm>
            <a:off x="4724400" y="1031278"/>
            <a:ext cx="4268788" cy="219075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4" name="Group 554"/>
          <p:cNvGrpSpPr/>
          <p:nvPr/>
        </p:nvGrpSpPr>
        <p:grpSpPr>
          <a:xfrm>
            <a:off x="366713" y="3626840"/>
            <a:ext cx="8613776" cy="2706690"/>
            <a:chOff x="0" y="0"/>
            <a:chExt cx="8613775" cy="2706688"/>
          </a:xfrm>
        </p:grpSpPr>
        <p:pic>
          <p:nvPicPr>
            <p:cNvPr id="540" name="image34.png" descr="neuron_whyfiles_org_trans2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6687" y="1219200"/>
              <a:ext cx="1757363" cy="1487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1" name="image34.png" descr="neuron_whyfiles_org_trans2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6687" y="-1"/>
              <a:ext cx="1757363" cy="1487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2" name="image34.png" descr="neuron_whyfiles_org_trans2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47687" y="779462"/>
              <a:ext cx="1757363" cy="1487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3" name="image34.png" descr="neuron_whyfiles_org_trans2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19125" y="496887"/>
              <a:ext cx="1757363" cy="1487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4" name="image34.png" descr="neuron_whyfiles_org_trans2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4287" y="228600"/>
              <a:ext cx="1757363" cy="14874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5" name="image34.png" descr="neuron_whyfiles_org_trans2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081087" y="1143000"/>
              <a:ext cx="1757363" cy="1487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46" name="Shape 546"/>
            <p:cNvSpPr/>
            <p:nvPr/>
          </p:nvSpPr>
          <p:spPr>
            <a:xfrm>
              <a:off x="1747837" y="69849"/>
              <a:ext cx="304801" cy="30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72" y="0"/>
                  </a:moveTo>
                  <a:lnTo>
                    <a:pt x="12860" y="6080"/>
                  </a:lnTo>
                  <a:lnTo>
                    <a:pt x="11050" y="6797"/>
                  </a:lnTo>
                  <a:lnTo>
                    <a:pt x="16577" y="12007"/>
                  </a:lnTo>
                  <a:lnTo>
                    <a:pt x="14767" y="12877"/>
                  </a:lnTo>
                  <a:lnTo>
                    <a:pt x="21600" y="21600"/>
                  </a:lnTo>
                  <a:lnTo>
                    <a:pt x="10012" y="14915"/>
                  </a:lnTo>
                  <a:lnTo>
                    <a:pt x="12222" y="13987"/>
                  </a:lnTo>
                  <a:lnTo>
                    <a:pt x="5022" y="9705"/>
                  </a:lnTo>
                  <a:lnTo>
                    <a:pt x="7602" y="8382"/>
                  </a:lnTo>
                  <a:lnTo>
                    <a:pt x="0" y="3890"/>
                  </a:lnTo>
                  <a:close/>
                </a:path>
              </a:pathLst>
            </a:custGeom>
            <a:solidFill>
              <a:srgbClr val="775F55"/>
            </a:solidFill>
            <a:ln w="9525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Trebuchet MS Bold"/>
                  <a:ea typeface="Trebuchet MS Bold"/>
                  <a:cs typeface="Trebuchet MS Bold"/>
                  <a:sym typeface="Trebuchet MS Bold"/>
                </a:defRPr>
              </a:pPr>
              <a:endParaRPr/>
            </a:p>
          </p:txBody>
        </p:sp>
        <p:sp>
          <p:nvSpPr>
            <p:cNvPr id="547" name="Shape 547"/>
            <p:cNvSpPr/>
            <p:nvPr/>
          </p:nvSpPr>
          <p:spPr>
            <a:xfrm>
              <a:off x="1843087" y="801687"/>
              <a:ext cx="304801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72" y="0"/>
                  </a:moveTo>
                  <a:lnTo>
                    <a:pt x="12860" y="6080"/>
                  </a:lnTo>
                  <a:lnTo>
                    <a:pt x="11050" y="6797"/>
                  </a:lnTo>
                  <a:lnTo>
                    <a:pt x="16577" y="12007"/>
                  </a:lnTo>
                  <a:lnTo>
                    <a:pt x="14767" y="12877"/>
                  </a:lnTo>
                  <a:lnTo>
                    <a:pt x="21600" y="21600"/>
                  </a:lnTo>
                  <a:lnTo>
                    <a:pt x="10012" y="14915"/>
                  </a:lnTo>
                  <a:lnTo>
                    <a:pt x="12222" y="13987"/>
                  </a:lnTo>
                  <a:lnTo>
                    <a:pt x="5022" y="9705"/>
                  </a:lnTo>
                  <a:lnTo>
                    <a:pt x="7602" y="8382"/>
                  </a:lnTo>
                  <a:lnTo>
                    <a:pt x="0" y="3890"/>
                  </a:lnTo>
                  <a:close/>
                </a:path>
              </a:pathLst>
            </a:custGeom>
            <a:solidFill>
              <a:srgbClr val="775F55"/>
            </a:solidFill>
            <a:ln w="9525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Trebuchet MS Bold"/>
                  <a:ea typeface="Trebuchet MS Bold"/>
                  <a:cs typeface="Trebuchet MS Bold"/>
                  <a:sym typeface="Trebuchet MS Bold"/>
                </a:defRPr>
              </a:pPr>
              <a:endParaRPr/>
            </a:p>
          </p:txBody>
        </p:sp>
        <p:sp>
          <p:nvSpPr>
            <p:cNvPr id="548" name="Shape 548"/>
            <p:cNvSpPr/>
            <p:nvPr/>
          </p:nvSpPr>
          <p:spPr>
            <a:xfrm>
              <a:off x="-1" y="1062037"/>
              <a:ext cx="304801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72" y="0"/>
                  </a:moveTo>
                  <a:lnTo>
                    <a:pt x="12860" y="6080"/>
                  </a:lnTo>
                  <a:lnTo>
                    <a:pt x="11050" y="6797"/>
                  </a:lnTo>
                  <a:lnTo>
                    <a:pt x="16577" y="12007"/>
                  </a:lnTo>
                  <a:lnTo>
                    <a:pt x="14767" y="12877"/>
                  </a:lnTo>
                  <a:lnTo>
                    <a:pt x="21600" y="21600"/>
                  </a:lnTo>
                  <a:lnTo>
                    <a:pt x="10012" y="14915"/>
                  </a:lnTo>
                  <a:lnTo>
                    <a:pt x="12222" y="13987"/>
                  </a:lnTo>
                  <a:lnTo>
                    <a:pt x="5022" y="9705"/>
                  </a:lnTo>
                  <a:lnTo>
                    <a:pt x="7602" y="8382"/>
                  </a:lnTo>
                  <a:lnTo>
                    <a:pt x="0" y="3890"/>
                  </a:lnTo>
                  <a:close/>
                </a:path>
              </a:pathLst>
            </a:custGeom>
            <a:solidFill>
              <a:srgbClr val="775F55"/>
            </a:solidFill>
            <a:ln w="9525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Trebuchet MS Bold"/>
                  <a:ea typeface="Trebuchet MS Bold"/>
                  <a:cs typeface="Trebuchet MS Bold"/>
                  <a:sym typeface="Trebuchet MS Bold"/>
                </a:defRPr>
              </a:pPr>
              <a:endParaRPr/>
            </a:p>
          </p:txBody>
        </p:sp>
        <p:sp>
          <p:nvSpPr>
            <p:cNvPr id="549" name="Shape 549"/>
            <p:cNvSpPr/>
            <p:nvPr/>
          </p:nvSpPr>
          <p:spPr>
            <a:xfrm>
              <a:off x="236537" y="2093912"/>
              <a:ext cx="304801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72" y="0"/>
                  </a:moveTo>
                  <a:lnTo>
                    <a:pt x="12860" y="6080"/>
                  </a:lnTo>
                  <a:lnTo>
                    <a:pt x="11050" y="6797"/>
                  </a:lnTo>
                  <a:lnTo>
                    <a:pt x="16577" y="12007"/>
                  </a:lnTo>
                  <a:lnTo>
                    <a:pt x="14767" y="12877"/>
                  </a:lnTo>
                  <a:lnTo>
                    <a:pt x="21600" y="21600"/>
                  </a:lnTo>
                  <a:lnTo>
                    <a:pt x="10012" y="14915"/>
                  </a:lnTo>
                  <a:lnTo>
                    <a:pt x="12222" y="13987"/>
                  </a:lnTo>
                  <a:lnTo>
                    <a:pt x="5022" y="9705"/>
                  </a:lnTo>
                  <a:lnTo>
                    <a:pt x="7602" y="8382"/>
                  </a:lnTo>
                  <a:lnTo>
                    <a:pt x="0" y="3890"/>
                  </a:lnTo>
                  <a:close/>
                </a:path>
              </a:pathLst>
            </a:custGeom>
            <a:solidFill>
              <a:srgbClr val="775F55"/>
            </a:solidFill>
            <a:ln w="9525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Trebuchet MS Bold"/>
                  <a:ea typeface="Trebuchet MS Bold"/>
                  <a:cs typeface="Trebuchet MS Bold"/>
                  <a:sym typeface="Trebuchet MS Bold"/>
                </a:defRPr>
              </a:pPr>
              <a:endParaRPr/>
            </a:p>
          </p:txBody>
        </p:sp>
        <p:sp>
          <p:nvSpPr>
            <p:cNvPr id="550" name="Shape 550"/>
            <p:cNvSpPr/>
            <p:nvPr/>
          </p:nvSpPr>
          <p:spPr>
            <a:xfrm>
              <a:off x="1790700" y="2187575"/>
              <a:ext cx="304800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72" y="0"/>
                  </a:moveTo>
                  <a:lnTo>
                    <a:pt x="12860" y="6080"/>
                  </a:lnTo>
                  <a:lnTo>
                    <a:pt x="11050" y="6797"/>
                  </a:lnTo>
                  <a:lnTo>
                    <a:pt x="16577" y="12007"/>
                  </a:lnTo>
                  <a:lnTo>
                    <a:pt x="14767" y="12877"/>
                  </a:lnTo>
                  <a:lnTo>
                    <a:pt x="21600" y="21600"/>
                  </a:lnTo>
                  <a:lnTo>
                    <a:pt x="10012" y="14915"/>
                  </a:lnTo>
                  <a:lnTo>
                    <a:pt x="12222" y="13987"/>
                  </a:lnTo>
                  <a:lnTo>
                    <a:pt x="5022" y="9705"/>
                  </a:lnTo>
                  <a:lnTo>
                    <a:pt x="7602" y="8382"/>
                  </a:lnTo>
                  <a:lnTo>
                    <a:pt x="0" y="3890"/>
                  </a:lnTo>
                  <a:close/>
                </a:path>
              </a:pathLst>
            </a:custGeom>
            <a:solidFill>
              <a:srgbClr val="775F55"/>
            </a:solidFill>
            <a:ln w="9525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Trebuchet MS Bold"/>
                  <a:ea typeface="Trebuchet MS Bold"/>
                  <a:cs typeface="Trebuchet MS Bold"/>
                  <a:sym typeface="Trebuchet MS Bold"/>
                </a:defRPr>
              </a:pPr>
              <a:endParaRPr/>
            </a:p>
          </p:txBody>
        </p:sp>
        <p:sp>
          <p:nvSpPr>
            <p:cNvPr id="551" name="Shape 551"/>
            <p:cNvSpPr/>
            <p:nvPr/>
          </p:nvSpPr>
          <p:spPr>
            <a:xfrm>
              <a:off x="42862" y="522287"/>
              <a:ext cx="304801" cy="30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72" y="0"/>
                  </a:moveTo>
                  <a:lnTo>
                    <a:pt x="12860" y="6080"/>
                  </a:lnTo>
                  <a:lnTo>
                    <a:pt x="11050" y="6797"/>
                  </a:lnTo>
                  <a:lnTo>
                    <a:pt x="16577" y="12007"/>
                  </a:lnTo>
                  <a:lnTo>
                    <a:pt x="14767" y="12877"/>
                  </a:lnTo>
                  <a:lnTo>
                    <a:pt x="21600" y="21600"/>
                  </a:lnTo>
                  <a:lnTo>
                    <a:pt x="10012" y="14915"/>
                  </a:lnTo>
                  <a:lnTo>
                    <a:pt x="12222" y="13987"/>
                  </a:lnTo>
                  <a:lnTo>
                    <a:pt x="5022" y="9705"/>
                  </a:lnTo>
                  <a:lnTo>
                    <a:pt x="7602" y="8382"/>
                  </a:lnTo>
                  <a:lnTo>
                    <a:pt x="0" y="3890"/>
                  </a:lnTo>
                  <a:close/>
                </a:path>
              </a:pathLst>
            </a:custGeom>
            <a:solidFill>
              <a:srgbClr val="775F55"/>
            </a:solidFill>
            <a:ln w="9525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Trebuchet MS Bold"/>
                  <a:ea typeface="Trebuchet MS Bold"/>
                  <a:cs typeface="Trebuchet MS Bold"/>
                  <a:sym typeface="Trebuchet MS Bold"/>
                </a:defRPr>
              </a:pPr>
              <a:endParaRPr/>
            </a:p>
          </p:txBody>
        </p:sp>
        <p:sp>
          <p:nvSpPr>
            <p:cNvPr id="552" name="Shape 552"/>
            <p:cNvSpPr/>
            <p:nvPr/>
          </p:nvSpPr>
          <p:spPr>
            <a:xfrm>
              <a:off x="2957512" y="1030287"/>
              <a:ext cx="928688" cy="796926"/>
            </a:xfrm>
            <a:prstGeom prst="rightArrow">
              <a:avLst>
                <a:gd name="adj1" fmla="val 50000"/>
                <a:gd name="adj2" fmla="val 29133"/>
              </a:avLst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Trebuchet MS Bold"/>
                  <a:ea typeface="Trebuchet MS Bold"/>
                  <a:cs typeface="Trebuchet MS Bold"/>
                  <a:sym typeface="Trebuchet MS Bold"/>
                </a:defRPr>
              </a:pPr>
              <a:endParaRPr/>
            </a:p>
          </p:txBody>
        </p:sp>
        <p:pic>
          <p:nvPicPr>
            <p:cNvPr id="553" name="image36.jpg" descr="fmri-fig-07-14-2"/>
            <p:cNvPicPr/>
            <p:nvPr/>
          </p:nvPicPr>
          <p:blipFill>
            <a:blip r:embed="rId5"/>
            <a:srcRect t="20857" b="9000"/>
            <a:stretch>
              <a:fillRect/>
            </a:stretch>
          </p:blipFill>
          <p:spPr>
            <a:xfrm>
              <a:off x="4344987" y="201612"/>
              <a:ext cx="4268788" cy="22463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55" name="Shape 555"/>
          <p:cNvSpPr/>
          <p:nvPr/>
        </p:nvSpPr>
        <p:spPr>
          <a:xfrm>
            <a:off x="2349500" y="3070727"/>
            <a:ext cx="4648201" cy="1005841"/>
          </a:xfrm>
          <a:prstGeom prst="rect">
            <a:avLst/>
          </a:prstGeom>
          <a:solidFill>
            <a:srgbClr val="333333">
              <a:alpha val="78822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100"/>
              </a:spcBef>
              <a:defRPr sz="3000">
                <a:solidFill>
                  <a:srgbClr val="F2F2F2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F2F2F2"/>
                </a:solidFill>
              </a:rPr>
              <a:t>Blood-Oxygenation-Level Dependent contrast</a:t>
            </a:r>
          </a:p>
        </p:txBody>
      </p:sp>
      <p:sp>
        <p:nvSpPr>
          <p:cNvPr id="558" name="Shape 5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45</a:t>
            </a:fld>
            <a:endParaRPr sz="12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204CF3-E06A-2A47-135D-925280F254F9}"/>
              </a:ext>
            </a:extLst>
          </p:cNvPr>
          <p:cNvGrpSpPr/>
          <p:nvPr/>
        </p:nvGrpSpPr>
        <p:grpSpPr>
          <a:xfrm>
            <a:off x="671513" y="6349636"/>
            <a:ext cx="7919652" cy="497570"/>
            <a:chOff x="641848" y="618625"/>
            <a:chExt cx="7919652" cy="497570"/>
          </a:xfrm>
        </p:grpSpPr>
        <p:sp>
          <p:nvSpPr>
            <p:cNvPr id="556" name="Shape 556"/>
            <p:cNvSpPr/>
            <p:nvPr/>
          </p:nvSpPr>
          <p:spPr>
            <a:xfrm>
              <a:off x="6605230" y="744122"/>
              <a:ext cx="1956270" cy="3581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rIns="45719">
              <a:spAutoFit/>
            </a:bodyPr>
            <a:lstStyle/>
            <a:p>
              <a:pPr lvl="0"/>
              <a:r>
                <a:t>(see chapters 6&amp;7)</a:t>
              </a:r>
            </a:p>
          </p:txBody>
        </p:sp>
        <p:sp>
          <p:nvSpPr>
            <p:cNvPr id="557" name="Shape 557"/>
            <p:cNvSpPr/>
            <p:nvPr/>
          </p:nvSpPr>
          <p:spPr>
            <a:xfrm flipV="1">
              <a:off x="6195352" y="948592"/>
              <a:ext cx="442676" cy="1"/>
            </a:xfrm>
            <a:prstGeom prst="line">
              <a:avLst/>
            </a:prstGeom>
            <a:ln w="25400">
              <a:solidFill/>
              <a:tailEnd type="triangle"/>
            </a:ln>
          </p:spPr>
          <p:txBody>
            <a:bodyPr lIns="0" tIns="0" rIns="0" bIns="0"/>
            <a:lstStyle/>
            <a:p>
              <a:pPr lvl="0" algn="l" defTabSz="457200">
                <a:spcBef>
                  <a:spcPts val="0"/>
                </a:spcBef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075738-D54A-5455-9880-3134B66FBE0F}"/>
                </a:ext>
              </a:extLst>
            </p:cNvPr>
            <p:cNvSpPr txBox="1"/>
            <p:nvPr/>
          </p:nvSpPr>
          <p:spPr>
            <a:xfrm>
              <a:off x="641848" y="618625"/>
              <a:ext cx="5523305" cy="497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ctr" defTabSz="914400" rtl="0" fontAlgn="auto" latinLnBrk="1" hangingPunct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ambria"/>
                  <a:ea typeface="Cambria"/>
                  <a:cs typeface="Cambria"/>
                  <a:sym typeface="Cambria"/>
                </a:rPr>
                <a:t>Oxy-Hb &amp; deoxy-Hb have different magnetic properties</a:t>
              </a:r>
            </a:p>
          </p:txBody>
        </p:sp>
      </p:grp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0090"/>
                </a:solidFill>
              </a:rPr>
              <a:t>Using fMRI to Study Brain Function</a:t>
            </a:r>
          </a:p>
        </p:txBody>
      </p:sp>
      <p:pic>
        <p:nvPicPr>
          <p:cNvPr id="563" name="pasted-image.pdf"/>
          <p:cNvPicPr/>
          <p:nvPr/>
        </p:nvPicPr>
        <p:blipFill>
          <a:blip r:embed="rId2"/>
          <a:srcRect b="8879"/>
          <a:stretch>
            <a:fillRect/>
          </a:stretch>
        </p:blipFill>
        <p:spPr>
          <a:xfrm>
            <a:off x="2550715" y="1325153"/>
            <a:ext cx="4042631" cy="2028206"/>
          </a:xfrm>
          <a:prstGeom prst="rect">
            <a:avLst/>
          </a:prstGeom>
          <a:ln w="12700">
            <a:miter lim="400000"/>
          </a:ln>
        </p:spPr>
      </p:pic>
      <p:pic>
        <p:nvPicPr>
          <p:cNvPr id="564" name="pasted-image.pdf"/>
          <p:cNvPicPr/>
          <p:nvPr/>
        </p:nvPicPr>
        <p:blipFill>
          <a:blip r:embed="rId3"/>
          <a:srcRect b="6252"/>
          <a:stretch>
            <a:fillRect/>
          </a:stretch>
        </p:blipFill>
        <p:spPr>
          <a:xfrm>
            <a:off x="2782292" y="3457549"/>
            <a:ext cx="3960305" cy="2497234"/>
          </a:xfrm>
          <a:prstGeom prst="rect">
            <a:avLst/>
          </a:prstGeom>
          <a:ln w="12700">
            <a:miter lim="400000"/>
          </a:ln>
        </p:spPr>
      </p:pic>
      <p:sp>
        <p:nvSpPr>
          <p:cNvPr id="565" name="Shape 565"/>
          <p:cNvSpPr/>
          <p:nvPr/>
        </p:nvSpPr>
        <p:spPr>
          <a:xfrm>
            <a:off x="2100029" y="759363"/>
            <a:ext cx="555951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t>Simple visual stimulation paradigm (Kwong et al., 1992)</a:t>
            </a:r>
          </a:p>
        </p:txBody>
      </p:sp>
      <p:sp>
        <p:nvSpPr>
          <p:cNvPr id="566" name="Shape 566"/>
          <p:cNvSpPr/>
          <p:nvPr/>
        </p:nvSpPr>
        <p:spPr>
          <a:xfrm>
            <a:off x="3216891" y="6059052"/>
            <a:ext cx="3325788" cy="774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rPr lang="en-US" dirty="0">
                <a:sym typeface="Wingdings"/>
              </a:rPr>
              <a:t>  </a:t>
            </a:r>
            <a:r>
              <a:rPr dirty="0"/>
              <a:t>functional changes over time!</a:t>
            </a:r>
          </a:p>
          <a:p>
            <a:pPr lvl="0"/>
            <a:r>
              <a:rPr dirty="0"/>
              <a:t>Beginning of a success story…</a:t>
            </a:r>
          </a:p>
        </p:txBody>
      </p:sp>
      <p:sp>
        <p:nvSpPr>
          <p:cNvPr id="568" name="Shape 5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46</a:t>
            </a:fld>
            <a:endParaRPr sz="1200"/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Shape 57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 dirty="0">
                <a:solidFill>
                  <a:srgbClr val="000090"/>
                </a:solidFill>
              </a:rPr>
              <a:t>Growth in fMRI: Published Studies</a:t>
            </a:r>
          </a:p>
        </p:txBody>
      </p:sp>
      <p:sp>
        <p:nvSpPr>
          <p:cNvPr id="572" name="Shape 57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47</a:t>
            </a:fld>
            <a:endParaRPr sz="1200"/>
          </a:p>
        </p:txBody>
      </p:sp>
      <p:pic>
        <p:nvPicPr>
          <p:cNvPr id="5" name="Picture 4" descr="FMRI3e-Fig-01-13-0.jpg"/>
          <p:cNvPicPr>
            <a:picLocks noChangeAspect="1"/>
          </p:cNvPicPr>
          <p:nvPr/>
        </p:nvPicPr>
        <p:blipFill rotWithShape="1">
          <a:blip r:embed="rId2"/>
          <a:srcRect b="5834"/>
          <a:stretch/>
        </p:blipFill>
        <p:spPr>
          <a:xfrm>
            <a:off x="2174110" y="1121274"/>
            <a:ext cx="4795780" cy="478721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000090"/>
                </a:solidFill>
              </a:rPr>
              <a:t>4. MRI Scanners</a:t>
            </a:r>
          </a:p>
        </p:txBody>
      </p:sp>
      <p:sp>
        <p:nvSpPr>
          <p:cNvPr id="575" name="Shape 57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76" name="Shape 5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48</a:t>
            </a:fld>
            <a:endParaRPr sz="1200"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MRI3e-Fig-02-01-0.jpg"/>
          <p:cNvPicPr>
            <a:picLocks noChangeAspect="1"/>
          </p:cNvPicPr>
          <p:nvPr/>
        </p:nvPicPr>
        <p:blipFill rotWithShape="1">
          <a:blip r:embed="rId2"/>
          <a:srcRect b="5953"/>
          <a:stretch/>
        </p:blipFill>
        <p:spPr>
          <a:xfrm>
            <a:off x="1613786" y="1087588"/>
            <a:ext cx="6629645" cy="5770412"/>
          </a:xfrm>
          <a:prstGeom prst="rect">
            <a:avLst/>
          </a:prstGeom>
        </p:spPr>
      </p:pic>
      <p:sp>
        <p:nvSpPr>
          <p:cNvPr id="578" name="Shape 57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Slight variations - same principle</a:t>
            </a:r>
          </a:p>
        </p:txBody>
      </p:sp>
      <p:sp>
        <p:nvSpPr>
          <p:cNvPr id="580" name="Shape 580"/>
          <p:cNvSpPr/>
          <p:nvPr/>
        </p:nvSpPr>
        <p:spPr>
          <a:xfrm>
            <a:off x="2461048" y="967593"/>
            <a:ext cx="375269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t>GE</a:t>
            </a:r>
          </a:p>
        </p:txBody>
      </p:sp>
      <p:sp>
        <p:nvSpPr>
          <p:cNvPr id="581" name="Shape 581"/>
          <p:cNvSpPr/>
          <p:nvPr/>
        </p:nvSpPr>
        <p:spPr>
          <a:xfrm>
            <a:off x="5672589" y="967593"/>
            <a:ext cx="92009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t>Siemens</a:t>
            </a:r>
          </a:p>
        </p:txBody>
      </p:sp>
      <p:sp>
        <p:nvSpPr>
          <p:cNvPr id="582" name="Shape 582"/>
          <p:cNvSpPr/>
          <p:nvPr/>
        </p:nvSpPr>
        <p:spPr>
          <a:xfrm>
            <a:off x="2261414" y="3974806"/>
            <a:ext cx="774537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rPr dirty="0"/>
              <a:t>Philips</a:t>
            </a:r>
          </a:p>
        </p:txBody>
      </p:sp>
      <p:sp>
        <p:nvSpPr>
          <p:cNvPr id="583" name="Shape 58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49</a:t>
            </a:fld>
            <a:endParaRPr sz="1200"/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MRI scanner setup</a:t>
            </a:r>
          </a:p>
        </p:txBody>
      </p:sp>
      <p:sp>
        <p:nvSpPr>
          <p:cNvPr id="591" name="Shape 59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50</a:t>
            </a:fld>
            <a:endParaRPr sz="1200"/>
          </a:p>
        </p:txBody>
      </p:sp>
      <p:pic>
        <p:nvPicPr>
          <p:cNvPr id="5" name="Picture 4" descr="fMRI3e-Fig-02-02-0.jpg"/>
          <p:cNvPicPr>
            <a:picLocks noChangeAspect="1"/>
          </p:cNvPicPr>
          <p:nvPr/>
        </p:nvPicPr>
        <p:blipFill rotWithShape="1">
          <a:blip r:embed="rId3"/>
          <a:srcRect b="4755"/>
          <a:stretch/>
        </p:blipFill>
        <p:spPr>
          <a:xfrm>
            <a:off x="1002791" y="1017036"/>
            <a:ext cx="7138416" cy="584096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58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Main Components of a Scanner</a:t>
            </a:r>
          </a:p>
        </p:txBody>
      </p:sp>
      <p:sp>
        <p:nvSpPr>
          <p:cNvPr id="586" name="Shape 58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88579" lvl="0" indent="-588579">
              <a:buAutoNum type="arabicPeriod"/>
              <a:defRPr sz="1800"/>
            </a:pPr>
            <a:r>
              <a:rPr sz="2800" dirty="0">
                <a:solidFill>
                  <a:srgbClr val="726868"/>
                </a:solidFill>
              </a:rPr>
              <a:t>Magnetic: </a:t>
            </a:r>
            <a:r>
              <a:rPr sz="2800" dirty="0"/>
              <a:t>Static Magnetic Field Coils</a:t>
            </a:r>
          </a:p>
          <a:p>
            <a:pPr marL="588579" lvl="0" indent="-588579">
              <a:buAutoNum type="arabicPeriod"/>
              <a:defRPr sz="1800"/>
            </a:pPr>
            <a:r>
              <a:rPr sz="2800" dirty="0">
                <a:solidFill>
                  <a:srgbClr val="726868"/>
                </a:solidFill>
              </a:rPr>
              <a:t>Resonance: </a:t>
            </a:r>
            <a:r>
              <a:rPr sz="2800" dirty="0"/>
              <a:t>Radiofrequency Coil</a:t>
            </a:r>
          </a:p>
          <a:p>
            <a:pPr marL="588579" lvl="0" indent="-588579">
              <a:buAutoNum type="arabicPeriod"/>
              <a:defRPr sz="1800"/>
            </a:pPr>
            <a:r>
              <a:rPr sz="2800" dirty="0">
                <a:solidFill>
                  <a:srgbClr val="726868"/>
                </a:solidFill>
              </a:rPr>
              <a:t>Imaging: </a:t>
            </a:r>
            <a:r>
              <a:rPr sz="2800" dirty="0"/>
              <a:t>Gradient </a:t>
            </a:r>
            <a:r>
              <a:rPr lang="en-US" sz="2800" dirty="0"/>
              <a:t>Magnetic </a:t>
            </a:r>
            <a:r>
              <a:rPr sz="2800" dirty="0"/>
              <a:t>Field Coils</a:t>
            </a:r>
          </a:p>
          <a:p>
            <a:pPr marL="672662" lvl="0" indent="-672662">
              <a:defRPr sz="1800"/>
            </a:pPr>
            <a:endParaRPr sz="2800" dirty="0"/>
          </a:p>
          <a:p>
            <a:pPr marL="0" lvl="0" indent="0">
              <a:buNone/>
              <a:defRPr sz="1800"/>
            </a:pPr>
            <a:r>
              <a:rPr lang="en-US" sz="2800" dirty="0"/>
              <a:t>Others:</a:t>
            </a:r>
          </a:p>
          <a:p>
            <a:pPr marL="588579" lvl="0" indent="-588579">
              <a:defRPr sz="1800"/>
            </a:pPr>
            <a:r>
              <a:rPr sz="2800" dirty="0"/>
              <a:t>Shimming Coils</a:t>
            </a:r>
          </a:p>
          <a:p>
            <a:pPr marL="588579" lvl="0" indent="-588579">
              <a:defRPr sz="1800"/>
            </a:pPr>
            <a:r>
              <a:rPr sz="2800" dirty="0"/>
              <a:t>Data transfer and storage computers</a:t>
            </a:r>
          </a:p>
          <a:p>
            <a:pPr marL="588579" lvl="0" indent="-588579">
              <a:defRPr sz="1800"/>
            </a:pPr>
            <a:r>
              <a:rPr sz="2800" dirty="0"/>
              <a:t>Physiological monitoring, stimulus presentation, and behavioral recording hardware</a:t>
            </a:r>
          </a:p>
        </p:txBody>
      </p:sp>
      <p:sp>
        <p:nvSpPr>
          <p:cNvPr id="587" name="Shape 58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51</a:t>
            </a:fld>
            <a:endParaRPr sz="12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" grpId="1" uiExpand="1" build="p" animBg="1" advAuto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593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8229600" cy="5257800"/>
          </a:xfrm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/>
            </a:pPr>
            <a:r>
              <a:rPr sz="2400" dirty="0"/>
              <a:t>19</a:t>
            </a:r>
            <a:r>
              <a:rPr lang="en-US" sz="2400" baseline="30000" dirty="0"/>
              <a:t>th</a:t>
            </a:r>
            <a:r>
              <a:rPr lang="en-US" sz="2400" dirty="0"/>
              <a:t> century</a:t>
            </a:r>
            <a:r>
              <a:rPr sz="2400" dirty="0"/>
              <a:t>: </a:t>
            </a:r>
            <a:r>
              <a:rPr lang="en-US" sz="2400" dirty="0"/>
              <a:t>electrical </a:t>
            </a:r>
            <a:r>
              <a:rPr sz="2400" dirty="0"/>
              <a:t>current-carrying wire induces perpendicular magnetic field</a:t>
            </a:r>
            <a:r>
              <a:rPr lang="en-US" sz="2400" dirty="0"/>
              <a:t>    </a:t>
            </a:r>
            <a:r>
              <a:rPr lang="en-US" sz="2400" dirty="0">
                <a:sym typeface="Wingdings"/>
              </a:rPr>
              <a:t> </a:t>
            </a:r>
            <a:r>
              <a:rPr sz="2400" dirty="0"/>
              <a:t>Electromagnets</a:t>
            </a:r>
          </a:p>
          <a:p>
            <a:pPr marL="800100" lvl="1" indent="-342900">
              <a:defRPr sz="1800"/>
            </a:pPr>
            <a:r>
              <a:rPr sz="2000" dirty="0"/>
              <a:t>magnetic field strength </a:t>
            </a:r>
            <a:r>
              <a:rPr lang="en-US" sz="2000" dirty="0"/>
              <a:t>is </a:t>
            </a:r>
            <a:r>
              <a:rPr sz="2000" i="1" dirty="0"/>
              <a:t>proportional</a:t>
            </a:r>
            <a:r>
              <a:rPr sz="2000" dirty="0"/>
              <a:t> to current strength</a:t>
            </a:r>
          </a:p>
          <a:p>
            <a:pPr lvl="0">
              <a:defRPr sz="1800"/>
            </a:pPr>
            <a:r>
              <a:rPr sz="2000" u="sng" dirty="0"/>
              <a:t>2 </a:t>
            </a:r>
            <a:r>
              <a:rPr lang="en-US" sz="2000" u="sng" dirty="0"/>
              <a:t>important aspects</a:t>
            </a:r>
            <a:r>
              <a:rPr sz="2000" dirty="0"/>
              <a:t> for MRI: </a:t>
            </a:r>
            <a:r>
              <a:rPr sz="2000" b="1" dirty="0"/>
              <a:t>homogeneity</a:t>
            </a:r>
            <a:r>
              <a:rPr sz="2000" dirty="0"/>
              <a:t> &amp; field strength</a:t>
            </a:r>
          </a:p>
        </p:txBody>
      </p:sp>
      <p:sp>
        <p:nvSpPr>
          <p:cNvPr id="594" name="Shape 59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726868"/>
                </a:solidFill>
              </a:rPr>
              <a:t>1. Magnetic: </a:t>
            </a:r>
            <a:r>
              <a:rPr sz="4000">
                <a:solidFill>
                  <a:srgbClr val="000090"/>
                </a:solidFill>
              </a:rPr>
              <a:t>Static Field Coils</a:t>
            </a:r>
          </a:p>
        </p:txBody>
      </p:sp>
      <p:pic>
        <p:nvPicPr>
          <p:cNvPr id="595" name="pasted-image.pdf"/>
          <p:cNvPicPr/>
          <p:nvPr/>
        </p:nvPicPr>
        <p:blipFill>
          <a:blip r:embed="rId3"/>
          <a:srcRect b="5540"/>
          <a:stretch>
            <a:fillRect/>
          </a:stretch>
        </p:blipFill>
        <p:spPr>
          <a:xfrm>
            <a:off x="1679911" y="3572240"/>
            <a:ext cx="4618175" cy="3089958"/>
          </a:xfrm>
          <a:prstGeom prst="rect">
            <a:avLst/>
          </a:prstGeom>
          <a:ln w="12700">
            <a:miter lim="400000"/>
          </a:ln>
        </p:spPr>
      </p:pic>
      <p:sp>
        <p:nvSpPr>
          <p:cNvPr id="596" name="Shape 596"/>
          <p:cNvSpPr/>
          <p:nvPr/>
        </p:nvSpPr>
        <p:spPr>
          <a:xfrm>
            <a:off x="1944244" y="3105798"/>
            <a:ext cx="1562806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t>Helmholtz pair</a:t>
            </a:r>
          </a:p>
        </p:txBody>
      </p:sp>
      <p:sp>
        <p:nvSpPr>
          <p:cNvPr id="597" name="Shape 597"/>
          <p:cNvSpPr/>
          <p:nvPr/>
        </p:nvSpPr>
        <p:spPr>
          <a:xfrm>
            <a:off x="4565389" y="3105798"/>
            <a:ext cx="95168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t>Solenoid</a:t>
            </a:r>
          </a:p>
        </p:txBody>
      </p:sp>
      <p:sp>
        <p:nvSpPr>
          <p:cNvPr id="598" name="Shape 598"/>
          <p:cNvSpPr/>
          <p:nvPr/>
        </p:nvSpPr>
        <p:spPr>
          <a:xfrm>
            <a:off x="267315" y="5467070"/>
            <a:ext cx="1656120" cy="588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>
              <a:lnSpc>
                <a:spcPct val="30000"/>
              </a:lnSpc>
            </a:pPr>
            <a:r>
              <a:rPr dirty="0"/>
              <a:t>B</a:t>
            </a:r>
            <a:r>
              <a:rPr sz="1600" baseline="-25000" dirty="0"/>
              <a:t>0</a:t>
            </a:r>
            <a:r>
              <a:rPr dirty="0"/>
              <a:t>: Right-hand </a:t>
            </a:r>
          </a:p>
          <a:p>
            <a:pPr lvl="0">
              <a:lnSpc>
                <a:spcPct val="30000"/>
              </a:lnSpc>
            </a:pPr>
            <a:r>
              <a:rPr dirty="0"/>
              <a:t>thumb rule</a:t>
            </a:r>
          </a:p>
        </p:txBody>
      </p:sp>
      <p:sp>
        <p:nvSpPr>
          <p:cNvPr id="600" name="Shape 600"/>
          <p:cNvSpPr/>
          <p:nvPr/>
        </p:nvSpPr>
        <p:spPr>
          <a:xfrm>
            <a:off x="436011" y="3760046"/>
            <a:ext cx="1412006" cy="575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>
              <a:lnSpc>
                <a:spcPct val="30000"/>
              </a:lnSpc>
            </a:pPr>
            <a:r>
              <a:t>Area of max. </a:t>
            </a:r>
          </a:p>
          <a:p>
            <a:pPr lvl="0">
              <a:lnSpc>
                <a:spcPct val="30000"/>
              </a:lnSpc>
            </a:pPr>
            <a:r>
              <a:t>uniformity</a:t>
            </a:r>
          </a:p>
        </p:txBody>
      </p:sp>
      <p:sp>
        <p:nvSpPr>
          <p:cNvPr id="601" name="Shape 601"/>
          <p:cNvSpPr/>
          <p:nvPr/>
        </p:nvSpPr>
        <p:spPr>
          <a:xfrm>
            <a:off x="1829111" y="4098256"/>
            <a:ext cx="1012575" cy="1012575"/>
          </a:xfrm>
          <a:prstGeom prst="line">
            <a:avLst/>
          </a:prstGeom>
          <a:ln w="25400">
            <a:solidFill/>
            <a:tailEnd type="triangle"/>
          </a:ln>
        </p:spPr>
        <p:txBody>
          <a:bodyPr lIns="0" tIns="0" rIns="0" bIns="0"/>
          <a:lstStyle/>
          <a:p>
            <a:pPr lvl="0" algn="l" defTabSz="457200">
              <a:spcBef>
                <a:spcPts val="0"/>
              </a:spcBef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603" name="Shape 603"/>
          <p:cNvSpPr/>
          <p:nvPr/>
        </p:nvSpPr>
        <p:spPr>
          <a:xfrm>
            <a:off x="6452058" y="5578263"/>
            <a:ext cx="2110762" cy="684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 algn="l">
              <a:spcBef>
                <a:spcPts val="0"/>
              </a:spcBef>
            </a:pPr>
            <a:r>
              <a:rPr b="1" dirty="0"/>
              <a:t>Modern MRI:</a:t>
            </a:r>
            <a:endParaRPr lang="en-US" b="1" dirty="0"/>
          </a:p>
          <a:p>
            <a:pPr lvl="0" algn="l">
              <a:spcBef>
                <a:spcPts val="0"/>
              </a:spcBef>
            </a:pPr>
            <a:endParaRPr sz="1000" b="1" dirty="0"/>
          </a:p>
          <a:p>
            <a:pPr lvl="0" algn="l">
              <a:lnSpc>
                <a:spcPct val="50000"/>
              </a:lnSpc>
              <a:spcBef>
                <a:spcPts val="0"/>
              </a:spcBef>
            </a:pPr>
            <a:r>
              <a:rPr dirty="0"/>
              <a:t>Combination of both</a:t>
            </a:r>
          </a:p>
        </p:txBody>
      </p:sp>
      <p:sp>
        <p:nvSpPr>
          <p:cNvPr id="604" name="Shape 604"/>
          <p:cNvSpPr/>
          <p:nvPr/>
        </p:nvSpPr>
        <p:spPr>
          <a:xfrm>
            <a:off x="6119500" y="3868631"/>
            <a:ext cx="3009749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 algn="l">
              <a:spcBef>
                <a:spcPts val="0"/>
              </a:spcBef>
            </a:pPr>
            <a:r>
              <a:rPr b="1" dirty="0"/>
              <a:t>if</a:t>
            </a:r>
            <a:r>
              <a:rPr dirty="0"/>
              <a:t>  l &gt;&gt; d, highly homogeneous</a:t>
            </a:r>
          </a:p>
        </p:txBody>
      </p:sp>
      <p:sp>
        <p:nvSpPr>
          <p:cNvPr id="605" name="Shape 60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52</a:t>
            </a:fld>
            <a:endParaRPr sz="1200"/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Shape 609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8229600" cy="5257800"/>
          </a:xfrm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/>
            </a:pPr>
            <a:r>
              <a:rPr sz="2400" dirty="0"/>
              <a:t>19</a:t>
            </a:r>
            <a:r>
              <a:rPr lang="en-US" sz="2400" baseline="30000" dirty="0"/>
              <a:t>th</a:t>
            </a:r>
            <a:r>
              <a:rPr lang="en-US" sz="2400" dirty="0"/>
              <a:t> century</a:t>
            </a:r>
            <a:r>
              <a:rPr sz="2400" dirty="0"/>
              <a:t>: </a:t>
            </a:r>
            <a:r>
              <a:rPr lang="en-US" sz="2400" dirty="0"/>
              <a:t>electrical </a:t>
            </a:r>
            <a:r>
              <a:rPr sz="2400" dirty="0"/>
              <a:t>current-carrying wire induces perpendicular magnetic field</a:t>
            </a:r>
            <a:r>
              <a:rPr lang="en-US" sz="2400" dirty="0"/>
              <a:t>    </a:t>
            </a:r>
            <a:r>
              <a:rPr lang="en-US" sz="2400" dirty="0">
                <a:sym typeface="Wingdings"/>
              </a:rPr>
              <a:t> </a:t>
            </a:r>
            <a:r>
              <a:rPr sz="2400" dirty="0"/>
              <a:t>Electromagnets</a:t>
            </a:r>
          </a:p>
          <a:p>
            <a:pPr marL="800100" lvl="1" indent="-342900">
              <a:defRPr sz="1800"/>
            </a:pPr>
            <a:r>
              <a:rPr sz="2000" dirty="0"/>
              <a:t>magnetic field strength </a:t>
            </a:r>
            <a:r>
              <a:rPr lang="en-US" sz="2000" dirty="0"/>
              <a:t>is </a:t>
            </a:r>
            <a:r>
              <a:rPr sz="2000" i="1" dirty="0"/>
              <a:t>proportional</a:t>
            </a:r>
            <a:r>
              <a:rPr sz="2000" dirty="0"/>
              <a:t> to current strength</a:t>
            </a:r>
          </a:p>
          <a:p>
            <a:pPr lvl="0">
              <a:defRPr sz="1800"/>
            </a:pPr>
            <a:r>
              <a:rPr sz="2000" u="sng" dirty="0"/>
              <a:t>2 </a:t>
            </a:r>
            <a:r>
              <a:rPr lang="en-US" sz="2000" u="sng" dirty="0"/>
              <a:t>important aspects</a:t>
            </a:r>
            <a:r>
              <a:rPr sz="2000" dirty="0"/>
              <a:t> for MRI: homogeneity &amp; </a:t>
            </a:r>
            <a:r>
              <a:rPr sz="2000" b="1" dirty="0"/>
              <a:t>field strength</a:t>
            </a:r>
          </a:p>
        </p:txBody>
      </p:sp>
      <p:sp>
        <p:nvSpPr>
          <p:cNvPr id="610" name="Shape 6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726868"/>
                </a:solidFill>
              </a:rPr>
              <a:t>1. Magnetic: </a:t>
            </a:r>
            <a:r>
              <a:rPr sz="4000">
                <a:solidFill>
                  <a:srgbClr val="000090"/>
                </a:solidFill>
              </a:rPr>
              <a:t>Static Field Coils</a:t>
            </a:r>
          </a:p>
        </p:txBody>
      </p:sp>
      <p:pic>
        <p:nvPicPr>
          <p:cNvPr id="612" name="image61.jpg" descr="fmri-fig-02-07-2"/>
          <p:cNvPicPr>
            <a:picLocks noChangeAspect="1"/>
          </p:cNvPicPr>
          <p:nvPr/>
        </p:nvPicPr>
        <p:blipFill>
          <a:blip r:embed="rId2"/>
          <a:srcRect l="50000" t="40486" b="23815"/>
          <a:stretch>
            <a:fillRect/>
          </a:stretch>
        </p:blipFill>
        <p:spPr>
          <a:xfrm>
            <a:off x="2494533" y="3766558"/>
            <a:ext cx="3924300" cy="2101627"/>
          </a:xfrm>
          <a:prstGeom prst="rect">
            <a:avLst/>
          </a:prstGeom>
          <a:ln w="12700">
            <a:miter lim="400000"/>
          </a:ln>
        </p:spPr>
      </p:pic>
      <p:sp>
        <p:nvSpPr>
          <p:cNvPr id="613" name="Shape 613"/>
          <p:cNvSpPr/>
          <p:nvPr/>
        </p:nvSpPr>
        <p:spPr>
          <a:xfrm>
            <a:off x="917819" y="2999613"/>
            <a:ext cx="7563141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 algn="l"/>
            <a:r>
              <a:rPr dirty="0"/>
              <a:t>MRI scanners contain </a:t>
            </a:r>
            <a:r>
              <a:rPr lang="en-US" dirty="0"/>
              <a:t>dense</a:t>
            </a:r>
            <a:r>
              <a:rPr dirty="0"/>
              <a:t> parallel coilings of wires, which generate the large</a:t>
            </a:r>
            <a:r>
              <a:rPr lang="en-US" dirty="0"/>
              <a:t>, static,</a:t>
            </a:r>
            <a:r>
              <a:rPr dirty="0"/>
              <a:t> main magnetic field (B</a:t>
            </a:r>
            <a:r>
              <a:rPr baseline="-25000" dirty="0"/>
              <a:t>0</a:t>
            </a:r>
            <a:r>
              <a:rPr dirty="0"/>
              <a:t>, e.g. 3T).</a:t>
            </a:r>
          </a:p>
        </p:txBody>
      </p:sp>
      <p:sp>
        <p:nvSpPr>
          <p:cNvPr id="620" name="Shape 620"/>
          <p:cNvSpPr/>
          <p:nvPr/>
        </p:nvSpPr>
        <p:spPr>
          <a:xfrm>
            <a:off x="2568562" y="6159908"/>
            <a:ext cx="385027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/>
            </a:lvl1pPr>
          </a:lstStyle>
          <a:p>
            <a:pPr lvl="0">
              <a:defRPr sz="1800" b="0"/>
            </a:pPr>
            <a:r>
              <a:rPr sz="2400" b="1" dirty="0"/>
              <a:t>The magnet is always on!!!</a:t>
            </a:r>
          </a:p>
        </p:txBody>
      </p:sp>
      <p:sp>
        <p:nvSpPr>
          <p:cNvPr id="621" name="Shape 62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53</a:t>
            </a:fld>
            <a:endParaRPr sz="12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62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6A6A6A"/>
                </a:solidFill>
              </a:rPr>
              <a:t>2. Resonance:</a:t>
            </a:r>
            <a:r>
              <a:rPr sz="4000">
                <a:solidFill>
                  <a:srgbClr val="228B8B"/>
                </a:solidFill>
              </a:rPr>
              <a:t> </a:t>
            </a:r>
            <a:r>
              <a:rPr sz="4000">
                <a:solidFill>
                  <a:srgbClr val="000090"/>
                </a:solidFill>
              </a:rPr>
              <a:t>Radiofrequency Coils</a:t>
            </a:r>
          </a:p>
        </p:txBody>
      </p:sp>
      <p:sp>
        <p:nvSpPr>
          <p:cNvPr id="624" name="Shape 624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8789831" cy="548935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 dirty="0"/>
              <a:t>Strong magnetic field itself does not produce </a:t>
            </a:r>
            <a:r>
              <a:rPr lang="en-US" sz="2400" dirty="0"/>
              <a:t>the </a:t>
            </a:r>
            <a:r>
              <a:rPr sz="2400" dirty="0"/>
              <a:t>MR signal!</a:t>
            </a:r>
          </a:p>
          <a:p>
            <a:pPr lvl="0">
              <a:defRPr sz="1800"/>
            </a:pPr>
            <a:r>
              <a:rPr sz="2400" dirty="0"/>
              <a:t>instead: electromagnetic coils send</a:t>
            </a:r>
            <a:r>
              <a:rPr lang="en-US" sz="2400" dirty="0"/>
              <a:t> &amp; </a:t>
            </a:r>
            <a:r>
              <a:rPr sz="2400" dirty="0"/>
              <a:t>receive </a:t>
            </a:r>
            <a:r>
              <a:rPr sz="2400" i="1" dirty="0"/>
              <a:t>oscillating</a:t>
            </a:r>
            <a:r>
              <a:rPr sz="2400" dirty="0"/>
              <a:t> electromagnetic fields</a:t>
            </a:r>
          </a:p>
          <a:p>
            <a:pPr marL="800100" lvl="1" indent="-342900">
              <a:defRPr sz="1800"/>
            </a:pPr>
            <a:r>
              <a:rPr sz="2400" dirty="0"/>
              <a:t>at the </a:t>
            </a:r>
            <a:r>
              <a:rPr sz="2400" i="1" dirty="0"/>
              <a:t>resonant frequency </a:t>
            </a:r>
            <a:r>
              <a:rPr sz="2400" dirty="0"/>
              <a:t>of atomic nuclei</a:t>
            </a:r>
          </a:p>
          <a:p>
            <a:pPr marL="1257300" lvl="2" indent="-342900">
              <a:defRPr sz="1800"/>
            </a:pPr>
            <a:r>
              <a:rPr sz="2000" dirty="0"/>
              <a:t>typically in radio frequency </a:t>
            </a:r>
            <a:r>
              <a:rPr lang="en-US" sz="2000" dirty="0"/>
              <a:t>range </a:t>
            </a:r>
            <a:r>
              <a:rPr sz="2000" dirty="0"/>
              <a:t>(MHz) in large B</a:t>
            </a:r>
            <a:r>
              <a:rPr sz="1600" baseline="-31250" dirty="0"/>
              <a:t>0</a:t>
            </a:r>
            <a:r>
              <a:rPr sz="2000" dirty="0"/>
              <a:t>’s</a:t>
            </a:r>
          </a:p>
          <a:p>
            <a:pPr marL="800100" lvl="1" indent="-342900">
              <a:defRPr sz="1800"/>
            </a:pPr>
            <a:r>
              <a:rPr sz="2400" dirty="0"/>
              <a:t>turned on very briefly!</a:t>
            </a:r>
          </a:p>
          <a:p>
            <a:pPr marL="800100" lvl="1" indent="-342900">
              <a:defRPr sz="1800"/>
            </a:pPr>
            <a:r>
              <a:rPr sz="2400" u="sng" dirty="0"/>
              <a:t>Sequence of events:</a:t>
            </a:r>
          </a:p>
          <a:p>
            <a:pPr marL="1257300" lvl="2" indent="-342900">
              <a:defRPr sz="1800"/>
            </a:pPr>
            <a:r>
              <a:rPr sz="2000" dirty="0"/>
              <a:t>atomic nuclei align with static magnetic field B</a:t>
            </a:r>
            <a:r>
              <a:rPr sz="1600" baseline="-31250" dirty="0"/>
              <a:t>0</a:t>
            </a:r>
            <a:endParaRPr sz="2000" dirty="0"/>
          </a:p>
          <a:p>
            <a:pPr marL="1714500" lvl="3" indent="-342900">
              <a:defRPr sz="1800"/>
            </a:pPr>
            <a:r>
              <a:rPr sz="2000" dirty="0"/>
              <a:t>excitation at resonant frequency using radiofrequency coils</a:t>
            </a:r>
          </a:p>
          <a:p>
            <a:pPr marL="2171700" lvl="4" indent="-342900">
              <a:defRPr sz="1800"/>
            </a:pPr>
            <a:r>
              <a:rPr lang="en-US" sz="2000" dirty="0"/>
              <a:t>absorption of</a:t>
            </a:r>
            <a:r>
              <a:rPr sz="2000" dirty="0"/>
              <a:t> radiofrequenc</a:t>
            </a:r>
            <a:r>
              <a:rPr lang="en-US" sz="2000" dirty="0"/>
              <a:t>y</a:t>
            </a:r>
            <a:r>
              <a:rPr sz="2000" dirty="0"/>
              <a:t> pulse</a:t>
            </a:r>
            <a:r>
              <a:rPr lang="en-US" sz="2000" dirty="0"/>
              <a:t> energy by atomic nuclei</a:t>
            </a:r>
            <a:endParaRPr sz="2000" dirty="0"/>
          </a:p>
          <a:p>
            <a:pPr marL="2628900" lvl="5" indent="-342900">
              <a:buChar char="•"/>
              <a:defRPr sz="1800"/>
            </a:pPr>
            <a:r>
              <a:rPr sz="2000" dirty="0"/>
              <a:t>release of absorbed energy after cessation of RF pulse</a:t>
            </a:r>
          </a:p>
          <a:p>
            <a:pPr marL="3086100" lvl="6" indent="-342900">
              <a:buChar char="•"/>
              <a:defRPr sz="1800"/>
            </a:pPr>
            <a:r>
              <a:rPr sz="2000" dirty="0"/>
              <a:t>emitted energy </a:t>
            </a:r>
            <a:r>
              <a:rPr lang="en-US" sz="2000" dirty="0"/>
              <a:t>is received </a:t>
            </a:r>
            <a:r>
              <a:rPr sz="2000" dirty="0"/>
              <a:t>by RF coils</a:t>
            </a:r>
          </a:p>
        </p:txBody>
      </p:sp>
      <p:sp>
        <p:nvSpPr>
          <p:cNvPr id="625" name="Shape 625"/>
          <p:cNvSpPr/>
          <p:nvPr/>
        </p:nvSpPr>
        <p:spPr>
          <a:xfrm>
            <a:off x="3715635" y="6356838"/>
            <a:ext cx="2618665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/>
            </a:lvl1pPr>
          </a:lstStyle>
          <a:p>
            <a:pPr lvl="0">
              <a:defRPr b="0"/>
            </a:pPr>
            <a:r>
              <a:rPr lang="en-US" sz="2400" b="1" dirty="0">
                <a:sym typeface="Wingdings"/>
              </a:rPr>
              <a:t> </a:t>
            </a:r>
            <a:r>
              <a:rPr sz="2400" b="1" dirty="0"/>
              <a:t>Raw MR signal</a:t>
            </a:r>
            <a:r>
              <a:rPr lang="en-US" sz="2400" b="1" dirty="0"/>
              <a:t>!</a:t>
            </a:r>
            <a:endParaRPr sz="2400" b="1" dirty="0"/>
          </a:p>
        </p:txBody>
      </p:sp>
      <p:sp>
        <p:nvSpPr>
          <p:cNvPr id="627" name="Shape 62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54</a:t>
            </a:fld>
            <a:endParaRPr sz="1200"/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62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RF (Head) Coil Types</a:t>
            </a:r>
          </a:p>
        </p:txBody>
      </p:sp>
      <p:pic>
        <p:nvPicPr>
          <p:cNvPr id="630" name="pasted-image.pdf"/>
          <p:cNvPicPr/>
          <p:nvPr/>
        </p:nvPicPr>
        <p:blipFill>
          <a:blip r:embed="rId2"/>
          <a:srcRect t="54576" b="5461"/>
          <a:stretch>
            <a:fillRect/>
          </a:stretch>
        </p:blipFill>
        <p:spPr>
          <a:xfrm>
            <a:off x="687586" y="1226828"/>
            <a:ext cx="7921111" cy="2044340"/>
          </a:xfrm>
          <a:prstGeom prst="rect">
            <a:avLst/>
          </a:prstGeom>
          <a:ln w="12700">
            <a:miter lim="400000"/>
          </a:ln>
        </p:spPr>
      </p:pic>
      <p:pic>
        <p:nvPicPr>
          <p:cNvPr id="631" name="pasted-image.pdf"/>
          <p:cNvPicPr/>
          <p:nvPr/>
        </p:nvPicPr>
        <p:blipFill>
          <a:blip r:embed="rId3"/>
          <a:srcRect t="5041" b="8082"/>
          <a:stretch>
            <a:fillRect/>
          </a:stretch>
        </p:blipFill>
        <p:spPr>
          <a:xfrm>
            <a:off x="769937" y="3224216"/>
            <a:ext cx="7604076" cy="2988459"/>
          </a:xfrm>
          <a:prstGeom prst="rect">
            <a:avLst/>
          </a:prstGeom>
          <a:ln w="12700">
            <a:miter lim="400000"/>
          </a:ln>
        </p:spPr>
      </p:pic>
      <p:sp>
        <p:nvSpPr>
          <p:cNvPr id="632" name="Shape 632"/>
          <p:cNvSpPr/>
          <p:nvPr/>
        </p:nvSpPr>
        <p:spPr>
          <a:xfrm>
            <a:off x="244475" y="881379"/>
            <a:ext cx="3667125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>
              <a:defRPr sz="1800"/>
            </a:pPr>
            <a:r>
              <a:rPr sz="2400"/>
              <a:t>Surface Coil</a:t>
            </a:r>
          </a:p>
        </p:txBody>
      </p:sp>
      <p:sp>
        <p:nvSpPr>
          <p:cNvPr id="633" name="Shape 633"/>
          <p:cNvSpPr/>
          <p:nvPr/>
        </p:nvSpPr>
        <p:spPr>
          <a:xfrm>
            <a:off x="2814637" y="881379"/>
            <a:ext cx="3667126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>
              <a:defRPr sz="1800"/>
            </a:pPr>
            <a:r>
              <a:rPr sz="2400"/>
              <a:t>Volume Coil</a:t>
            </a:r>
          </a:p>
        </p:txBody>
      </p:sp>
      <p:sp>
        <p:nvSpPr>
          <p:cNvPr id="634" name="Shape 634"/>
          <p:cNvSpPr/>
          <p:nvPr/>
        </p:nvSpPr>
        <p:spPr>
          <a:xfrm>
            <a:off x="5455708" y="881379"/>
            <a:ext cx="3667126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>
              <a:defRPr sz="1800"/>
            </a:pPr>
            <a:r>
              <a:rPr sz="2400"/>
              <a:t>Phase-Array Coil</a:t>
            </a:r>
          </a:p>
        </p:txBody>
      </p:sp>
      <p:sp>
        <p:nvSpPr>
          <p:cNvPr id="635" name="Shape 635"/>
          <p:cNvSpPr/>
          <p:nvPr/>
        </p:nvSpPr>
        <p:spPr>
          <a:xfrm>
            <a:off x="-38101" y="6358466"/>
            <a:ext cx="922020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/>
            <a:r>
              <a:rPr dirty="0"/>
              <a:t>received signal </a:t>
            </a:r>
            <a:r>
              <a:rPr lang="en-US" dirty="0"/>
              <a:t>intensity is inversely </a:t>
            </a:r>
            <a:r>
              <a:rPr dirty="0"/>
              <a:t>proportional to distance from object</a:t>
            </a:r>
          </a:p>
        </p:txBody>
      </p:sp>
      <p:sp>
        <p:nvSpPr>
          <p:cNvPr id="636" name="Shape 63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55</a:t>
            </a:fld>
            <a:endParaRPr sz="1200"/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A66679-8E1A-0CAF-42E8-C7B2150A7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69" y="3262750"/>
            <a:ext cx="2200080" cy="25439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A1DCEC-4154-6FE4-7B78-E8F397763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272" y="3283280"/>
            <a:ext cx="2353752" cy="2529078"/>
          </a:xfrm>
          <a:prstGeom prst="rect">
            <a:avLst/>
          </a:prstGeom>
        </p:spPr>
      </p:pic>
      <p:grpSp>
        <p:nvGrpSpPr>
          <p:cNvPr id="640" name="Group 640"/>
          <p:cNvGrpSpPr/>
          <p:nvPr/>
        </p:nvGrpSpPr>
        <p:grpSpPr>
          <a:xfrm>
            <a:off x="6498823" y="5844716"/>
            <a:ext cx="1687905" cy="383541"/>
            <a:chOff x="0" y="0"/>
            <a:chExt cx="1687904" cy="383540"/>
          </a:xfrm>
        </p:grpSpPr>
        <p:sp>
          <p:nvSpPr>
            <p:cNvPr id="638" name="Shape 638"/>
            <p:cNvSpPr/>
            <p:nvPr/>
          </p:nvSpPr>
          <p:spPr>
            <a:xfrm>
              <a:off x="0" y="204470"/>
              <a:ext cx="354453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bevel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spcBef>
                  <a:spcPts val="0"/>
                </a:spcBef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39" name="Shape 639"/>
            <p:cNvSpPr/>
            <p:nvPr/>
          </p:nvSpPr>
          <p:spPr>
            <a:xfrm>
              <a:off x="385698" y="0"/>
              <a:ext cx="1302207" cy="383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000" b="1"/>
              </a:lvl1pPr>
            </a:lstStyle>
            <a:p>
              <a:pPr lvl="0">
                <a:defRPr sz="1800" b="0"/>
              </a:pPr>
              <a:r>
                <a:rPr sz="2000" b="1"/>
                <a:t>z-gradient</a:t>
              </a:r>
            </a:p>
          </p:txBody>
        </p:sp>
      </p:grpSp>
      <p:sp>
        <p:nvSpPr>
          <p:cNvPr id="641" name="Shape 641"/>
          <p:cNvSpPr>
            <a:spLocks noGrp="1"/>
          </p:cNvSpPr>
          <p:nvPr>
            <p:ph type="body" idx="1"/>
          </p:nvPr>
        </p:nvSpPr>
        <p:spPr>
          <a:xfrm>
            <a:off x="457200" y="1270000"/>
            <a:ext cx="8229600" cy="52578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en-US" sz="2400" dirty="0"/>
              <a:t>3 </a:t>
            </a:r>
            <a:r>
              <a:rPr sz="2400" dirty="0"/>
              <a:t>Gradient coils produce </a:t>
            </a:r>
            <a:r>
              <a:rPr lang="en-US" sz="2400" dirty="0"/>
              <a:t>orthogonal</a:t>
            </a:r>
            <a:r>
              <a:rPr sz="2400" dirty="0"/>
              <a:t> magnetic </a:t>
            </a:r>
            <a:r>
              <a:rPr sz="2400" b="1" dirty="0"/>
              <a:t>gradients</a:t>
            </a:r>
            <a:r>
              <a:rPr lang="en-US" sz="2400" dirty="0"/>
              <a:t> in x, y, and z dimensions</a:t>
            </a:r>
            <a:endParaRPr sz="2400" dirty="0"/>
          </a:p>
          <a:p>
            <a:pPr marL="800100" lvl="1" indent="-342900">
              <a:defRPr sz="1800"/>
            </a:pPr>
            <a:endParaRPr sz="2000" dirty="0"/>
          </a:p>
          <a:p>
            <a:pPr marL="411479" lvl="0" indent="-411479">
              <a:defRPr sz="1800"/>
            </a:pPr>
            <a:r>
              <a:rPr sz="2400" dirty="0"/>
              <a:t>z-Gradient (longitudinal gradient, along B</a:t>
            </a:r>
            <a:r>
              <a:rPr sz="2000" baseline="-25000" dirty="0"/>
              <a:t>0</a:t>
            </a:r>
            <a:r>
              <a:rPr sz="2400" dirty="0"/>
              <a:t>)</a:t>
            </a:r>
            <a:r>
              <a:rPr lang="en-US" sz="2400" dirty="0"/>
              <a:t>:</a:t>
            </a:r>
            <a:endParaRPr sz="2400" dirty="0"/>
          </a:p>
        </p:txBody>
      </p:sp>
      <p:sp>
        <p:nvSpPr>
          <p:cNvPr id="643" name="Shape 64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6A6A6A"/>
                </a:solidFill>
              </a:rPr>
              <a:t>3. Imaging:</a:t>
            </a:r>
            <a:r>
              <a:rPr sz="4000">
                <a:solidFill>
                  <a:srgbClr val="228B8B"/>
                </a:solidFill>
              </a:rPr>
              <a:t> </a:t>
            </a:r>
            <a:r>
              <a:rPr sz="4000">
                <a:solidFill>
                  <a:srgbClr val="000090"/>
                </a:solidFill>
              </a:rPr>
              <a:t>Gradient Coils</a:t>
            </a:r>
          </a:p>
        </p:txBody>
      </p:sp>
      <p:pic>
        <p:nvPicPr>
          <p:cNvPr id="644" name="pasted-image.pdf"/>
          <p:cNvPicPr/>
          <p:nvPr/>
        </p:nvPicPr>
        <p:blipFill>
          <a:blip r:embed="rId5"/>
          <a:srcRect b="5338"/>
          <a:stretch>
            <a:fillRect/>
          </a:stretch>
        </p:blipFill>
        <p:spPr>
          <a:xfrm>
            <a:off x="587277" y="3392475"/>
            <a:ext cx="2353753" cy="2294471"/>
          </a:xfrm>
          <a:prstGeom prst="rect">
            <a:avLst/>
          </a:prstGeom>
          <a:ln w="12700">
            <a:miter lim="400000"/>
          </a:ln>
        </p:spPr>
      </p:pic>
      <p:sp>
        <p:nvSpPr>
          <p:cNvPr id="645" name="Shape 645"/>
          <p:cNvSpPr/>
          <p:nvPr/>
        </p:nvSpPr>
        <p:spPr>
          <a:xfrm>
            <a:off x="1031363" y="3097529"/>
            <a:ext cx="1465695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/>
            </a:lvl1pPr>
          </a:lstStyle>
          <a:p>
            <a:pPr lvl="0">
              <a:defRPr b="0"/>
            </a:pPr>
            <a:r>
              <a:rPr b="1"/>
              <a:t>Maxwell pair</a:t>
            </a:r>
          </a:p>
        </p:txBody>
      </p:sp>
      <p:sp>
        <p:nvSpPr>
          <p:cNvPr id="650" name="Shape 65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56</a:t>
            </a:fld>
            <a:endParaRPr sz="12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AE0733-5A0A-1765-9BD9-AFCB291694C5}"/>
              </a:ext>
            </a:extLst>
          </p:cNvPr>
          <p:cNvGrpSpPr/>
          <p:nvPr/>
        </p:nvGrpSpPr>
        <p:grpSpPr>
          <a:xfrm>
            <a:off x="457199" y="2990881"/>
            <a:ext cx="8168291" cy="3237375"/>
            <a:chOff x="285750" y="2987671"/>
            <a:chExt cx="8168291" cy="3237375"/>
          </a:xfrm>
        </p:grpSpPr>
        <p:sp>
          <p:nvSpPr>
            <p:cNvPr id="648" name="Shape 648"/>
            <p:cNvSpPr/>
            <p:nvPr/>
          </p:nvSpPr>
          <p:spPr>
            <a:xfrm>
              <a:off x="285750" y="3166533"/>
              <a:ext cx="2894046" cy="2895411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/>
            <a:lstStyle/>
            <a:p>
              <a:pPr lvl="0">
                <a:defRPr>
                  <a:latin typeface="Trebuchet MS Bold"/>
                  <a:ea typeface="Trebuchet MS Bold"/>
                  <a:cs typeface="Trebuchet MS Bold"/>
                  <a:sym typeface="Trebuchet MS Bold"/>
                </a:defRPr>
              </a:pPr>
              <a:endParaRPr/>
            </a:p>
          </p:txBody>
        </p:sp>
        <p:sp>
          <p:nvSpPr>
            <p:cNvPr id="2" name="Shape 649">
              <a:extLst>
                <a:ext uri="{FF2B5EF4-FFF2-40B4-BE49-F238E27FC236}">
                  <a16:creationId xmlns:a16="http://schemas.microsoft.com/office/drawing/2014/main" id="{0EFCE494-038B-63C4-D8D1-07233E012505}"/>
                </a:ext>
              </a:extLst>
            </p:cNvPr>
            <p:cNvSpPr/>
            <p:nvPr/>
          </p:nvSpPr>
          <p:spPr>
            <a:xfrm>
              <a:off x="3318023" y="2987671"/>
              <a:ext cx="5136018" cy="3237375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/>
            <a:lstStyle/>
            <a:p>
              <a:pPr lvl="0">
                <a:defRPr>
                  <a:latin typeface="Trebuchet MS Bold"/>
                  <a:ea typeface="Trebuchet MS Bold"/>
                  <a:cs typeface="Trebuchet MS Bold"/>
                  <a:sym typeface="Trebuchet MS Bold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Shape 65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x- &amp; y-Gradient Coils</a:t>
            </a:r>
          </a:p>
        </p:txBody>
      </p:sp>
      <p:sp>
        <p:nvSpPr>
          <p:cNvPr id="655" name="Shape 655"/>
          <p:cNvSpPr>
            <a:spLocks noGrp="1"/>
          </p:cNvSpPr>
          <p:nvPr>
            <p:ph type="body" idx="1"/>
          </p:nvPr>
        </p:nvSpPr>
        <p:spPr>
          <a:xfrm>
            <a:off x="457200" y="1270000"/>
            <a:ext cx="8229600" cy="5257800"/>
          </a:xfrm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/>
            </a:pPr>
            <a:r>
              <a:rPr sz="2400" dirty="0"/>
              <a:t>x- and y-gradients (transverse gradients)</a:t>
            </a:r>
          </a:p>
          <a:p>
            <a:pPr marL="800100" lvl="1" indent="-342900">
              <a:defRPr sz="1800"/>
            </a:pPr>
            <a:r>
              <a:rPr sz="2400" dirty="0"/>
              <a:t>produce gradients perpendicular to B</a:t>
            </a:r>
            <a:r>
              <a:rPr sz="2000" baseline="-25000" dirty="0"/>
              <a:t>0</a:t>
            </a:r>
            <a:r>
              <a:rPr lang="en-US" sz="2400" dirty="0"/>
              <a:t> and z-Gradient</a:t>
            </a:r>
            <a:endParaRPr sz="2400" baseline="-25000" dirty="0"/>
          </a:p>
        </p:txBody>
      </p:sp>
      <p:pic>
        <p:nvPicPr>
          <p:cNvPr id="656" name="pasted-image.pdf"/>
          <p:cNvPicPr/>
          <p:nvPr/>
        </p:nvPicPr>
        <p:blipFill>
          <a:blip r:embed="rId3"/>
          <a:srcRect b="7883"/>
          <a:stretch>
            <a:fillRect/>
          </a:stretch>
        </p:blipFill>
        <p:spPr>
          <a:xfrm>
            <a:off x="124079" y="3104802"/>
            <a:ext cx="4790074" cy="2074907"/>
          </a:xfrm>
          <a:prstGeom prst="rect">
            <a:avLst/>
          </a:prstGeom>
          <a:ln w="12700">
            <a:miter lim="400000"/>
          </a:ln>
        </p:spPr>
      </p:pic>
      <p:sp>
        <p:nvSpPr>
          <p:cNvPr id="657" name="Shape 657"/>
          <p:cNvSpPr/>
          <p:nvPr/>
        </p:nvSpPr>
        <p:spPr>
          <a:xfrm>
            <a:off x="1970684" y="2881841"/>
            <a:ext cx="1096675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algn="r"/>
          </a:lstStyle>
          <a:p>
            <a:pPr lvl="0"/>
            <a:r>
              <a:t>Golay pair</a:t>
            </a:r>
          </a:p>
        </p:txBody>
      </p:sp>
      <p:pic>
        <p:nvPicPr>
          <p:cNvPr id="658" name="GolayPair_xy-Gradient.gif"/>
          <p:cNvPicPr/>
          <p:nvPr/>
        </p:nvPicPr>
        <p:blipFill>
          <a:blip r:embed="rId4"/>
          <a:stretch>
            <a:fillRect/>
          </a:stretch>
        </p:blipFill>
        <p:spPr>
          <a:xfrm rot="10800000" flipH="1">
            <a:off x="5532234" y="2871434"/>
            <a:ext cx="3654100" cy="2403586"/>
          </a:xfrm>
          <a:prstGeom prst="rect">
            <a:avLst/>
          </a:prstGeom>
          <a:ln w="12700">
            <a:miter lim="400000"/>
          </a:ln>
        </p:spPr>
      </p:pic>
      <p:sp>
        <p:nvSpPr>
          <p:cNvPr id="659" name="Shape 659"/>
          <p:cNvSpPr/>
          <p:nvPr/>
        </p:nvSpPr>
        <p:spPr>
          <a:xfrm>
            <a:off x="6844204" y="4847166"/>
            <a:ext cx="1030160" cy="332741"/>
          </a:xfrm>
          <a:prstGeom prst="rect">
            <a:avLst/>
          </a:prstGeom>
          <a:gradFill>
            <a:gsLst>
              <a:gs pos="0">
                <a:srgbClr val="FFFFF4"/>
              </a:gs>
              <a:gs pos="35000">
                <a:srgbClr val="FFFFF7"/>
              </a:gs>
              <a:gs pos="100000">
                <a:srgbClr val="FFFFFC"/>
              </a:gs>
            </a:gsLst>
            <a:lin ang="16200000"/>
          </a:gradFill>
          <a:ln w="12700">
            <a:miter lim="400000"/>
          </a:ln>
        </p:spPr>
        <p:txBody>
          <a:bodyPr lIns="45719" rIns="45719"/>
          <a:lstStyle/>
          <a:p>
            <a:pPr lvl="0"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pPr>
            <a:endParaRPr/>
          </a:p>
        </p:txBody>
      </p:sp>
      <p:sp>
        <p:nvSpPr>
          <p:cNvPr id="660" name="Shape 660"/>
          <p:cNvSpPr/>
          <p:nvPr/>
        </p:nvSpPr>
        <p:spPr>
          <a:xfrm>
            <a:off x="7192597" y="4808359"/>
            <a:ext cx="333374" cy="410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t>G</a:t>
            </a:r>
            <a:r>
              <a:rPr sz="1400" baseline="-35714"/>
              <a:t>y</a:t>
            </a:r>
          </a:p>
        </p:txBody>
      </p:sp>
      <p:sp>
        <p:nvSpPr>
          <p:cNvPr id="661" name="Shape 661"/>
          <p:cNvSpPr/>
          <p:nvPr/>
        </p:nvSpPr>
        <p:spPr>
          <a:xfrm>
            <a:off x="6844204" y="2894541"/>
            <a:ext cx="1030160" cy="332741"/>
          </a:xfrm>
          <a:prstGeom prst="rect">
            <a:avLst/>
          </a:prstGeom>
          <a:gradFill>
            <a:gsLst>
              <a:gs pos="0">
                <a:srgbClr val="FFFFF4"/>
              </a:gs>
              <a:gs pos="35000">
                <a:srgbClr val="FFFFF7"/>
              </a:gs>
              <a:gs pos="100000">
                <a:srgbClr val="FFFFFC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pPr lvl="0">
              <a:defRPr>
                <a:latin typeface="Trebuchet MS Bold"/>
                <a:ea typeface="Trebuchet MS Bold"/>
                <a:cs typeface="Trebuchet MS Bold"/>
                <a:sym typeface="Trebuchet MS Bold"/>
              </a:defRPr>
            </a:pPr>
            <a:endParaRPr/>
          </a:p>
        </p:txBody>
      </p:sp>
      <p:sp>
        <p:nvSpPr>
          <p:cNvPr id="662" name="Shape 662"/>
          <p:cNvSpPr/>
          <p:nvPr/>
        </p:nvSpPr>
        <p:spPr>
          <a:xfrm>
            <a:off x="6810946" y="2881841"/>
            <a:ext cx="1096676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lvl="0"/>
            <a:r>
              <a:t>Golay pair</a:t>
            </a:r>
          </a:p>
        </p:txBody>
      </p:sp>
      <p:sp>
        <p:nvSpPr>
          <p:cNvPr id="663" name="Shape 66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57</a:t>
            </a:fld>
            <a:endParaRPr sz="1200"/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Gradient Coils</a:t>
            </a:r>
          </a:p>
        </p:txBody>
      </p:sp>
      <p:sp>
        <p:nvSpPr>
          <p:cNvPr id="668" name="Shape 668"/>
          <p:cNvSpPr>
            <a:spLocks noGrp="1"/>
          </p:cNvSpPr>
          <p:nvPr>
            <p:ph type="body" idx="1"/>
          </p:nvPr>
        </p:nvSpPr>
        <p:spPr>
          <a:xfrm>
            <a:off x="457200" y="1270000"/>
            <a:ext cx="8229600" cy="5257800"/>
          </a:xfrm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/>
            </a:pPr>
            <a:r>
              <a:rPr sz="2400" dirty="0"/>
              <a:t>Gradient coils produce linear magnetic gradients</a:t>
            </a:r>
          </a:p>
          <a:p>
            <a:pPr marL="800100" lvl="1" indent="-342900">
              <a:defRPr sz="1800"/>
            </a:pPr>
            <a:r>
              <a:rPr lang="en-US" sz="2400" dirty="0"/>
              <a:t>the </a:t>
            </a:r>
            <a:r>
              <a:rPr sz="2400" dirty="0"/>
              <a:t>resonance frequency </a:t>
            </a:r>
            <a:r>
              <a:rPr lang="en-US" sz="2400" dirty="0"/>
              <a:t>of atomic nuclei </a:t>
            </a:r>
            <a:r>
              <a:rPr sz="2400" dirty="0"/>
              <a:t>depends on strength of external magnetic field </a:t>
            </a:r>
          </a:p>
          <a:p>
            <a:pPr marL="1257300" lvl="2" indent="-342900">
              <a:defRPr sz="1800"/>
            </a:pPr>
            <a:r>
              <a:rPr sz="2400" dirty="0"/>
              <a:t>received RF signal becomes spatially dependent</a:t>
            </a:r>
            <a:r>
              <a:rPr lang="en-US" sz="2400" dirty="0"/>
              <a:t>!</a:t>
            </a:r>
            <a:endParaRPr sz="2400" dirty="0"/>
          </a:p>
          <a:p>
            <a:pPr marL="800100" lvl="1" indent="-342900">
              <a:defRPr sz="1800"/>
            </a:pPr>
            <a:r>
              <a:rPr sz="2400" dirty="0"/>
              <a:t>typically turned on briefly after RF pulse</a:t>
            </a:r>
          </a:p>
        </p:txBody>
      </p:sp>
      <p:sp>
        <p:nvSpPr>
          <p:cNvPr id="669" name="Shape 669"/>
          <p:cNvSpPr/>
          <p:nvPr/>
        </p:nvSpPr>
        <p:spPr>
          <a:xfrm>
            <a:off x="5770402" y="4042833"/>
            <a:ext cx="3048001" cy="2195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 algn="r"/>
            <a:r>
              <a:rPr dirty="0"/>
              <a:t>Three gradient coils are used, one in each of the </a:t>
            </a:r>
            <a:r>
              <a:rPr lang="en-US" dirty="0"/>
              <a:t>3 </a:t>
            </a:r>
            <a:r>
              <a:rPr dirty="0"/>
              <a:t>cardinal </a:t>
            </a:r>
            <a:r>
              <a:rPr lang="en-US" dirty="0"/>
              <a:t>axes </a:t>
            </a:r>
            <a:r>
              <a:rPr dirty="0"/>
              <a:t>relative </a:t>
            </a:r>
            <a:r>
              <a:t>to </a:t>
            </a:r>
            <a:r>
              <a:rPr lang="en-US"/>
              <a:t>the main magnetic field </a:t>
            </a:r>
            <a:r>
              <a:t>B</a:t>
            </a:r>
            <a:r>
              <a:rPr sz="1400" baseline="-35714"/>
              <a:t>0</a:t>
            </a:r>
            <a:r>
              <a:rPr dirty="0"/>
              <a:t>. </a:t>
            </a:r>
          </a:p>
          <a:p>
            <a:pPr lvl="0" algn="r"/>
            <a:endParaRPr lang="en-US" dirty="0"/>
          </a:p>
          <a:p>
            <a:pPr lvl="0" algn="r"/>
            <a:r>
              <a:rPr dirty="0"/>
              <a:t>These allow</a:t>
            </a:r>
            <a:r>
              <a:rPr lang="en-US" dirty="0"/>
              <a:t> the</a:t>
            </a:r>
            <a:r>
              <a:rPr dirty="0"/>
              <a:t> </a:t>
            </a:r>
            <a:r>
              <a:rPr u="sng" dirty="0"/>
              <a:t>spatial</a:t>
            </a:r>
            <a:r>
              <a:rPr dirty="0"/>
              <a:t> encoding of the MR signal.</a:t>
            </a:r>
          </a:p>
        </p:txBody>
      </p:sp>
      <p:pic>
        <p:nvPicPr>
          <p:cNvPr id="670" name="pasted-image.pdf"/>
          <p:cNvPicPr/>
          <p:nvPr/>
        </p:nvPicPr>
        <p:blipFill>
          <a:blip r:embed="rId3"/>
          <a:srcRect b="5989"/>
          <a:stretch>
            <a:fillRect/>
          </a:stretch>
        </p:blipFill>
        <p:spPr>
          <a:xfrm>
            <a:off x="259014" y="3626027"/>
            <a:ext cx="2517835" cy="2447948"/>
          </a:xfrm>
          <a:prstGeom prst="rect">
            <a:avLst/>
          </a:prstGeom>
          <a:ln w="12700">
            <a:miter lim="400000"/>
          </a:ln>
        </p:spPr>
      </p:pic>
      <p:pic>
        <p:nvPicPr>
          <p:cNvPr id="671" name="pasted-image.pdf"/>
          <p:cNvPicPr/>
          <p:nvPr/>
        </p:nvPicPr>
        <p:blipFill>
          <a:blip r:embed="rId4"/>
          <a:srcRect b="5535"/>
          <a:stretch>
            <a:fillRect/>
          </a:stretch>
        </p:blipFill>
        <p:spPr>
          <a:xfrm>
            <a:off x="3359394" y="3584352"/>
            <a:ext cx="1828556" cy="3190957"/>
          </a:xfrm>
          <a:prstGeom prst="rect">
            <a:avLst/>
          </a:prstGeom>
          <a:ln w="12700">
            <a:miter lim="400000"/>
          </a:ln>
        </p:spPr>
      </p:pic>
      <p:sp>
        <p:nvSpPr>
          <p:cNvPr id="672" name="Shape 67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fld id="{86CB4B4D-7CA3-9044-876B-883B54F8677D}" type="slidenum">
              <a:rPr sz="1200"/>
              <a:t>58</a:t>
            </a:fld>
            <a:endParaRPr sz="1200"/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hape 70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5400">
                <a:solidFill>
                  <a:srgbClr val="000090"/>
                </a:solidFill>
              </a:rPr>
              <a:t>5. MRI Safety</a:t>
            </a:r>
          </a:p>
        </p:txBody>
      </p:sp>
      <p:sp>
        <p:nvSpPr>
          <p:cNvPr id="705" name="Shape 70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06" name="Shape 70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59</a:t>
            </a:fld>
            <a:endParaRPr sz="1200"/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70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MRI is a non-invasive technique</a:t>
            </a:r>
          </a:p>
        </p:txBody>
      </p:sp>
      <p:sp>
        <p:nvSpPr>
          <p:cNvPr id="709" name="Shape 709"/>
          <p:cNvSpPr>
            <a:spLocks noGrp="1"/>
          </p:cNvSpPr>
          <p:nvPr>
            <p:ph type="body" idx="1"/>
          </p:nvPr>
        </p:nvSpPr>
        <p:spPr>
          <a:xfrm>
            <a:off x="457200" y="1244600"/>
            <a:ext cx="8229600" cy="52578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 dirty="0"/>
              <a:t>MRI itself is not harmful</a:t>
            </a:r>
          </a:p>
          <a:p>
            <a:pPr lvl="1">
              <a:defRPr sz="1800"/>
            </a:pPr>
            <a:r>
              <a:rPr lang="en-US" sz="2600" dirty="0"/>
              <a:t>the </a:t>
            </a:r>
            <a:r>
              <a:rPr sz="2600" dirty="0"/>
              <a:t>magnetic field</a:t>
            </a:r>
            <a:r>
              <a:rPr lang="en-US" sz="2600" dirty="0"/>
              <a:t> strengths (1.5T, 3T) that are in common use today </a:t>
            </a:r>
            <a:r>
              <a:rPr sz="2600" dirty="0"/>
              <a:t>have no known long-term </a:t>
            </a:r>
            <a:r>
              <a:rPr lang="en-US" sz="2600" dirty="0"/>
              <a:t>negative</a:t>
            </a:r>
            <a:r>
              <a:rPr sz="2600" dirty="0"/>
              <a:t> effects on biological tissues</a:t>
            </a:r>
          </a:p>
          <a:p>
            <a:pPr lvl="1">
              <a:defRPr sz="1800"/>
            </a:pPr>
            <a:r>
              <a:rPr sz="2600" dirty="0"/>
              <a:t>it is therefore considered a ‘non-invasive’ technique</a:t>
            </a:r>
          </a:p>
          <a:p>
            <a:pPr lvl="1">
              <a:defRPr sz="1800"/>
            </a:pPr>
            <a:endParaRPr sz="2600" dirty="0"/>
          </a:p>
          <a:p>
            <a:pPr lvl="1">
              <a:defRPr sz="1800"/>
            </a:pPr>
            <a:r>
              <a:rPr sz="2600" dirty="0"/>
              <a:t>Erhard </a:t>
            </a:r>
            <a:r>
              <a:rPr sz="2600" i="1" dirty="0"/>
              <a:t>et al.</a:t>
            </a:r>
            <a:r>
              <a:rPr sz="2600" dirty="0"/>
              <a:t> (1995) study…</a:t>
            </a:r>
          </a:p>
          <a:p>
            <a:pPr lvl="2">
              <a:defRPr sz="1800"/>
            </a:pPr>
            <a:r>
              <a:rPr sz="2000" dirty="0"/>
              <a:t>45% reported ‘unusual sensations’ in 4T scanner</a:t>
            </a:r>
          </a:p>
          <a:p>
            <a:pPr lvl="2">
              <a:defRPr sz="1800"/>
            </a:pPr>
            <a:r>
              <a:rPr sz="2000" dirty="0"/>
              <a:t>(scanner had been powered down - no B</a:t>
            </a:r>
            <a:r>
              <a:rPr sz="1600" baseline="-31250" dirty="0"/>
              <a:t>0</a:t>
            </a:r>
            <a:r>
              <a:rPr sz="2000" dirty="0"/>
              <a:t>!)</a:t>
            </a:r>
          </a:p>
        </p:txBody>
      </p:sp>
      <p:sp>
        <p:nvSpPr>
          <p:cNvPr id="710" name="Shape 7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60</a:t>
            </a:fld>
            <a:endParaRPr sz="1200"/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Shape 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MRI safety - external objects</a:t>
            </a:r>
          </a:p>
        </p:txBody>
      </p:sp>
      <p:sp>
        <p:nvSpPr>
          <p:cNvPr id="713" name="Shape 713"/>
          <p:cNvSpPr>
            <a:spLocks noGrp="1"/>
          </p:cNvSpPr>
          <p:nvPr>
            <p:ph type="body" idx="1"/>
          </p:nvPr>
        </p:nvSpPr>
        <p:spPr>
          <a:xfrm>
            <a:off x="457200" y="1460500"/>
            <a:ext cx="8229600" cy="5257800"/>
          </a:xfrm>
          <a:prstGeom prst="rect">
            <a:avLst/>
          </a:prstGeom>
        </p:spPr>
        <p:txBody>
          <a:bodyPr/>
          <a:lstStyle/>
          <a:p>
            <a:pPr marL="320040" lvl="0" indent="-320040">
              <a:buSzTx/>
              <a:buNone/>
              <a:defRPr sz="1800"/>
            </a:pPr>
            <a:r>
              <a:rPr sz="2800" b="1">
                <a:latin typeface="Tw Cen MT"/>
                <a:ea typeface="Tw Cen MT"/>
                <a:cs typeface="Tw Cen MT"/>
                <a:sym typeface="Tw Cen MT"/>
              </a:rPr>
              <a:t>Hospital Nightmare</a:t>
            </a:r>
          </a:p>
          <a:p>
            <a:pPr marL="320040" lvl="0" indent="-320040">
              <a:buSzTx/>
              <a:buNone/>
              <a:defRPr sz="1800"/>
            </a:pPr>
            <a:r>
              <a:rPr sz="2800" b="1">
                <a:latin typeface="Tw Cen MT"/>
                <a:ea typeface="Tw Cen MT"/>
                <a:cs typeface="Tw Cen MT"/>
                <a:sym typeface="Tw Cen MT"/>
              </a:rPr>
              <a:t>Boy, 6, Killed in Freak MRI Accident</a:t>
            </a:r>
            <a:r>
              <a:rPr sz="2800"/>
              <a:t> </a:t>
            </a:r>
            <a:br>
              <a:rPr sz="2800"/>
            </a:br>
            <a:br>
              <a:rPr sz="2800"/>
            </a:br>
            <a:r>
              <a:rPr sz="2800" b="1">
                <a:latin typeface="Tw Cen MT"/>
                <a:ea typeface="Tw Cen MT"/>
                <a:cs typeface="Tw Cen MT"/>
                <a:sym typeface="Tw Cen MT"/>
              </a:rPr>
              <a:t>July 31, 2001 — A 6-year-old boy died after undergoing an MRI exam at a New York-area hospital when the machine's powerful magnetic field jerked a metal oxygen tank across the room, crushing the child's head. … </a:t>
            </a:r>
          </a:p>
        </p:txBody>
      </p:sp>
      <p:sp>
        <p:nvSpPr>
          <p:cNvPr id="714" name="Shape 714"/>
          <p:cNvSpPr/>
          <p:nvPr/>
        </p:nvSpPr>
        <p:spPr>
          <a:xfrm>
            <a:off x="3581400" y="5829300"/>
            <a:ext cx="5181600" cy="421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14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>
              <a:defRPr sz="1800"/>
            </a:pPr>
            <a:r>
              <a:rPr sz="2400"/>
              <a:t>ABCNews.com</a:t>
            </a:r>
          </a:p>
        </p:txBody>
      </p:sp>
      <p:sp>
        <p:nvSpPr>
          <p:cNvPr id="715" name="Shape 7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61</a:t>
            </a:fld>
            <a:endParaRPr sz="1200"/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media1.mp4"/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1387" y="1166283"/>
            <a:ext cx="7261226" cy="4114801"/>
          </a:xfrm>
          <a:prstGeom prst="rect">
            <a:avLst/>
          </a:prstGeom>
        </p:spPr>
      </p:pic>
      <p:sp>
        <p:nvSpPr>
          <p:cNvPr id="718" name="Shape 718"/>
          <p:cNvSpPr>
            <a:spLocks noGrp="1"/>
          </p:cNvSpPr>
          <p:nvPr>
            <p:ph type="title"/>
          </p:nvPr>
        </p:nvSpPr>
        <p:spPr>
          <a:xfrm>
            <a:off x="5093" y="0"/>
            <a:ext cx="9133814" cy="808038"/>
          </a:xfrm>
          <a:prstGeom prst="rect">
            <a:avLst/>
          </a:prstGeom>
        </p:spPr>
        <p:txBody>
          <a:bodyPr>
            <a:noAutofit/>
          </a:bodyPr>
          <a:lstStyle>
            <a:lvl1pPr defTabSz="914400">
              <a:defRPr>
                <a:solidFill>
                  <a:srgbClr val="000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B0 in action</a:t>
            </a:r>
          </a:p>
        </p:txBody>
      </p:sp>
      <p:sp>
        <p:nvSpPr>
          <p:cNvPr id="719" name="Shape 719"/>
          <p:cNvSpPr>
            <a:spLocks noGrp="1"/>
          </p:cNvSpPr>
          <p:nvPr>
            <p:ph type="sldNum" sz="quarter" idx="2"/>
          </p:nvPr>
        </p:nvSpPr>
        <p:spPr>
          <a:xfrm>
            <a:off x="8354248" y="6226492"/>
            <a:ext cx="332552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200"/>
              <a:t>62</a:t>
            </a:fld>
            <a:endParaRPr sz="12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17"/>
                </p:tgtEl>
              </p:cMediaNode>
            </p:video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Shape 72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000090"/>
                </a:solidFill>
              </a:rPr>
              <a:t>Component – Safety Concerns</a:t>
            </a:r>
          </a:p>
        </p:txBody>
      </p:sp>
      <p:sp>
        <p:nvSpPr>
          <p:cNvPr id="726" name="Shape 726"/>
          <p:cNvSpPr>
            <a:spLocks noGrp="1"/>
          </p:cNvSpPr>
          <p:nvPr>
            <p:ph type="body" idx="1"/>
          </p:nvPr>
        </p:nvSpPr>
        <p:spPr>
          <a:xfrm>
            <a:off x="457200" y="1854200"/>
            <a:ext cx="8387193" cy="4493320"/>
          </a:xfrm>
          <a:prstGeom prst="rect">
            <a:avLst/>
          </a:prstGeom>
        </p:spPr>
        <p:txBody>
          <a:bodyPr/>
          <a:lstStyle/>
          <a:p>
            <a:pPr marL="200526" lvl="0" indent="-200526">
              <a:lnSpc>
                <a:spcPct val="80000"/>
              </a:lnSpc>
              <a:defRPr sz="1800"/>
            </a:pPr>
            <a:r>
              <a:rPr sz="2000" dirty="0"/>
              <a:t>Main Magnet</a:t>
            </a:r>
          </a:p>
          <a:p>
            <a:pPr marL="561473" lvl="1" indent="-180473">
              <a:lnSpc>
                <a:spcPct val="80000"/>
              </a:lnSpc>
              <a:spcBef>
                <a:spcPts val="500"/>
              </a:spcBef>
              <a:defRPr sz="1800"/>
            </a:pPr>
            <a:r>
              <a:rPr dirty="0"/>
              <a:t>Projectile Effects</a:t>
            </a:r>
          </a:p>
          <a:p>
            <a:pPr marL="561473" lvl="1" indent="-180473">
              <a:lnSpc>
                <a:spcPct val="80000"/>
              </a:lnSpc>
              <a:spcBef>
                <a:spcPts val="500"/>
              </a:spcBef>
              <a:defRPr sz="1800"/>
            </a:pPr>
            <a:r>
              <a:rPr dirty="0"/>
              <a:t>Translation</a:t>
            </a:r>
          </a:p>
          <a:p>
            <a:pPr marL="561473" lvl="1" indent="-180473">
              <a:lnSpc>
                <a:spcPct val="80000"/>
              </a:lnSpc>
              <a:spcBef>
                <a:spcPts val="500"/>
              </a:spcBef>
              <a:defRPr sz="1800"/>
            </a:pPr>
            <a:r>
              <a:rPr dirty="0"/>
              <a:t>Torsion</a:t>
            </a:r>
          </a:p>
          <a:p>
            <a:pPr marL="561473" lvl="1" indent="-180473">
              <a:lnSpc>
                <a:spcPct val="80000"/>
              </a:lnSpc>
              <a:spcBef>
                <a:spcPts val="500"/>
              </a:spcBef>
              <a:defRPr sz="1800"/>
            </a:pPr>
            <a:endParaRPr dirty="0"/>
          </a:p>
          <a:p>
            <a:pPr marL="200526" lvl="0" indent="-200526">
              <a:lnSpc>
                <a:spcPct val="80000"/>
              </a:lnSpc>
              <a:defRPr sz="1800"/>
            </a:pPr>
            <a:r>
              <a:rPr sz="2000" dirty="0"/>
              <a:t>Gradients</a:t>
            </a:r>
          </a:p>
          <a:p>
            <a:pPr marL="581526" lvl="1" indent="-200526">
              <a:lnSpc>
                <a:spcPct val="80000"/>
              </a:lnSpc>
              <a:spcBef>
                <a:spcPts val="500"/>
              </a:spcBef>
              <a:defRPr sz="1800"/>
            </a:pPr>
            <a:r>
              <a:rPr sz="1800" dirty="0"/>
              <a:t>effect of a gradient</a:t>
            </a:r>
            <a:r>
              <a:rPr lang="en-US" sz="1800" dirty="0"/>
              <a:t> is a function of</a:t>
            </a:r>
            <a:r>
              <a:rPr sz="1800" dirty="0"/>
              <a:t>: </a:t>
            </a:r>
            <a:r>
              <a:rPr dirty="0"/>
              <a:t>ΔB/Δt</a:t>
            </a:r>
          </a:p>
          <a:p>
            <a:pPr marL="561473" lvl="1" indent="-180473">
              <a:lnSpc>
                <a:spcPct val="80000"/>
              </a:lnSpc>
              <a:spcBef>
                <a:spcPts val="500"/>
              </a:spcBef>
              <a:defRPr sz="1800"/>
            </a:pPr>
            <a:r>
              <a:rPr dirty="0"/>
              <a:t>gradient switching can generate small electric current (don’t cross hands/legs)</a:t>
            </a:r>
          </a:p>
          <a:p>
            <a:pPr marL="561473" lvl="1" indent="-180473">
              <a:lnSpc>
                <a:spcPct val="80000"/>
              </a:lnSpc>
              <a:spcBef>
                <a:spcPts val="500"/>
              </a:spcBef>
              <a:defRPr sz="1800"/>
            </a:pPr>
            <a:r>
              <a:rPr dirty="0"/>
              <a:t>peripheral nerve stimulation</a:t>
            </a:r>
          </a:p>
          <a:p>
            <a:pPr marL="561473" lvl="1" indent="-180473">
              <a:lnSpc>
                <a:spcPct val="80000"/>
              </a:lnSpc>
              <a:spcBef>
                <a:spcPts val="500"/>
              </a:spcBef>
              <a:defRPr sz="1800"/>
            </a:pPr>
            <a:r>
              <a:rPr dirty="0"/>
              <a:t>interfere with medical devices</a:t>
            </a:r>
          </a:p>
          <a:p>
            <a:pPr marL="561473" lvl="1" indent="-180473">
              <a:lnSpc>
                <a:spcPct val="80000"/>
              </a:lnSpc>
              <a:spcBef>
                <a:spcPts val="500"/>
              </a:spcBef>
              <a:defRPr sz="1800"/>
            </a:pPr>
            <a:endParaRPr dirty="0"/>
          </a:p>
          <a:p>
            <a:pPr marL="200526" lvl="0" indent="-200526">
              <a:lnSpc>
                <a:spcPct val="80000"/>
              </a:lnSpc>
              <a:defRPr sz="1800"/>
            </a:pPr>
            <a:r>
              <a:rPr sz="2000" dirty="0"/>
              <a:t>RF coils</a:t>
            </a:r>
          </a:p>
          <a:p>
            <a:pPr marL="561473" lvl="1" indent="-180473">
              <a:lnSpc>
                <a:spcPct val="80000"/>
              </a:lnSpc>
              <a:spcBef>
                <a:spcPts val="500"/>
              </a:spcBef>
              <a:defRPr sz="1800"/>
            </a:pPr>
            <a:r>
              <a:rPr dirty="0"/>
              <a:t>SAR (amount of electromagnetic energy absorbed by the body over time)</a:t>
            </a:r>
          </a:p>
          <a:p>
            <a:pPr marL="561473" lvl="1" indent="-180473">
              <a:lnSpc>
                <a:spcPct val="80000"/>
              </a:lnSpc>
              <a:spcBef>
                <a:spcPts val="500"/>
              </a:spcBef>
              <a:defRPr sz="1800"/>
            </a:pPr>
            <a:r>
              <a:rPr dirty="0"/>
              <a:t>Tissue heating, burns</a:t>
            </a:r>
          </a:p>
          <a:p>
            <a:pPr marL="561473" lvl="1" indent="-180473">
              <a:lnSpc>
                <a:spcPct val="80000"/>
              </a:lnSpc>
              <a:spcBef>
                <a:spcPts val="500"/>
              </a:spcBef>
              <a:defRPr sz="1800"/>
            </a:pPr>
            <a:r>
              <a:rPr dirty="0"/>
              <a:t>Metal wires – refocusing pulse</a:t>
            </a:r>
          </a:p>
        </p:txBody>
      </p:sp>
      <p:sp>
        <p:nvSpPr>
          <p:cNvPr id="727" name="Shape 727"/>
          <p:cNvSpPr/>
          <p:nvPr/>
        </p:nvSpPr>
        <p:spPr>
          <a:xfrm>
            <a:off x="1033705" y="820578"/>
            <a:ext cx="7076590" cy="767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700"/>
              </a:spcBef>
              <a:defRPr sz="2400" b="1"/>
            </a:lvl1pPr>
          </a:lstStyle>
          <a:p>
            <a:pPr lvl="0">
              <a:defRPr sz="1800" b="0"/>
            </a:pPr>
            <a:r>
              <a:rPr sz="2400" b="1"/>
              <a:t>Each main component of a scanner has a specific associated safety risk</a:t>
            </a:r>
          </a:p>
        </p:txBody>
      </p:sp>
      <p:sp>
        <p:nvSpPr>
          <p:cNvPr id="728" name="Shape 72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63</a:t>
            </a:fld>
            <a:endParaRPr sz="12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7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7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7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7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" grpId="1" build="p" animBg="1" advAuto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Shape 73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Safety questionnaire</a:t>
            </a:r>
            <a:endParaRPr dirty="0"/>
          </a:p>
        </p:txBody>
      </p:sp>
      <p:sp>
        <p:nvSpPr>
          <p:cNvPr id="735" name="Shape 73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307384" y="778567"/>
            <a:ext cx="8510799" cy="5712403"/>
            <a:chOff x="0" y="273050"/>
            <a:chExt cx="9115425" cy="6118225"/>
          </a:xfrm>
        </p:grpSpPr>
        <p:sp>
          <p:nvSpPr>
            <p:cNvPr id="736" name="Shape 736"/>
            <p:cNvSpPr/>
            <p:nvPr/>
          </p:nvSpPr>
          <p:spPr>
            <a:xfrm>
              <a:off x="0" y="457200"/>
              <a:ext cx="9115425" cy="5934075"/>
            </a:xfrm>
            <a:prstGeom prst="rect">
              <a:avLst/>
            </a:prstGeom>
            <a:solidFill/>
            <a:ln>
              <a:solidFill/>
              <a:miter/>
            </a:ln>
          </p:spPr>
          <p:txBody>
            <a:bodyPr lIns="0" tIns="0" rIns="0" bIns="0" anchor="ctr"/>
            <a:lstStyle/>
            <a:p>
              <a:pPr lvl="0">
                <a:defRPr>
                  <a:latin typeface="Trebuchet MS Bold"/>
                  <a:ea typeface="Trebuchet MS Bold"/>
                  <a:cs typeface="Trebuchet MS Bold"/>
                  <a:sym typeface="Trebuchet MS Bold"/>
                </a:defRPr>
              </a:pPr>
              <a:endParaRPr/>
            </a:p>
          </p:txBody>
        </p:sp>
        <p:grpSp>
          <p:nvGrpSpPr>
            <p:cNvPr id="2" name="Group 1"/>
            <p:cNvGrpSpPr>
              <a:grpSpLocks noChangeAspect="1"/>
            </p:cNvGrpSpPr>
            <p:nvPr/>
          </p:nvGrpSpPr>
          <p:grpSpPr>
            <a:xfrm>
              <a:off x="15875" y="495300"/>
              <a:ext cx="9083675" cy="5867400"/>
              <a:chOff x="15875" y="495300"/>
              <a:chExt cx="9083675" cy="5867400"/>
            </a:xfrm>
          </p:grpSpPr>
          <p:pic>
            <p:nvPicPr>
              <p:cNvPr id="737" name="image77.png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875" y="495300"/>
                <a:ext cx="4556125" cy="5867400"/>
              </a:xfrm>
              <a:prstGeom prst="rect">
                <a:avLst/>
              </a:prstGeom>
              <a:ln>
                <a:solidFill/>
                <a:miter/>
              </a:ln>
            </p:spPr>
          </p:pic>
          <p:pic>
            <p:nvPicPr>
              <p:cNvPr id="738" name="image78.png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2000" y="500062"/>
                <a:ext cx="4527550" cy="5857876"/>
              </a:xfrm>
              <a:prstGeom prst="rect">
                <a:avLst/>
              </a:prstGeom>
              <a:ln w="12700">
                <a:miter lim="400000"/>
              </a:ln>
            </p:spPr>
          </p:pic>
        </p:grpSp>
        <p:sp>
          <p:nvSpPr>
            <p:cNvPr id="739" name="Shape 739"/>
            <p:cNvSpPr/>
            <p:nvPr/>
          </p:nvSpPr>
          <p:spPr>
            <a:xfrm flipH="1">
              <a:off x="4571999" y="273050"/>
              <a:ext cx="2" cy="6108700"/>
            </a:xfrm>
            <a:prstGeom prst="line">
              <a:avLst/>
            </a:prstGeom>
            <a:ln w="38100">
              <a:solidFill>
                <a:srgbClr val="FFFFFF"/>
              </a:solidFill>
              <a:round/>
            </a:ln>
          </p:spPr>
          <p:txBody>
            <a:bodyPr lIns="0" tIns="0" rIns="0" bIns="0"/>
            <a:lstStyle/>
            <a:p>
              <a:pPr lvl="0" algn="l" defTabSz="457200">
                <a:spcBef>
                  <a:spcPts val="0"/>
                </a:spcBef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740" name="Shape 74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200"/>
              <a:t>64</a:t>
            </a:fld>
            <a:endParaRPr sz="1200"/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uk-UA" smtClean="0"/>
              <a:t>65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4600028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D9"/>
      </a:lt1>
      <a:dk2>
        <a:srgbClr val="A7A7A7"/>
      </a:dk2>
      <a:lt2>
        <a:srgbClr val="535353"/>
      </a:lt2>
      <a:accent1>
        <a:srgbClr val="FFFFF7"/>
      </a:accent1>
      <a:accent2>
        <a:srgbClr val="33CCCC"/>
      </a:accent2>
      <a:accent3>
        <a:srgbClr val="FFFFE9"/>
      </a:accent3>
      <a:accent4>
        <a:srgbClr val="707070"/>
      </a:accent4>
      <a:accent5>
        <a:srgbClr val="FFFFFA"/>
      </a:accent5>
      <a:accent6>
        <a:srgbClr val="2DB9B9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D9"/>
        </a:solidFill>
        <a:ln w="25400" cap="flat">
          <a:solidFill>
            <a:srgbClr val="FFFFF7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1" hangingPunct="0">
          <a:lnSpc>
            <a:spcPct val="100000"/>
          </a:lnSpc>
          <a:spcBef>
            <a:spcPts val="10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 Bold"/>
            <a:ea typeface="Trebuchet MS Bold"/>
            <a:cs typeface="Trebuchet MS Bold"/>
            <a:sym typeface="Trebuchet M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7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1" hangingPunct="0">
          <a:lnSpc>
            <a:spcPct val="100000"/>
          </a:lnSpc>
          <a:spcBef>
            <a:spcPts val="10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mbria"/>
            <a:ea typeface="Cambria"/>
            <a:cs typeface="Cambria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FFF7"/>
      </a:accent1>
      <a:accent2>
        <a:srgbClr val="33CCCC"/>
      </a:accent2>
      <a:accent3>
        <a:srgbClr val="FFFFE9"/>
      </a:accent3>
      <a:accent4>
        <a:srgbClr val="707070"/>
      </a:accent4>
      <a:accent5>
        <a:srgbClr val="FFFFFA"/>
      </a:accent5>
      <a:accent6>
        <a:srgbClr val="2DB9B9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D9"/>
        </a:solidFill>
        <a:ln w="25400" cap="flat">
          <a:solidFill>
            <a:srgbClr val="FFFFF7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1" hangingPunct="0">
          <a:lnSpc>
            <a:spcPct val="100000"/>
          </a:lnSpc>
          <a:spcBef>
            <a:spcPts val="10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 Bold"/>
            <a:ea typeface="Trebuchet MS Bold"/>
            <a:cs typeface="Trebuchet MS Bold"/>
            <a:sym typeface="Trebuchet MS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7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1" hangingPunct="0">
          <a:lnSpc>
            <a:spcPct val="100000"/>
          </a:lnSpc>
          <a:spcBef>
            <a:spcPts val="10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mbria"/>
            <a:ea typeface="Cambria"/>
            <a:cs typeface="Cambria"/>
            <a:sym typeface="Cambr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19132</TotalTime>
  <Words>3142</Words>
  <Application>Microsoft Macintosh PowerPoint</Application>
  <PresentationFormat>On-screen Show (4:3)</PresentationFormat>
  <Paragraphs>551</Paragraphs>
  <Slides>65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5" baseType="lpstr">
      <vt:lpstr>Arial</vt:lpstr>
      <vt:lpstr>Avenir Roman</vt:lpstr>
      <vt:lpstr>Cambria</vt:lpstr>
      <vt:lpstr>Times New Roman</vt:lpstr>
      <vt:lpstr>Trebuchet MS</vt:lpstr>
      <vt:lpstr>Trebuchet MS Bold</vt:lpstr>
      <vt:lpstr>Tw Cen MT</vt:lpstr>
      <vt:lpstr>Wingdings</vt:lpstr>
      <vt:lpstr>Wingdings 2</vt:lpstr>
      <vt:lpstr>Default</vt:lpstr>
      <vt:lpstr>Functional Neuroimaging</vt:lpstr>
      <vt:lpstr>Class Outline</vt:lpstr>
      <vt:lpstr>Class Outline</vt:lpstr>
      <vt:lpstr>Group projects</vt:lpstr>
      <vt:lpstr>The class is on Canvas</vt:lpstr>
      <vt:lpstr>Textbook</vt:lpstr>
      <vt:lpstr>Reading</vt:lpstr>
      <vt:lpstr>Use of electronic devices</vt:lpstr>
      <vt:lpstr>Software</vt:lpstr>
      <vt:lpstr>Grading</vt:lpstr>
      <vt:lpstr>PowerPoint Presentation</vt:lpstr>
      <vt:lpstr>1. What is fMRI?</vt:lpstr>
      <vt:lpstr>fMRI is not bumpology</vt:lpstr>
      <vt:lpstr>fMRI is not mind-reading</vt:lpstr>
      <vt:lpstr>fMRI is not a simple one-to-one</vt:lpstr>
      <vt:lpstr>fMRI is not invasive</vt:lpstr>
      <vt:lpstr>fMRI is…</vt:lpstr>
      <vt:lpstr>fMRI is a Measurement Technique…</vt:lpstr>
      <vt:lpstr>… that provides information about a wide range of topics…</vt:lpstr>
      <vt:lpstr>… using many Types of MR Imaging</vt:lpstr>
      <vt:lpstr>2. Key Concepts</vt:lpstr>
      <vt:lpstr>Contrast &amp; Resolution</vt:lpstr>
      <vt:lpstr>Contrast: Conceptual Overview</vt:lpstr>
      <vt:lpstr>Contrast: Anatomical Contrast</vt:lpstr>
      <vt:lpstr>Contrast: Functional Contrast</vt:lpstr>
      <vt:lpstr>Contrast &amp; Resolution</vt:lpstr>
      <vt:lpstr>Resolution: Spatial Resolution</vt:lpstr>
      <vt:lpstr>Resolution: Spatial Resolution</vt:lpstr>
      <vt:lpstr>Spatial Resolution: 2D Examples</vt:lpstr>
      <vt:lpstr>Resolution: Temporal Resolution</vt:lpstr>
      <vt:lpstr>Resolution: Comparison</vt:lpstr>
      <vt:lpstr>Resolution: Functional Resolution</vt:lpstr>
      <vt:lpstr>Contrast &amp; Resolution</vt:lpstr>
      <vt:lpstr>3. History of fMRI</vt:lpstr>
      <vt:lpstr>Timeline of MR Imaging</vt:lpstr>
      <vt:lpstr>Timeline of MR Imaging</vt:lpstr>
      <vt:lpstr>Early Uses of NMR</vt:lpstr>
      <vt:lpstr>Early Uses of NMR</vt:lpstr>
      <vt:lpstr>The First NMR Image</vt:lpstr>
      <vt:lpstr>Early Human MR Images (Damadian)</vt:lpstr>
      <vt:lpstr>First human NMR image</vt:lpstr>
      <vt:lpstr>Timeline of MR Imaging</vt:lpstr>
      <vt:lpstr>Advantages of MRI</vt:lpstr>
      <vt:lpstr>Timeline of MR Imaging</vt:lpstr>
      <vt:lpstr>Physiology (BOLD Contrast)</vt:lpstr>
      <vt:lpstr>Using fMRI to Study Brain Function</vt:lpstr>
      <vt:lpstr>Growth in fMRI: Published Studies</vt:lpstr>
      <vt:lpstr>4. MRI Scanners</vt:lpstr>
      <vt:lpstr>Slight variations - same principle</vt:lpstr>
      <vt:lpstr>MRI scanner setup</vt:lpstr>
      <vt:lpstr>Main Components of a Scanner</vt:lpstr>
      <vt:lpstr>1. Magnetic: Static Field Coils</vt:lpstr>
      <vt:lpstr>1. Magnetic: Static Field Coils</vt:lpstr>
      <vt:lpstr>2. Resonance: Radiofrequency Coils</vt:lpstr>
      <vt:lpstr>RF (Head) Coil Types</vt:lpstr>
      <vt:lpstr>3. Imaging: Gradient Coils</vt:lpstr>
      <vt:lpstr>x- &amp; y-Gradient Coils</vt:lpstr>
      <vt:lpstr>Gradient Coils</vt:lpstr>
      <vt:lpstr>5. MRI Safety</vt:lpstr>
      <vt:lpstr>MRI is a non-invasive technique</vt:lpstr>
      <vt:lpstr>MRI safety - external objects</vt:lpstr>
      <vt:lpstr>B0 in action</vt:lpstr>
      <vt:lpstr>Component – Safety Concerns</vt:lpstr>
      <vt:lpstr>Safety questionnaire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Neuroimaging</dc:title>
  <cp:lastModifiedBy>Tobias Overath</cp:lastModifiedBy>
  <cp:revision>312</cp:revision>
  <dcterms:modified xsi:type="dcterms:W3CDTF">2026-08-26T01:49:00Z</dcterms:modified>
</cp:coreProperties>
</file>